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0" y="0"/>
            <a:ext cx="5303453" cy="5143500"/>
          </a:xfrm>
          <a:prstGeom prst="rect">
            <a:avLst/>
          </a:prstGeom>
          <a:solidFill>
            <a:srgbClr val="2D4A3A"/>
          </a:solidFill>
          <a:ln/>
        </p:spPr>
        <p:txBody>
          <a:bodyPr wrap="square" rtlCol="0" anchor="ctr"/>
          <a:lstStyle/>
          <a:p>
            <a:pPr indent="0" marL="0">
              <a:buNone/>
            </a:pPr>
            <a:endParaRPr lang="en-US" dirty="0"/>
          </a:p>
        </p:txBody>
      </p:sp>
      <p:sp>
        <p:nvSpPr>
          <p:cNvPr id="3" name="Text 1"/>
          <p:cNvSpPr/>
          <p:nvPr/>
        </p:nvSpPr>
        <p:spPr>
          <a:xfrm>
            <a:off x="457200" y="428625"/>
            <a:ext cx="4498781" cy="164592"/>
          </a:xfrm>
          <a:prstGeom prst="rect">
            <a:avLst/>
          </a:prstGeom>
          <a:noFill/>
          <a:ln/>
        </p:spPr>
        <p:txBody>
          <a:bodyPr wrap="square" lIns="0" tIns="0" rIns="0" bIns="0" rtlCol="0" anchor="t"/>
          <a:lstStyle/>
          <a:p>
            <a:pPr algn="l" indent="0" marL="0">
              <a:lnSpc>
                <a:spcPts val="928"/>
              </a:lnSpc>
              <a:buNone/>
            </a:pPr>
            <a:r>
              <a:rPr lang="en-US" sz="800" spc="149" kern="0" dirty="0">
                <a:solidFill>
                  <a:srgbClr val="C2853A"/>
                </a:solidFill>
                <a:latin typeface="Liberation Sans Narrow" pitchFamily="34" charset="0"/>
                <a:ea typeface="Liberation Sans Narrow" pitchFamily="34" charset="-122"/>
                <a:cs typeface="Liberation Sans Narrow" pitchFamily="34" charset="-120"/>
              </a:rPr>
              <a:t>WHOLESALE PARTNER PITCH — 2026</a:t>
            </a:r>
            <a:endParaRPr lang="en-US" sz="800" dirty="0"/>
          </a:p>
        </p:txBody>
      </p:sp>
      <p:sp>
        <p:nvSpPr>
          <p:cNvPr id="4" name="Text 2"/>
          <p:cNvSpPr/>
          <p:nvPr/>
        </p:nvSpPr>
        <p:spPr>
          <a:xfrm>
            <a:off x="457200" y="1503871"/>
            <a:ext cx="457200" cy="14288"/>
          </a:xfrm>
          <a:prstGeom prst="rect">
            <a:avLst/>
          </a:prstGeom>
          <a:solidFill>
            <a:srgbClr val="C2853A"/>
          </a:solidFill>
          <a:ln/>
        </p:spPr>
        <p:txBody>
          <a:bodyPr wrap="square" rtlCol="0" anchor="ctr"/>
          <a:lstStyle/>
          <a:p>
            <a:pPr indent="0" marL="0">
              <a:buNone/>
            </a:pPr>
            <a:endParaRPr lang="en-US" dirty="0"/>
          </a:p>
        </p:txBody>
      </p:sp>
      <p:sp>
        <p:nvSpPr>
          <p:cNvPr id="5" name="Text 3"/>
          <p:cNvSpPr/>
          <p:nvPr/>
        </p:nvSpPr>
        <p:spPr>
          <a:xfrm>
            <a:off x="457200" y="1768190"/>
            <a:ext cx="4389053" cy="1133177"/>
          </a:xfrm>
          <a:prstGeom prst="rect">
            <a:avLst/>
          </a:prstGeom>
          <a:noFill/>
          <a:ln/>
        </p:spPr>
        <p:txBody>
          <a:bodyPr wrap="none" lIns="0" tIns="0" rIns="0" bIns="0" rtlCol="0" anchor="t"/>
          <a:lstStyle/>
          <a:p>
            <a:pPr algn="l" indent="0" marL="0">
              <a:lnSpc>
                <a:spcPts val="4131"/>
              </a:lnSpc>
              <a:buNone/>
            </a:pPr>
            <a:r>
              <a:rPr lang="en-US" sz="4050" spc="-61" kern="0" dirty="0">
                <a:solidFill>
                  <a:srgbClr val="F5F0E6"/>
                </a:solidFill>
                <a:latin typeface="Tinos" pitchFamily="34" charset="0"/>
                <a:ea typeface="Tinos" pitchFamily="34" charset="-122"/>
                <a:cs typeface="Tinos" pitchFamily="34" charset="-120"/>
              </a:rPr>
              <a:t>All Mountain</a:t>
            </a:r>
            <a:endParaRPr lang="en-US" sz="4050" dirty="0"/>
          </a:p>
          <a:p>
            <a:pPr algn="l" indent="0" marL="0">
              <a:lnSpc>
                <a:spcPts val="4131"/>
              </a:lnSpc>
              <a:buNone/>
            </a:pPr>
            <a:r>
              <a:rPr lang="en-US" sz="4050" i="1" spc="-61" kern="0" dirty="0">
                <a:solidFill>
                  <a:srgbClr val="D9A45E"/>
                </a:solidFill>
                <a:latin typeface="Tinos" pitchFamily="34" charset="0"/>
                <a:ea typeface="Tinos" pitchFamily="34" charset="-122"/>
                <a:cs typeface="Tinos" pitchFamily="34" charset="-120"/>
              </a:rPr>
              <a:t>Apothecary</a:t>
            </a:r>
            <a:endParaRPr lang="en-US" sz="4050" dirty="0"/>
          </a:p>
        </p:txBody>
      </p:sp>
      <p:sp>
        <p:nvSpPr>
          <p:cNvPr id="6" name="Text 4"/>
          <p:cNvSpPr/>
          <p:nvPr/>
        </p:nvSpPr>
        <p:spPr>
          <a:xfrm>
            <a:off x="457200" y="3031741"/>
            <a:ext cx="4000500" cy="475211"/>
          </a:xfrm>
          <a:prstGeom prst="rect">
            <a:avLst/>
          </a:prstGeom>
          <a:noFill/>
          <a:ln/>
        </p:spPr>
        <p:txBody>
          <a:bodyPr wrap="square" lIns="0" tIns="0" rIns="0" bIns="0" rtlCol="0" anchor="t"/>
          <a:lstStyle/>
          <a:p>
            <a:pPr algn="l" indent="0" marL="0">
              <a:lnSpc>
                <a:spcPts val="1733"/>
              </a:lnSpc>
              <a:buNone/>
            </a:pPr>
            <a:r>
              <a:rPr lang="en-US" sz="1238" dirty="0">
                <a:solidFill>
                  <a:srgbClr val="F5F0E6">
                    <a:alpha val="82000"/>
                  </a:srgbClr>
                </a:solidFill>
                <a:latin typeface="Carlito" pitchFamily="34" charset="0"/>
                <a:ea typeface="Carlito" pitchFamily="34" charset="-122"/>
                <a:cs typeface="Carlito" pitchFamily="34" charset="-120"/>
              </a:rPr>
              <a:t>elixirs &amp; herbal remedies, sourced from the mountains of Pennsylvania.</a:t>
            </a:r>
            <a:endParaRPr lang="en-US" sz="1238" dirty="0"/>
          </a:p>
        </p:txBody>
      </p:sp>
      <p:sp>
        <p:nvSpPr>
          <p:cNvPr id="7" name="Shape 5"/>
          <p:cNvSpPr/>
          <p:nvPr/>
        </p:nvSpPr>
        <p:spPr>
          <a:xfrm>
            <a:off x="457200" y="4432697"/>
            <a:ext cx="4389053" cy="0"/>
          </a:xfrm>
          <a:prstGeom prst="line">
            <a:avLst/>
          </a:prstGeom>
          <a:noFill/>
          <a:ln w="7144">
            <a:solidFill>
              <a:srgbClr val="F5F0E6"/>
            </a:solidFill>
            <a:prstDash val="solid"/>
          </a:ln>
        </p:spPr>
      </p:sp>
      <p:sp>
        <p:nvSpPr>
          <p:cNvPr id="8" name="Text 6"/>
          <p:cNvSpPr/>
          <p:nvPr/>
        </p:nvSpPr>
        <p:spPr>
          <a:xfrm>
            <a:off x="457200" y="4580930"/>
            <a:ext cx="787545" cy="133945"/>
          </a:xfrm>
          <a:prstGeom prst="rect">
            <a:avLst/>
          </a:prstGeom>
          <a:noFill/>
          <a:ln/>
        </p:spPr>
        <p:txBody>
          <a:bodyPr wrap="none" lIns="0" tIns="0" rIns="0" bIns="0" rtlCol="0" anchor="t"/>
          <a:lstStyle/>
          <a:p>
            <a:pPr algn="l" indent="0" marL="0">
              <a:lnSpc>
                <a:spcPts val="928"/>
              </a:lnSpc>
              <a:buNone/>
            </a:pPr>
            <a:r>
              <a:rPr lang="en-US" sz="800" spc="149" kern="0" dirty="0">
                <a:solidFill>
                  <a:srgbClr val="F5F0E6"/>
                </a:solidFill>
                <a:latin typeface="Liberation Sans Narrow" pitchFamily="34" charset="0"/>
                <a:ea typeface="Liberation Sans Narrow" pitchFamily="34" charset="-122"/>
                <a:cs typeface="Liberation Sans Narrow" pitchFamily="34" charset="-120"/>
              </a:rPr>
              <a:t>EST. 2019</a:t>
            </a:r>
            <a:endParaRPr lang="en-US" sz="800" dirty="0"/>
          </a:p>
        </p:txBody>
      </p:sp>
      <p:sp>
        <p:nvSpPr>
          <p:cNvPr id="9" name="Text 7"/>
          <p:cNvSpPr/>
          <p:nvPr/>
        </p:nvSpPr>
        <p:spPr>
          <a:xfrm>
            <a:off x="1094556" y="4564856"/>
            <a:ext cx="91440" cy="150019"/>
          </a:xfrm>
          <a:prstGeom prst="rect">
            <a:avLst/>
          </a:prstGeom>
          <a:noFill/>
          <a:ln/>
        </p:spPr>
        <p:txBody>
          <a:bodyPr wrap="square" lIns="0" tIns="0" rIns="0" bIns="0" rtlCol="0" anchor="t"/>
          <a:lstStyle/>
          <a:p>
            <a:pPr algn="l" indent="0" marL="0">
              <a:lnSpc>
                <a:spcPts val="1181"/>
              </a:lnSpc>
              <a:buNone/>
            </a:pPr>
            <a:r>
              <a:rPr lang="en-US" sz="800" dirty="0">
                <a:solidFill>
                  <a:srgbClr val="C2853A"/>
                </a:solidFill>
                <a:latin typeface="Carlito" pitchFamily="34" charset="0"/>
                <a:ea typeface="Carlito" pitchFamily="34" charset="-122"/>
                <a:cs typeface="Carlito" pitchFamily="34" charset="-120"/>
              </a:rPr>
              <a:t>·</a:t>
            </a:r>
            <a:endParaRPr lang="en-US" sz="800" dirty="0"/>
          </a:p>
        </p:txBody>
      </p:sp>
      <p:sp>
        <p:nvSpPr>
          <p:cNvPr id="10" name="Text 8"/>
          <p:cNvSpPr/>
          <p:nvPr/>
        </p:nvSpPr>
        <p:spPr>
          <a:xfrm>
            <a:off x="1218567" y="4580930"/>
            <a:ext cx="1023650" cy="133945"/>
          </a:xfrm>
          <a:prstGeom prst="rect">
            <a:avLst/>
          </a:prstGeom>
          <a:noFill/>
          <a:ln/>
        </p:spPr>
        <p:txBody>
          <a:bodyPr wrap="none" lIns="0" tIns="0" rIns="0" bIns="0" rtlCol="0" anchor="t"/>
          <a:lstStyle/>
          <a:p>
            <a:pPr algn="l" indent="0" marL="0">
              <a:lnSpc>
                <a:spcPts val="928"/>
              </a:lnSpc>
              <a:buNone/>
            </a:pPr>
            <a:r>
              <a:rPr lang="en-US" sz="800" spc="149" kern="0" dirty="0">
                <a:solidFill>
                  <a:srgbClr val="F5F0E6"/>
                </a:solidFill>
                <a:latin typeface="Carlito" pitchFamily="34" charset="0"/>
                <a:ea typeface="Carlito" pitchFamily="34" charset="-122"/>
                <a:cs typeface="Carlito" pitchFamily="34" charset="-120"/>
              </a:rPr>
              <a:t>PENNSYLVANIA</a:t>
            </a:r>
            <a:endParaRPr lang="en-US" sz="800" dirty="0"/>
          </a:p>
        </p:txBody>
      </p:sp>
      <p:sp>
        <p:nvSpPr>
          <p:cNvPr id="11" name="Text 9"/>
          <p:cNvSpPr/>
          <p:nvPr/>
        </p:nvSpPr>
        <p:spPr>
          <a:xfrm>
            <a:off x="2072580" y="4564856"/>
            <a:ext cx="91440" cy="150019"/>
          </a:xfrm>
          <a:prstGeom prst="rect">
            <a:avLst/>
          </a:prstGeom>
          <a:noFill/>
          <a:ln/>
        </p:spPr>
        <p:txBody>
          <a:bodyPr wrap="square" lIns="0" tIns="0" rIns="0" bIns="0" rtlCol="0" anchor="t"/>
          <a:lstStyle/>
          <a:p>
            <a:pPr algn="l" indent="0" marL="0">
              <a:lnSpc>
                <a:spcPts val="1181"/>
              </a:lnSpc>
              <a:buNone/>
            </a:pPr>
            <a:r>
              <a:rPr lang="en-US" sz="800" dirty="0">
                <a:solidFill>
                  <a:srgbClr val="C2853A"/>
                </a:solidFill>
                <a:latin typeface="Carlito" pitchFamily="34" charset="0"/>
                <a:ea typeface="Carlito" pitchFamily="34" charset="-122"/>
                <a:cs typeface="Carlito" pitchFamily="34" charset="-120"/>
              </a:rPr>
              <a:t>·</a:t>
            </a:r>
            <a:endParaRPr lang="en-US" sz="800" dirty="0"/>
          </a:p>
        </p:txBody>
      </p:sp>
      <p:sp>
        <p:nvSpPr>
          <p:cNvPr id="12" name="Text 10"/>
          <p:cNvSpPr/>
          <p:nvPr/>
        </p:nvSpPr>
        <p:spPr>
          <a:xfrm>
            <a:off x="2196592" y="4580930"/>
            <a:ext cx="2649662" cy="133945"/>
          </a:xfrm>
          <a:prstGeom prst="rect">
            <a:avLst/>
          </a:prstGeom>
          <a:noFill/>
          <a:ln/>
        </p:spPr>
        <p:txBody>
          <a:bodyPr wrap="none" lIns="0" tIns="0" rIns="0" bIns="0" rtlCol="0" anchor="t"/>
          <a:lstStyle/>
          <a:p>
            <a:pPr algn="l" indent="0" marL="0">
              <a:lnSpc>
                <a:spcPts val="928"/>
              </a:lnSpc>
              <a:buNone/>
            </a:pPr>
            <a:r>
              <a:rPr lang="en-US" sz="800" spc="149" kern="0" dirty="0">
                <a:solidFill>
                  <a:srgbClr val="F5F0E6"/>
                </a:solidFill>
                <a:latin typeface="Carlito" pitchFamily="34" charset="0"/>
                <a:ea typeface="Carlito" pitchFamily="34" charset="-122"/>
                <a:cs typeface="Carlito" pitchFamily="34" charset="-120"/>
              </a:rPr>
              <a:t>WILDCRAFTED</a:t>
            </a:r>
            <a:endParaRPr lang="en-US" sz="800" dirty="0"/>
          </a:p>
        </p:txBody>
      </p:sp>
      <p:sp>
        <p:nvSpPr>
          <p:cNvPr id="13" name="Text 11"/>
          <p:cNvSpPr/>
          <p:nvPr/>
        </p:nvSpPr>
        <p:spPr>
          <a:xfrm>
            <a:off x="5303453" y="0"/>
            <a:ext cx="3840435" cy="5143500"/>
          </a:xfrm>
          <a:prstGeom prst="rect">
            <a:avLst/>
          </a:prstGeom>
          <a:solidFill>
            <a:srgbClr val="F5F0E6"/>
          </a:solidFill>
          <a:ln/>
        </p:spPr>
        <p:txBody>
          <a:bodyPr wrap="square" rtlCol="0" anchor="ctr"/>
          <a:lstStyle/>
          <a:p>
            <a:pPr indent="0" marL="0">
              <a:buNone/>
            </a:pPr>
            <a:endParaRPr lang="en-US" dirty="0"/>
          </a:p>
        </p:txBody>
      </p:sp>
      <p:sp>
        <p:nvSpPr>
          <p:cNvPr id="14" name="Text 12"/>
          <p:cNvSpPr/>
          <p:nvPr/>
        </p:nvSpPr>
        <p:spPr>
          <a:xfrm>
            <a:off x="5703503" y="541139"/>
            <a:ext cx="2683148" cy="164592"/>
          </a:xfrm>
          <a:prstGeom prst="rect">
            <a:avLst/>
          </a:prstGeom>
          <a:noFill/>
          <a:ln/>
        </p:spPr>
        <p:txBody>
          <a:bodyPr wrap="none" lIns="0" tIns="0" rIns="0" bIns="0" rtlCol="0" anchor="t"/>
          <a:lstStyle/>
          <a:p>
            <a:pPr algn="l" indent="0" marL="0">
              <a:lnSpc>
                <a:spcPts val="928"/>
              </a:lnSpc>
              <a:buNone/>
            </a:pPr>
            <a:r>
              <a:rPr lang="en-US" sz="800" spc="149" kern="0" dirty="0">
                <a:solidFill>
                  <a:srgbClr val="C2853A"/>
                </a:solidFill>
                <a:latin typeface="Carlito" pitchFamily="34" charset="0"/>
                <a:ea typeface="Carlito" pitchFamily="34" charset="-122"/>
                <a:cs typeface="Carlito" pitchFamily="34" charset="-120"/>
              </a:rPr>
              <a:t>FOR RETAIL STOCKISTS</a:t>
            </a:r>
            <a:endParaRPr lang="en-US" sz="800" dirty="0"/>
          </a:p>
        </p:txBody>
      </p:sp>
      <p:sp>
        <p:nvSpPr>
          <p:cNvPr id="15" name="Text 13"/>
          <p:cNvSpPr/>
          <p:nvPr/>
        </p:nvSpPr>
        <p:spPr>
          <a:xfrm>
            <a:off x="8404510" y="432197"/>
            <a:ext cx="335756" cy="335756"/>
          </a:xfrm>
          <a:prstGeom prst="ellipse">
            <a:avLst/>
          </a:prstGeom>
          <a:noFill/>
          <a:ln w="7144">
            <a:solidFill>
              <a:srgbClr val="C2853A"/>
            </a:solidFill>
            <a:prstDash val="solid"/>
          </a:ln>
        </p:spPr>
        <p:txBody>
          <a:bodyPr wrap="square" rtlCol="0" anchor="ctr"/>
          <a:lstStyle/>
          <a:p>
            <a:pPr indent="0" marL="0">
              <a:buNone/>
            </a:pPr>
            <a:endParaRPr lang="en-US" dirty="0"/>
          </a:p>
        </p:txBody>
      </p:sp>
      <p:sp>
        <p:nvSpPr>
          <p:cNvPr id="16" name="Text 14"/>
          <p:cNvSpPr/>
          <p:nvPr/>
        </p:nvSpPr>
        <p:spPr>
          <a:xfrm>
            <a:off x="8400938" y="428625"/>
            <a:ext cx="342900" cy="342900"/>
          </a:xfrm>
          <a:prstGeom prst="rect">
            <a:avLst/>
          </a:prstGeom>
          <a:noFill/>
          <a:ln/>
        </p:spPr>
        <p:txBody>
          <a:bodyPr wrap="none" lIns="0" tIns="0" rIns="0" bIns="0" rtlCol="0" anchor="ctr"/>
          <a:lstStyle/>
          <a:p>
            <a:pPr algn="ctr" indent="0" marL="0">
              <a:lnSpc>
                <a:spcPts val="1266"/>
              </a:lnSpc>
              <a:buNone/>
            </a:pPr>
            <a:r>
              <a:rPr lang="en-US" sz="844" spc="34" kern="0" dirty="0">
                <a:solidFill>
                  <a:srgbClr val="C2853A"/>
                </a:solidFill>
                <a:latin typeface="Tinos" pitchFamily="34" charset="0"/>
                <a:ea typeface="Tinos" pitchFamily="34" charset="-122"/>
                <a:cs typeface="Tinos" pitchFamily="34" charset="-120"/>
              </a:rPr>
              <a:t>AMA</a:t>
            </a:r>
            <a:endParaRPr lang="en-US" sz="844" dirty="0"/>
          </a:p>
        </p:txBody>
      </p:sp>
      <p:sp>
        <p:nvSpPr>
          <p:cNvPr id="17" name="Text 15"/>
          <p:cNvSpPr/>
          <p:nvPr/>
        </p:nvSpPr>
        <p:spPr>
          <a:xfrm>
            <a:off x="5707075" y="1356643"/>
            <a:ext cx="3033192" cy="1707356"/>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18" name="Text 16"/>
          <p:cNvSpPr/>
          <p:nvPr/>
        </p:nvSpPr>
        <p:spPr>
          <a:xfrm>
            <a:off x="5703503" y="3606254"/>
            <a:ext cx="2714625" cy="559455"/>
          </a:xfrm>
          <a:prstGeom prst="rect">
            <a:avLst/>
          </a:prstGeom>
          <a:noFill/>
          <a:ln/>
        </p:spPr>
        <p:txBody>
          <a:bodyPr wrap="square" lIns="0" tIns="0" rIns="0" bIns="0" rtlCol="0" anchor="t"/>
          <a:lstStyle/>
          <a:p>
            <a:pPr algn="l" indent="0" marL="0">
              <a:lnSpc>
                <a:spcPts val="1243"/>
              </a:lnSpc>
              <a:buNone/>
            </a:pPr>
            <a:r>
              <a:rPr lang="en-US" sz="800" dirty="0">
                <a:solidFill>
                  <a:srgbClr val="1B2E24"/>
                </a:solidFill>
                <a:latin typeface="Carlito" pitchFamily="34" charset="0"/>
                <a:ea typeface="Carlito" pitchFamily="34" charset="-122"/>
                <a:cs typeface="Carlito" pitchFamily="34" charset="-120"/>
              </a:rPr>
              <a:t>A curated line of small-batch herbal elixirs crafted from wild-harvested and organically grown botanicals. Built for shelves that value provenance, potency, and story.</a:t>
            </a:r>
            <a:endParaRPr lang="en-US" sz="800" dirty="0"/>
          </a:p>
        </p:txBody>
      </p:sp>
      <p:sp>
        <p:nvSpPr>
          <p:cNvPr id="19" name="Text 17"/>
          <p:cNvSpPr/>
          <p:nvPr/>
        </p:nvSpPr>
        <p:spPr>
          <a:xfrm>
            <a:off x="5703503" y="4489847"/>
            <a:ext cx="3040335" cy="7144"/>
          </a:xfrm>
          <a:prstGeom prst="rect">
            <a:avLst/>
          </a:prstGeom>
          <a:solidFill>
            <a:srgbClr val="C8BFA8"/>
          </a:solidFill>
          <a:ln/>
        </p:spPr>
        <p:txBody>
          <a:bodyPr wrap="square" rtlCol="0" anchor="ctr"/>
          <a:lstStyle/>
          <a:p>
            <a:pPr indent="0" marL="0">
              <a:buNone/>
            </a:pPr>
            <a:endParaRPr lang="en-US" dirty="0"/>
          </a:p>
        </p:txBody>
      </p:sp>
      <p:sp>
        <p:nvSpPr>
          <p:cNvPr id="20" name="Text 18"/>
          <p:cNvSpPr/>
          <p:nvPr/>
        </p:nvSpPr>
        <p:spPr>
          <a:xfrm>
            <a:off x="5703503" y="4597003"/>
            <a:ext cx="2575210" cy="117872"/>
          </a:xfrm>
          <a:prstGeom prst="rect">
            <a:avLst/>
          </a:prstGeom>
          <a:noFill/>
          <a:ln/>
        </p:spPr>
        <p:txBody>
          <a:bodyPr wrap="none" lIns="0" tIns="0" rIns="0" bIns="0" rtlCol="0" anchor="t"/>
          <a:lstStyle/>
          <a:p>
            <a:pPr algn="l" indent="0" marL="0">
              <a:lnSpc>
                <a:spcPts val="928"/>
              </a:lnSpc>
              <a:buNone/>
            </a:pPr>
            <a:r>
              <a:rPr lang="en-US" sz="800" spc="124" kern="0" dirty="0">
                <a:solidFill>
                  <a:srgbClr val="4A5A50"/>
                </a:solidFill>
                <a:latin typeface="Carlito" pitchFamily="34" charset="0"/>
                <a:ea typeface="Carlito" pitchFamily="34" charset="-122"/>
                <a:cs typeface="Carlito" pitchFamily="34" charset="-120"/>
              </a:rPr>
              <a:t>PITCH DECK</a:t>
            </a:r>
            <a:endParaRPr lang="en-US" sz="800" dirty="0"/>
          </a:p>
        </p:txBody>
      </p:sp>
      <p:sp>
        <p:nvSpPr>
          <p:cNvPr id="21" name="Text 19"/>
          <p:cNvSpPr/>
          <p:nvPr/>
        </p:nvSpPr>
        <p:spPr>
          <a:xfrm>
            <a:off x="8293001" y="4597003"/>
            <a:ext cx="450838" cy="117872"/>
          </a:xfrm>
          <a:prstGeom prst="rect">
            <a:avLst/>
          </a:prstGeom>
          <a:noFill/>
          <a:ln/>
        </p:spPr>
        <p:txBody>
          <a:bodyPr wrap="none" lIns="0" tIns="0" rIns="0" bIns="0" rtlCol="0" anchor="t"/>
          <a:lstStyle/>
          <a:p>
            <a:pPr algn="l" indent="0" marL="0">
              <a:lnSpc>
                <a:spcPts val="928"/>
              </a:lnSpc>
              <a:buNone/>
            </a:pPr>
            <a:r>
              <a:rPr lang="en-US" sz="800" spc="124" kern="0" dirty="0">
                <a:solidFill>
                  <a:srgbClr val="2D4A3A"/>
                </a:solidFill>
                <a:latin typeface="Liberation Sans Narrow" pitchFamily="34" charset="0"/>
                <a:ea typeface="Liberation Sans Narrow" pitchFamily="34" charset="-122"/>
                <a:cs typeface="Liberation Sans Narrow" pitchFamily="34" charset="-120"/>
              </a:rPr>
              <a:t>01 OF 09</a:t>
            </a:r>
            <a:endParaRPr lang="en-US" sz="800" dirty="0"/>
          </a:p>
        </p:txBody>
      </p:sp>
      <p:sp>
        <p:nvSpPr>
          <p:cNvPr id="22" name="Text 20"/>
          <p:cNvSpPr/>
          <p:nvPr/>
        </p:nvSpPr>
        <p:spPr>
          <a:xfrm>
            <a:off x="6410511" y="1901354"/>
            <a:ext cx="1626319" cy="300038"/>
          </a:xfrm>
          <a:prstGeom prst="rect">
            <a:avLst/>
          </a:prstGeom>
          <a:noFill/>
          <a:ln/>
        </p:spPr>
        <p:txBody>
          <a:bodyPr wrap="none" lIns="0" tIns="0" rIns="0" bIns="0" rtlCol="0" anchor="ctr"/>
          <a:lstStyle/>
          <a:p>
            <a:pPr algn="ctr" indent="0" marL="0">
              <a:buNone/>
            </a:pPr>
            <a:r>
              <a:rPr lang="en-US" sz="1969" dirty="0">
                <a:solidFill>
                  <a:srgbClr val="C2853A"/>
                </a:solidFill>
                <a:latin typeface="Segoe UI Symbol" pitchFamily="34" charset="0"/>
                <a:ea typeface="Segoe UI Symbol" pitchFamily="34" charset="-122"/>
                <a:cs typeface="Segoe UI Symbol" pitchFamily="34" charset="-120"/>
              </a:rPr>
              <a:t>◉</a:t>
            </a:r>
            <a:endParaRPr lang="en-US" sz="1969" dirty="0"/>
          </a:p>
        </p:txBody>
      </p:sp>
      <p:sp>
        <p:nvSpPr>
          <p:cNvPr id="23" name="Text 21"/>
          <p:cNvSpPr/>
          <p:nvPr/>
        </p:nvSpPr>
        <p:spPr>
          <a:xfrm>
            <a:off x="6856353" y="2258541"/>
            <a:ext cx="734634" cy="136874"/>
          </a:xfrm>
          <a:prstGeom prst="rect">
            <a:avLst/>
          </a:prstGeom>
          <a:noFill/>
          <a:ln/>
        </p:spPr>
        <p:txBody>
          <a:bodyPr wrap="none" lIns="0" tIns="0" rIns="0" bIns="0" rtlCol="0" anchor="t">
            <a:normAutofit/>
          </a:bodyPr>
          <a:lstStyle/>
          <a:p>
            <a:pPr algn="ctr" indent="0" marL="0">
              <a:lnSpc>
                <a:spcPts val="844"/>
              </a:lnSpc>
              <a:buNone/>
            </a:pPr>
            <a:r>
              <a:rPr lang="en-US" sz="800" spc="113" kern="0" dirty="0">
                <a:solidFill>
                  <a:srgbClr val="4A5A50"/>
                </a:solidFill>
                <a:latin typeface="Carlito" pitchFamily="34" charset="0"/>
                <a:ea typeface="Carlito" pitchFamily="34" charset="-122"/>
                <a:cs typeface="Carlito" pitchFamily="34" charset="-120"/>
              </a:rPr>
              <a:t>HERO PHOTO</a:t>
            </a:r>
            <a:endParaRPr lang="en-US" sz="800" dirty="0"/>
          </a:p>
        </p:txBody>
      </p:sp>
      <p:sp>
        <p:nvSpPr>
          <p:cNvPr id="24" name="Text 22"/>
          <p:cNvSpPr/>
          <p:nvPr/>
        </p:nvSpPr>
        <p:spPr>
          <a:xfrm>
            <a:off x="6515062" y="2422847"/>
            <a:ext cx="1417217" cy="164592"/>
          </a:xfrm>
          <a:prstGeom prst="rect">
            <a:avLst/>
          </a:prstGeom>
          <a:noFill/>
          <a:ln/>
        </p:spPr>
        <p:txBody>
          <a:bodyPr wrap="square" lIns="0" tIns="0" rIns="0" bIns="0" rtlCol="0" anchor="t"/>
          <a:lstStyle/>
          <a:p>
            <a:pPr algn="ctr" indent="0" marL="0">
              <a:lnSpc>
                <a:spcPts val="759"/>
              </a:lnSpc>
              <a:buNone/>
            </a:pPr>
            <a:r>
              <a:rPr lang="en-US" sz="800" i="1" spc="51" kern="0" dirty="0">
                <a:solidFill>
                  <a:srgbClr val="4A5A50">
                    <a:alpha val="70000"/>
                  </a:srgbClr>
                </a:solidFill>
                <a:latin typeface="Carlito" pitchFamily="34" charset="0"/>
                <a:ea typeface="Carlito" pitchFamily="34" charset="-122"/>
                <a:cs typeface="Carlito" pitchFamily="34" charset="-120"/>
              </a:rPr>
              <a:t>PA ridge landscape or apothecary shelf</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71500" y="457200"/>
            <a:ext cx="857250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OUR STORY</a:t>
            </a:r>
            <a:endParaRPr lang="en-US" sz="800" dirty="0"/>
          </a:p>
        </p:txBody>
      </p:sp>
      <p:sp>
        <p:nvSpPr>
          <p:cNvPr id="3" name="Text 1"/>
          <p:cNvSpPr/>
          <p:nvPr/>
        </p:nvSpPr>
        <p:spPr>
          <a:xfrm>
            <a:off x="571500" y="675084"/>
            <a:ext cx="8001000" cy="373346"/>
          </a:xfrm>
          <a:prstGeom prst="rect">
            <a:avLst/>
          </a:prstGeom>
          <a:noFill/>
          <a:ln/>
        </p:spPr>
        <p:txBody>
          <a:bodyPr wrap="square" lIns="0" tIns="0" rIns="0" bIns="0" rtlCol="0" anchor="t"/>
          <a:lstStyle/>
          <a:p>
            <a:pPr algn="l" indent="0" marL="0">
              <a:lnSpc>
                <a:spcPts val="2723"/>
              </a:lnSpc>
              <a:buNone/>
            </a:pPr>
            <a:r>
              <a:rPr lang="en-US" sz="2475" spc="-25" kern="0" dirty="0">
                <a:solidFill>
                  <a:srgbClr val="2D4A3A"/>
                </a:solidFill>
                <a:latin typeface="Tinos" pitchFamily="34" charset="0"/>
                <a:ea typeface="Tinos" pitchFamily="34" charset="-122"/>
                <a:cs typeface="Tinos" pitchFamily="34" charset="-120"/>
              </a:rPr>
              <a:t>Roots in the mountains of Pennsylvania.</a:t>
            </a:r>
            <a:endParaRPr lang="en-US" sz="2475" dirty="0"/>
          </a:p>
        </p:txBody>
      </p:sp>
      <p:sp>
        <p:nvSpPr>
          <p:cNvPr id="4" name="Text 2"/>
          <p:cNvSpPr/>
          <p:nvPr/>
        </p:nvSpPr>
        <p:spPr>
          <a:xfrm>
            <a:off x="571500" y="1149362"/>
            <a:ext cx="457200" cy="14288"/>
          </a:xfrm>
          <a:prstGeom prst="rect">
            <a:avLst/>
          </a:prstGeom>
          <a:solidFill>
            <a:srgbClr val="C2853A"/>
          </a:solidFill>
          <a:ln/>
        </p:spPr>
        <p:txBody>
          <a:bodyPr wrap="square" rtlCol="0" anchor="ctr"/>
          <a:lstStyle/>
          <a:p>
            <a:pPr indent="0" marL="0">
              <a:buNone/>
            </a:pPr>
            <a:endParaRPr lang="en-US" dirty="0"/>
          </a:p>
        </p:txBody>
      </p:sp>
      <p:sp>
        <p:nvSpPr>
          <p:cNvPr id="5" name="Text 3"/>
          <p:cNvSpPr/>
          <p:nvPr/>
        </p:nvSpPr>
        <p:spPr>
          <a:xfrm>
            <a:off x="571500" y="1377962"/>
            <a:ext cx="4211910" cy="763810"/>
          </a:xfrm>
          <a:prstGeom prst="rect">
            <a:avLst/>
          </a:prstGeom>
          <a:noFill/>
          <a:ln/>
        </p:spPr>
        <p:txBody>
          <a:bodyPr wrap="square" lIns="0" tIns="0" rIns="0" bIns="0" rtlCol="0" anchor="t"/>
          <a:lstStyle/>
          <a:p>
            <a:pPr algn="l" indent="0" marL="0">
              <a:lnSpc>
                <a:spcPts val="1392"/>
              </a:lnSpc>
              <a:buNone/>
            </a:pPr>
            <a:r>
              <a:rPr lang="en-US" sz="844" dirty="0">
                <a:solidFill>
                  <a:srgbClr val="1B2E24"/>
                </a:solidFill>
                <a:latin typeface="Carlito" pitchFamily="34" charset="0"/>
                <a:ea typeface="Carlito" pitchFamily="34" charset="-122"/>
                <a:cs typeface="Carlito" pitchFamily="34" charset="-120"/>
              </a:rPr>
              <a:t>All Mountain Apothecary began as a single woodstove operation in the Appalachian ridge of north-central Pennsylvania. What started as tinctures brewed for neighbors — for winter colds, sleepless nights, and tired joints — became a small-batch apothecary serving customers across the Mid-Atlantic.</a:t>
            </a:r>
            <a:endParaRPr lang="en-US" sz="844" dirty="0"/>
          </a:p>
        </p:txBody>
      </p:sp>
      <p:sp>
        <p:nvSpPr>
          <p:cNvPr id="6" name="Text 4"/>
          <p:cNvSpPr/>
          <p:nvPr/>
        </p:nvSpPr>
        <p:spPr>
          <a:xfrm>
            <a:off x="571500" y="2213781"/>
            <a:ext cx="4211910" cy="572857"/>
          </a:xfrm>
          <a:prstGeom prst="rect">
            <a:avLst/>
          </a:prstGeom>
          <a:noFill/>
          <a:ln/>
        </p:spPr>
        <p:txBody>
          <a:bodyPr wrap="square" lIns="0" tIns="0" rIns="0" bIns="0" rtlCol="0" anchor="t"/>
          <a:lstStyle/>
          <a:p>
            <a:pPr algn="l" indent="0" marL="0">
              <a:lnSpc>
                <a:spcPts val="1392"/>
              </a:lnSpc>
              <a:buNone/>
            </a:pPr>
            <a:r>
              <a:rPr lang="en-US" sz="844" dirty="0">
                <a:solidFill>
                  <a:srgbClr val="1B2E24"/>
                </a:solidFill>
                <a:latin typeface="Carlito" pitchFamily="34" charset="0"/>
                <a:ea typeface="Carlito" pitchFamily="34" charset="-122"/>
                <a:cs typeface="Carlito" pitchFamily="34" charset="-120"/>
              </a:rPr>
              <a:t>Every elixir we make is rooted in three commitments: ingredients we can trace to a forest, a farm, or a field; recipes built on traditional Western herbal practice, not trends; and a craft process that stays small enough to honor each batch.</a:t>
            </a:r>
            <a:endParaRPr lang="en-US" sz="844" dirty="0"/>
          </a:p>
        </p:txBody>
      </p:sp>
      <p:sp>
        <p:nvSpPr>
          <p:cNvPr id="7" name="Text 5"/>
          <p:cNvSpPr/>
          <p:nvPr/>
        </p:nvSpPr>
        <p:spPr>
          <a:xfrm>
            <a:off x="571500" y="2872792"/>
            <a:ext cx="4211910" cy="381905"/>
          </a:xfrm>
          <a:prstGeom prst="rect">
            <a:avLst/>
          </a:prstGeom>
          <a:noFill/>
          <a:ln/>
        </p:spPr>
        <p:txBody>
          <a:bodyPr wrap="square" lIns="0" tIns="0" rIns="0" bIns="0" rtlCol="0" anchor="t"/>
          <a:lstStyle/>
          <a:p>
            <a:pPr algn="l" indent="0" marL="0">
              <a:lnSpc>
                <a:spcPts val="1392"/>
              </a:lnSpc>
              <a:buNone/>
            </a:pPr>
            <a:r>
              <a:rPr lang="en-US" sz="844" dirty="0">
                <a:solidFill>
                  <a:srgbClr val="1B2E24"/>
                </a:solidFill>
                <a:latin typeface="Carlito" pitchFamily="34" charset="0"/>
                <a:ea typeface="Carlito" pitchFamily="34" charset="-122"/>
                <a:cs typeface="Carlito" pitchFamily="34" charset="-120"/>
              </a:rPr>
              <a:t>We are not a mass-market wellness brand. We are a working apothecary, and we built this deck for the retailers who share that distinction.</a:t>
            </a:r>
            <a:endParaRPr lang="en-US" sz="844" dirty="0"/>
          </a:p>
        </p:txBody>
      </p:sp>
      <p:sp>
        <p:nvSpPr>
          <p:cNvPr id="8" name="Text 6"/>
          <p:cNvSpPr/>
          <p:nvPr/>
        </p:nvSpPr>
        <p:spPr>
          <a:xfrm>
            <a:off x="5129882" y="1381534"/>
            <a:ext cx="3439046" cy="992981"/>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9" name="Text 7"/>
          <p:cNvSpPr/>
          <p:nvPr/>
        </p:nvSpPr>
        <p:spPr>
          <a:xfrm>
            <a:off x="5129882" y="2481672"/>
            <a:ext cx="3439046" cy="2201056"/>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10" name="Text 8"/>
          <p:cNvSpPr/>
          <p:nvPr/>
        </p:nvSpPr>
        <p:spPr>
          <a:xfrm>
            <a:off x="5304904" y="2723443"/>
            <a:ext cx="3089002" cy="339471"/>
          </a:xfrm>
          <a:prstGeom prst="rect">
            <a:avLst/>
          </a:prstGeom>
          <a:noFill/>
          <a:ln/>
        </p:spPr>
        <p:txBody>
          <a:bodyPr wrap="none" lIns="0" tIns="0" rIns="0" bIns="0" rtlCol="0" anchor="t"/>
          <a:lstStyle/>
          <a:p>
            <a:pPr algn="l" indent="0" marL="0">
              <a:lnSpc>
                <a:spcPts val="2475"/>
              </a:lnSpc>
              <a:buNone/>
            </a:pPr>
            <a:r>
              <a:rPr lang="en-US" sz="2475" spc="-25" kern="0" dirty="0">
                <a:solidFill>
                  <a:srgbClr val="2D4A3A"/>
                </a:solidFill>
                <a:latin typeface="Liberation Sans Narrow" pitchFamily="34" charset="0"/>
                <a:ea typeface="Liberation Sans Narrow" pitchFamily="34" charset="-122"/>
                <a:cs typeface="Liberation Sans Narrow" pitchFamily="34" charset="-120"/>
              </a:rPr>
              <a:t>2019</a:t>
            </a:r>
            <a:endParaRPr lang="en-US" sz="2475" dirty="0"/>
          </a:p>
        </p:txBody>
      </p:sp>
      <p:sp>
        <p:nvSpPr>
          <p:cNvPr id="11" name="Text 9"/>
          <p:cNvSpPr/>
          <p:nvPr/>
        </p:nvSpPr>
        <p:spPr>
          <a:xfrm>
            <a:off x="5304904" y="3094918"/>
            <a:ext cx="3198730" cy="164592"/>
          </a:xfrm>
          <a:prstGeom prst="rect">
            <a:avLst/>
          </a:prstGeom>
          <a:noFill/>
          <a:ln/>
        </p:spPr>
        <p:txBody>
          <a:bodyPr wrap="square" lIns="0" tIns="0" rIns="0" bIns="0" rtlCol="0" anchor="t"/>
          <a:lstStyle/>
          <a:p>
            <a:pPr algn="l" indent="0" marL="0">
              <a:lnSpc>
                <a:spcPts val="844"/>
              </a:lnSpc>
              <a:buNone/>
            </a:pPr>
            <a:r>
              <a:rPr lang="en-US" sz="800" spc="113" kern="0" dirty="0">
                <a:solidFill>
                  <a:srgbClr val="4A5A50"/>
                </a:solidFill>
                <a:latin typeface="Carlito" pitchFamily="34" charset="0"/>
                <a:ea typeface="Carlito" pitchFamily="34" charset="-122"/>
                <a:cs typeface="Carlito" pitchFamily="34" charset="-120"/>
              </a:rPr>
              <a:t>FOUNDED · PENNSYLVANIA RIDGE</a:t>
            </a:r>
            <a:endParaRPr lang="en-US" sz="800" dirty="0"/>
          </a:p>
        </p:txBody>
      </p:sp>
      <p:sp>
        <p:nvSpPr>
          <p:cNvPr id="12" name="Text 10"/>
          <p:cNvSpPr/>
          <p:nvPr/>
        </p:nvSpPr>
        <p:spPr>
          <a:xfrm>
            <a:off x="5304904" y="3268935"/>
            <a:ext cx="3089002" cy="7144"/>
          </a:xfrm>
          <a:prstGeom prst="rect">
            <a:avLst/>
          </a:prstGeom>
          <a:solidFill>
            <a:srgbClr val="C8BFA8"/>
          </a:solidFill>
          <a:ln/>
        </p:spPr>
        <p:txBody>
          <a:bodyPr wrap="square" rtlCol="0" anchor="ctr"/>
          <a:lstStyle/>
          <a:p>
            <a:pPr indent="0" marL="0">
              <a:buNone/>
            </a:pPr>
            <a:endParaRPr lang="en-US" dirty="0"/>
          </a:p>
        </p:txBody>
      </p:sp>
      <p:sp>
        <p:nvSpPr>
          <p:cNvPr id="13" name="Text 11"/>
          <p:cNvSpPr/>
          <p:nvPr/>
        </p:nvSpPr>
        <p:spPr>
          <a:xfrm>
            <a:off x="5304904" y="3342829"/>
            <a:ext cx="3089002" cy="339471"/>
          </a:xfrm>
          <a:prstGeom prst="rect">
            <a:avLst/>
          </a:prstGeom>
          <a:noFill/>
          <a:ln/>
        </p:spPr>
        <p:txBody>
          <a:bodyPr wrap="none" lIns="0" tIns="0" rIns="0" bIns="0" rtlCol="0" anchor="t"/>
          <a:lstStyle/>
          <a:p>
            <a:pPr algn="l" indent="0" marL="0">
              <a:lnSpc>
                <a:spcPts val="2475"/>
              </a:lnSpc>
              <a:buNone/>
            </a:pPr>
            <a:r>
              <a:rPr lang="en-US" sz="2475" spc="-25" kern="0" dirty="0">
                <a:solidFill>
                  <a:srgbClr val="2D4A3A"/>
                </a:solidFill>
                <a:latin typeface="Liberation Sans Narrow" pitchFamily="34" charset="0"/>
                <a:ea typeface="Liberation Sans Narrow" pitchFamily="34" charset="-122"/>
                <a:cs typeface="Liberation Sans Narrow" pitchFamily="34" charset="-120"/>
              </a:rPr>
              <a:t>12</a:t>
            </a:r>
            <a:endParaRPr lang="en-US" sz="2475" dirty="0"/>
          </a:p>
        </p:txBody>
      </p:sp>
      <p:sp>
        <p:nvSpPr>
          <p:cNvPr id="14" name="Text 12"/>
          <p:cNvSpPr/>
          <p:nvPr/>
        </p:nvSpPr>
        <p:spPr>
          <a:xfrm>
            <a:off x="5304904" y="3714304"/>
            <a:ext cx="3198730" cy="164592"/>
          </a:xfrm>
          <a:prstGeom prst="rect">
            <a:avLst/>
          </a:prstGeom>
          <a:noFill/>
          <a:ln/>
        </p:spPr>
        <p:txBody>
          <a:bodyPr wrap="square" lIns="0" tIns="0" rIns="0" bIns="0" rtlCol="0" anchor="t"/>
          <a:lstStyle/>
          <a:p>
            <a:pPr algn="l" indent="0" marL="0">
              <a:lnSpc>
                <a:spcPts val="844"/>
              </a:lnSpc>
              <a:buNone/>
            </a:pPr>
            <a:r>
              <a:rPr lang="en-US" sz="800" spc="113" kern="0" dirty="0">
                <a:solidFill>
                  <a:srgbClr val="4A5A50"/>
                </a:solidFill>
                <a:latin typeface="Carlito" pitchFamily="34" charset="0"/>
                <a:ea typeface="Carlito" pitchFamily="34" charset="-122"/>
                <a:cs typeface="Carlito" pitchFamily="34" charset="-120"/>
              </a:rPr>
              <a:t>CORE ELIXIRS IN PRODUCTION</a:t>
            </a:r>
            <a:endParaRPr lang="en-US" sz="800" dirty="0"/>
          </a:p>
        </p:txBody>
      </p:sp>
      <p:sp>
        <p:nvSpPr>
          <p:cNvPr id="15" name="Text 13"/>
          <p:cNvSpPr/>
          <p:nvPr/>
        </p:nvSpPr>
        <p:spPr>
          <a:xfrm>
            <a:off x="5304904" y="3888321"/>
            <a:ext cx="3089002" cy="7144"/>
          </a:xfrm>
          <a:prstGeom prst="rect">
            <a:avLst/>
          </a:prstGeom>
          <a:solidFill>
            <a:srgbClr val="C8BFA8"/>
          </a:solidFill>
          <a:ln/>
        </p:spPr>
        <p:txBody>
          <a:bodyPr wrap="square" rtlCol="0" anchor="ctr"/>
          <a:lstStyle/>
          <a:p>
            <a:pPr indent="0" marL="0">
              <a:buNone/>
            </a:pPr>
            <a:endParaRPr lang="en-US" dirty="0"/>
          </a:p>
        </p:txBody>
      </p:sp>
      <p:sp>
        <p:nvSpPr>
          <p:cNvPr id="16" name="Text 14"/>
          <p:cNvSpPr/>
          <p:nvPr/>
        </p:nvSpPr>
        <p:spPr>
          <a:xfrm>
            <a:off x="5304904" y="3962214"/>
            <a:ext cx="3089002" cy="339471"/>
          </a:xfrm>
          <a:prstGeom prst="rect">
            <a:avLst/>
          </a:prstGeom>
          <a:noFill/>
          <a:ln/>
        </p:spPr>
        <p:txBody>
          <a:bodyPr wrap="none" lIns="0" tIns="0" rIns="0" bIns="0" rtlCol="0" anchor="t"/>
          <a:lstStyle/>
          <a:p>
            <a:pPr algn="l" indent="0" marL="0">
              <a:lnSpc>
                <a:spcPts val="2475"/>
              </a:lnSpc>
              <a:buNone/>
            </a:pPr>
            <a:r>
              <a:rPr lang="en-US" sz="2475" spc="-25" kern="0" dirty="0">
                <a:solidFill>
                  <a:srgbClr val="2D4A3A"/>
                </a:solidFill>
                <a:latin typeface="Liberation Sans Narrow" pitchFamily="34" charset="0"/>
                <a:ea typeface="Liberation Sans Narrow" pitchFamily="34" charset="-122"/>
                <a:cs typeface="Liberation Sans Narrow" pitchFamily="34" charset="-120"/>
              </a:rPr>
              <a:t>&lt;200</a:t>
            </a:r>
            <a:endParaRPr lang="en-US" sz="2475" dirty="0"/>
          </a:p>
        </p:txBody>
      </p:sp>
      <p:sp>
        <p:nvSpPr>
          <p:cNvPr id="17" name="Text 15"/>
          <p:cNvSpPr/>
          <p:nvPr/>
        </p:nvSpPr>
        <p:spPr>
          <a:xfrm>
            <a:off x="5304904" y="4333689"/>
            <a:ext cx="3198730" cy="164592"/>
          </a:xfrm>
          <a:prstGeom prst="rect">
            <a:avLst/>
          </a:prstGeom>
          <a:noFill/>
          <a:ln/>
        </p:spPr>
        <p:txBody>
          <a:bodyPr wrap="square" lIns="0" tIns="0" rIns="0" bIns="0" rtlCol="0" anchor="t"/>
          <a:lstStyle/>
          <a:p>
            <a:pPr algn="l" indent="0" marL="0">
              <a:lnSpc>
                <a:spcPts val="844"/>
              </a:lnSpc>
              <a:buNone/>
            </a:pPr>
            <a:r>
              <a:rPr lang="en-US" sz="800" spc="113" kern="0" dirty="0">
                <a:solidFill>
                  <a:srgbClr val="4A5A50"/>
                </a:solidFill>
                <a:latin typeface="Carlito" pitchFamily="34" charset="0"/>
                <a:ea typeface="Carlito" pitchFamily="34" charset="-122"/>
                <a:cs typeface="Carlito" pitchFamily="34" charset="-120"/>
              </a:rPr>
              <a:t>BOTTLES PER BATCH, EVERY TIME</a:t>
            </a:r>
            <a:endParaRPr lang="en-US" sz="800" dirty="0"/>
          </a:p>
        </p:txBody>
      </p:sp>
      <p:sp>
        <p:nvSpPr>
          <p:cNvPr id="18" name="Text 16"/>
          <p:cNvSpPr/>
          <p:nvPr/>
        </p:nvSpPr>
        <p:spPr>
          <a:xfrm>
            <a:off x="571500" y="4825603"/>
            <a:ext cx="7622270"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ALL MOUNTAIN APOTHECARY</a:t>
            </a:r>
            <a:endParaRPr lang="en-US" sz="800" dirty="0"/>
          </a:p>
        </p:txBody>
      </p:sp>
      <p:sp>
        <p:nvSpPr>
          <p:cNvPr id="19" name="Text 17"/>
          <p:cNvSpPr/>
          <p:nvPr/>
        </p:nvSpPr>
        <p:spPr>
          <a:xfrm>
            <a:off x="8208057" y="4825603"/>
            <a:ext cx="54074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Liberation Sans Narrow" pitchFamily="34" charset="0"/>
                <a:ea typeface="Liberation Sans Narrow" pitchFamily="34" charset="-122"/>
                <a:cs typeface="Liberation Sans Narrow" pitchFamily="34" charset="-120"/>
              </a:rPr>
              <a:t>02 / 09</a:t>
            </a:r>
            <a:endParaRPr lang="en-US" sz="800" dirty="0"/>
          </a:p>
        </p:txBody>
      </p:sp>
      <p:sp>
        <p:nvSpPr>
          <p:cNvPr id="20" name="Text 18"/>
          <p:cNvSpPr/>
          <p:nvPr/>
        </p:nvSpPr>
        <p:spPr>
          <a:xfrm>
            <a:off x="6242298" y="1569058"/>
            <a:ext cx="1214103" cy="300038"/>
          </a:xfrm>
          <a:prstGeom prst="rect">
            <a:avLst/>
          </a:prstGeom>
          <a:noFill/>
          <a:ln/>
        </p:spPr>
        <p:txBody>
          <a:bodyPr wrap="none" lIns="0" tIns="0" rIns="0" bIns="0" rtlCol="0" anchor="ctr"/>
          <a:lstStyle/>
          <a:p>
            <a:pPr algn="ctr" indent="0" marL="0">
              <a:buNone/>
            </a:pPr>
            <a:r>
              <a:rPr lang="en-US" sz="1969" dirty="0">
                <a:solidFill>
                  <a:srgbClr val="C2853A"/>
                </a:solidFill>
                <a:latin typeface="Segoe UI Symbol" pitchFamily="34" charset="0"/>
                <a:ea typeface="Segoe UI Symbol" pitchFamily="34" charset="-122"/>
                <a:cs typeface="Segoe UI Symbol" pitchFamily="34" charset="-120"/>
              </a:rPr>
              <a:t>☰</a:t>
            </a:r>
            <a:endParaRPr lang="en-US" sz="1969" dirty="0"/>
          </a:p>
        </p:txBody>
      </p:sp>
      <p:sp>
        <p:nvSpPr>
          <p:cNvPr id="21" name="Text 19"/>
          <p:cNvSpPr/>
          <p:nvPr/>
        </p:nvSpPr>
        <p:spPr>
          <a:xfrm>
            <a:off x="6474487" y="1926245"/>
            <a:ext cx="749726" cy="136874"/>
          </a:xfrm>
          <a:prstGeom prst="rect">
            <a:avLst/>
          </a:prstGeom>
          <a:noFill/>
          <a:ln/>
        </p:spPr>
        <p:txBody>
          <a:bodyPr wrap="square" lIns="0" tIns="0" rIns="0" bIns="0" rtlCol="0" anchor="t">
            <a:normAutofit/>
          </a:bodyPr>
          <a:lstStyle/>
          <a:p>
            <a:pPr algn="ctr" indent="0" marL="0">
              <a:lnSpc>
                <a:spcPts val="844"/>
              </a:lnSpc>
              <a:buNone/>
            </a:pPr>
            <a:r>
              <a:rPr lang="en-US" sz="800" spc="113" kern="0" dirty="0">
                <a:solidFill>
                  <a:srgbClr val="4A5A50"/>
                </a:solidFill>
                <a:latin typeface="Carlito" pitchFamily="34" charset="0"/>
                <a:ea typeface="Carlito" pitchFamily="34" charset="-122"/>
                <a:cs typeface="Carlito" pitchFamily="34" charset="-120"/>
              </a:rPr>
              <a:t>FIELD PHOTO</a:t>
            </a:r>
            <a:endParaRPr lang="en-US" sz="800" dirty="0"/>
          </a:p>
        </p:txBody>
      </p:sp>
      <p:sp>
        <p:nvSpPr>
          <p:cNvPr id="22" name="Text 20"/>
          <p:cNvSpPr/>
          <p:nvPr/>
        </p:nvSpPr>
        <p:spPr>
          <a:xfrm>
            <a:off x="6085660" y="2090551"/>
            <a:ext cx="1527490" cy="164592"/>
          </a:xfrm>
          <a:prstGeom prst="rect">
            <a:avLst/>
          </a:prstGeom>
          <a:noFill/>
          <a:ln/>
        </p:spPr>
        <p:txBody>
          <a:bodyPr wrap="square" lIns="0" tIns="0" rIns="0" bIns="0" rtlCol="0" anchor="t"/>
          <a:lstStyle/>
          <a:p>
            <a:pPr algn="ctr" indent="0" marL="0">
              <a:lnSpc>
                <a:spcPts val="759"/>
              </a:lnSpc>
              <a:buNone/>
            </a:pPr>
            <a:r>
              <a:rPr lang="en-US" sz="800" i="1" spc="51" kern="0" dirty="0">
                <a:solidFill>
                  <a:srgbClr val="4A5A50">
                    <a:alpha val="70000"/>
                  </a:srgbClr>
                </a:solidFill>
                <a:latin typeface="Carlito" pitchFamily="34" charset="0"/>
                <a:ea typeface="Carlito" pitchFamily="34" charset="-122"/>
                <a:cs typeface="Carlito" pitchFamily="34" charset="-120"/>
              </a:rPr>
              <a:t>Appalachian ridge or apothecary workshop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71500" y="457200"/>
            <a:ext cx="857250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OUR PHILOSOPHY</a:t>
            </a:r>
            <a:endParaRPr lang="en-US" sz="800" dirty="0"/>
          </a:p>
        </p:txBody>
      </p:sp>
      <p:sp>
        <p:nvSpPr>
          <p:cNvPr id="3" name="Text 1"/>
          <p:cNvSpPr/>
          <p:nvPr/>
        </p:nvSpPr>
        <p:spPr>
          <a:xfrm>
            <a:off x="571500" y="675084"/>
            <a:ext cx="8001000" cy="373346"/>
          </a:xfrm>
          <a:prstGeom prst="rect">
            <a:avLst/>
          </a:prstGeom>
          <a:noFill/>
          <a:ln/>
        </p:spPr>
        <p:txBody>
          <a:bodyPr wrap="square" lIns="0" tIns="0" rIns="0" bIns="0" rtlCol="0" anchor="t"/>
          <a:lstStyle/>
          <a:p>
            <a:pPr algn="l" indent="0" marL="0">
              <a:lnSpc>
                <a:spcPts val="2723"/>
              </a:lnSpc>
              <a:buNone/>
            </a:pPr>
            <a:r>
              <a:rPr lang="en-US" sz="2475" spc="-25" kern="0" dirty="0">
                <a:solidFill>
                  <a:srgbClr val="2D4A3A"/>
                </a:solidFill>
                <a:latin typeface="Tinos" pitchFamily="34" charset="0"/>
                <a:ea typeface="Tinos" pitchFamily="34" charset="-122"/>
                <a:cs typeface="Tinos" pitchFamily="34" charset="-120"/>
              </a:rPr>
              <a:t>Three commitments we will not scale past.</a:t>
            </a:r>
            <a:endParaRPr lang="en-US" sz="2475" dirty="0"/>
          </a:p>
        </p:txBody>
      </p:sp>
      <p:sp>
        <p:nvSpPr>
          <p:cNvPr id="4" name="Text 2"/>
          <p:cNvSpPr/>
          <p:nvPr/>
        </p:nvSpPr>
        <p:spPr>
          <a:xfrm>
            <a:off x="571500" y="1135075"/>
            <a:ext cx="457200" cy="14288"/>
          </a:xfrm>
          <a:prstGeom prst="rect">
            <a:avLst/>
          </a:prstGeom>
          <a:solidFill>
            <a:srgbClr val="C2853A"/>
          </a:solidFill>
          <a:ln/>
        </p:spPr>
        <p:txBody>
          <a:bodyPr wrap="square" rtlCol="0" anchor="ctr"/>
          <a:lstStyle/>
          <a:p>
            <a:pPr indent="0" marL="0">
              <a:buNone/>
            </a:pPr>
            <a:endParaRPr lang="en-US" dirty="0"/>
          </a:p>
        </p:txBody>
      </p:sp>
      <p:sp>
        <p:nvSpPr>
          <p:cNvPr id="5" name="Text 3"/>
          <p:cNvSpPr/>
          <p:nvPr/>
        </p:nvSpPr>
        <p:spPr>
          <a:xfrm>
            <a:off x="571500" y="1277950"/>
            <a:ext cx="5143500" cy="350983"/>
          </a:xfrm>
          <a:prstGeom prst="rect">
            <a:avLst/>
          </a:prstGeom>
          <a:noFill/>
          <a:ln/>
        </p:spPr>
        <p:txBody>
          <a:bodyPr wrap="square" lIns="0" tIns="0" rIns="0" bIns="0" rtlCol="0" anchor="t"/>
          <a:lstStyle/>
          <a:p>
            <a:pPr algn="l" indent="0" marL="0">
              <a:lnSpc>
                <a:spcPts val="1260"/>
              </a:lnSpc>
              <a:buNone/>
            </a:pPr>
            <a:r>
              <a:rPr lang="en-US" sz="800" dirty="0">
                <a:solidFill>
                  <a:srgbClr val="4A5A50"/>
                </a:solidFill>
                <a:latin typeface="Carlito" pitchFamily="34" charset="0"/>
                <a:ea typeface="Carlito" pitchFamily="34" charset="-122"/>
                <a:cs typeface="Carlito" pitchFamily="34" charset="-120"/>
              </a:rPr>
              <a:t>These three principles are how we decide what to grow, what to harvest, what to bottle, and what to refuse. They are also what your customers will taste, smell, and feel in every drop.</a:t>
            </a:r>
            <a:endParaRPr lang="en-US" sz="800" dirty="0"/>
          </a:p>
        </p:txBody>
      </p:sp>
      <p:sp>
        <p:nvSpPr>
          <p:cNvPr id="6" name="Text 4"/>
          <p:cNvSpPr/>
          <p:nvPr/>
        </p:nvSpPr>
        <p:spPr>
          <a:xfrm>
            <a:off x="575072" y="1772878"/>
            <a:ext cx="2526432" cy="290985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7" name="Text 5"/>
          <p:cNvSpPr/>
          <p:nvPr/>
        </p:nvSpPr>
        <p:spPr>
          <a:xfrm>
            <a:off x="778669" y="1976475"/>
            <a:ext cx="2119238" cy="385763"/>
          </a:xfrm>
          <a:prstGeom prst="rect">
            <a:avLst/>
          </a:prstGeom>
          <a:noFill/>
          <a:ln/>
        </p:spPr>
        <p:txBody>
          <a:bodyPr wrap="none" lIns="0" tIns="0" rIns="0" bIns="0" rtlCol="0" anchor="ctr"/>
          <a:lstStyle/>
          <a:p>
            <a:pPr algn="ctr" indent="0" marL="0">
              <a:buNone/>
            </a:pPr>
            <a:r>
              <a:rPr lang="en-US" sz="2531" dirty="0">
                <a:solidFill>
                  <a:srgbClr val="C2853A"/>
                </a:solidFill>
                <a:latin typeface="Segoe UI Symbol" pitchFamily="34" charset="0"/>
                <a:ea typeface="Segoe UI Symbol" pitchFamily="34" charset="-122"/>
                <a:cs typeface="Segoe UI Symbol" pitchFamily="34" charset="-120"/>
              </a:rPr>
              <a:t>✿</a:t>
            </a:r>
            <a:endParaRPr lang="en-US" sz="2531" dirty="0"/>
          </a:p>
        </p:txBody>
      </p:sp>
      <p:sp>
        <p:nvSpPr>
          <p:cNvPr id="8" name="Text 6"/>
          <p:cNvSpPr/>
          <p:nvPr/>
        </p:nvSpPr>
        <p:spPr>
          <a:xfrm>
            <a:off x="778669" y="2490825"/>
            <a:ext cx="2119238" cy="194024"/>
          </a:xfrm>
          <a:prstGeom prst="rect">
            <a:avLst/>
          </a:prstGeom>
          <a:noFill/>
          <a:ln/>
        </p:spPr>
        <p:txBody>
          <a:bodyPr wrap="none" lIns="0" tIns="0" rIns="0" bIns="0" rtlCol="0" anchor="t">
            <a:normAutofit/>
          </a:bodyPr>
          <a:lstStyle/>
          <a:p>
            <a:pPr algn="l" indent="0" marL="0">
              <a:lnSpc>
                <a:spcPts val="1519"/>
              </a:lnSpc>
              <a:buNone/>
            </a:pPr>
            <a:r>
              <a:rPr lang="en-US" sz="1013" i="1" dirty="0">
                <a:solidFill>
                  <a:srgbClr val="C2853A"/>
                </a:solidFill>
                <a:latin typeface="Liberation Sans Narrow" pitchFamily="34" charset="0"/>
                <a:ea typeface="Liberation Sans Narrow" pitchFamily="34" charset="-122"/>
                <a:cs typeface="Liberation Sans Narrow" pitchFamily="34" charset="-120"/>
              </a:rPr>
              <a:t>01</a:t>
            </a:r>
            <a:endParaRPr lang="en-US" sz="1013" dirty="0"/>
          </a:p>
        </p:txBody>
      </p:sp>
      <p:sp>
        <p:nvSpPr>
          <p:cNvPr id="9" name="Text 7"/>
          <p:cNvSpPr/>
          <p:nvPr/>
        </p:nvSpPr>
        <p:spPr>
          <a:xfrm>
            <a:off x="778669" y="2712281"/>
            <a:ext cx="2119238" cy="254603"/>
          </a:xfrm>
          <a:prstGeom prst="rect">
            <a:avLst/>
          </a:prstGeom>
          <a:noFill/>
          <a:ln/>
        </p:spPr>
        <p:txBody>
          <a:bodyPr wrap="none" lIns="0" tIns="0" rIns="0" bIns="0" rtlCol="0" anchor="t"/>
          <a:lstStyle/>
          <a:p>
            <a:pPr algn="l" indent="0" marL="0">
              <a:lnSpc>
                <a:spcPts val="1856"/>
              </a:lnSpc>
              <a:buNone/>
            </a:pPr>
            <a:r>
              <a:rPr lang="en-US" sz="1238" spc="-6" kern="0" dirty="0">
                <a:solidFill>
                  <a:srgbClr val="2D4A3A"/>
                </a:solidFill>
                <a:latin typeface="Tinos" pitchFamily="34" charset="0"/>
                <a:ea typeface="Tinos" pitchFamily="34" charset="-122"/>
                <a:cs typeface="Tinos" pitchFamily="34" charset="-120"/>
              </a:rPr>
              <a:t>Traceable sourcing.</a:t>
            </a:r>
            <a:endParaRPr lang="en-US" sz="1238" dirty="0"/>
          </a:p>
        </p:txBody>
      </p:sp>
      <p:sp>
        <p:nvSpPr>
          <p:cNvPr id="10" name="Text 8"/>
          <p:cNvSpPr/>
          <p:nvPr/>
        </p:nvSpPr>
        <p:spPr>
          <a:xfrm>
            <a:off x="778669" y="3048037"/>
            <a:ext cx="2119238" cy="1053231"/>
          </a:xfrm>
          <a:prstGeom prst="rect">
            <a:avLst/>
          </a:prstGeom>
          <a:noFill/>
          <a:ln/>
        </p:spPr>
        <p:txBody>
          <a:bodyPr wrap="square" lIns="0" tIns="0" rIns="0" bIns="0" rtlCol="0" anchor="t"/>
          <a:lstStyle/>
          <a:p>
            <a:pPr algn="l" indent="0" marL="0">
              <a:lnSpc>
                <a:spcPts val="1170"/>
              </a:lnSpc>
              <a:buNone/>
            </a:pPr>
            <a:r>
              <a:rPr lang="en-US" sz="800" dirty="0">
                <a:solidFill>
                  <a:srgbClr val="1B2E24"/>
                </a:solidFill>
                <a:latin typeface="Carlito" pitchFamily="34" charset="0"/>
                <a:ea typeface="Carlito" pitchFamily="34" charset="-122"/>
                <a:cs typeface="Carlito" pitchFamily="34" charset="-120"/>
              </a:rPr>
              <a:t>Every plant in our elixirs is traceable to a specific ridge, hollow, or certified organic farm. We name the source on the label — not a marketing claim, a record. Wild-harvested herbs are gathered under ethical wildcrafting guidelines, never more than 10% of any stand.</a:t>
            </a:r>
            <a:endParaRPr lang="en-US" sz="800" dirty="0"/>
          </a:p>
        </p:txBody>
      </p:sp>
      <p:sp>
        <p:nvSpPr>
          <p:cNvPr id="11" name="Text 9"/>
          <p:cNvSpPr/>
          <p:nvPr/>
        </p:nvSpPr>
        <p:spPr>
          <a:xfrm>
            <a:off x="3308672" y="1772878"/>
            <a:ext cx="2526543" cy="290985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12" name="Text 10"/>
          <p:cNvSpPr/>
          <p:nvPr/>
        </p:nvSpPr>
        <p:spPr>
          <a:xfrm>
            <a:off x="3512269" y="1976475"/>
            <a:ext cx="2119350" cy="385763"/>
          </a:xfrm>
          <a:prstGeom prst="rect">
            <a:avLst/>
          </a:prstGeom>
          <a:noFill/>
          <a:ln/>
        </p:spPr>
        <p:txBody>
          <a:bodyPr wrap="none" lIns="0" tIns="0" rIns="0" bIns="0" rtlCol="0" anchor="ctr"/>
          <a:lstStyle/>
          <a:p>
            <a:pPr algn="ctr" indent="0" marL="0">
              <a:buNone/>
            </a:pPr>
            <a:r>
              <a:rPr lang="en-US" sz="2531" dirty="0">
                <a:solidFill>
                  <a:srgbClr val="C2853A"/>
                </a:solidFill>
                <a:latin typeface="Segoe UI Symbol" pitchFamily="34" charset="0"/>
                <a:ea typeface="Segoe UI Symbol" pitchFamily="34" charset="-122"/>
                <a:cs typeface="Segoe UI Symbol" pitchFamily="34" charset="-120"/>
              </a:rPr>
              <a:t>⚗</a:t>
            </a:r>
            <a:endParaRPr lang="en-US" sz="2531" dirty="0"/>
          </a:p>
        </p:txBody>
      </p:sp>
      <p:sp>
        <p:nvSpPr>
          <p:cNvPr id="13" name="Text 11"/>
          <p:cNvSpPr/>
          <p:nvPr/>
        </p:nvSpPr>
        <p:spPr>
          <a:xfrm>
            <a:off x="3512269" y="2490825"/>
            <a:ext cx="2119350" cy="194024"/>
          </a:xfrm>
          <a:prstGeom prst="rect">
            <a:avLst/>
          </a:prstGeom>
          <a:noFill/>
          <a:ln/>
        </p:spPr>
        <p:txBody>
          <a:bodyPr wrap="none" lIns="0" tIns="0" rIns="0" bIns="0" rtlCol="0" anchor="t">
            <a:normAutofit/>
          </a:bodyPr>
          <a:lstStyle/>
          <a:p>
            <a:pPr algn="l" indent="0" marL="0">
              <a:lnSpc>
                <a:spcPts val="1519"/>
              </a:lnSpc>
              <a:buNone/>
            </a:pPr>
            <a:r>
              <a:rPr lang="en-US" sz="1013" i="1" dirty="0">
                <a:solidFill>
                  <a:srgbClr val="C2853A"/>
                </a:solidFill>
                <a:latin typeface="Liberation Sans Narrow" pitchFamily="34" charset="0"/>
                <a:ea typeface="Liberation Sans Narrow" pitchFamily="34" charset="-122"/>
                <a:cs typeface="Liberation Sans Narrow" pitchFamily="34" charset="-120"/>
              </a:rPr>
              <a:t>02</a:t>
            </a:r>
            <a:endParaRPr lang="en-US" sz="1013" dirty="0"/>
          </a:p>
        </p:txBody>
      </p:sp>
      <p:sp>
        <p:nvSpPr>
          <p:cNvPr id="14" name="Text 12"/>
          <p:cNvSpPr/>
          <p:nvPr/>
        </p:nvSpPr>
        <p:spPr>
          <a:xfrm>
            <a:off x="3512269" y="2712281"/>
            <a:ext cx="2119350" cy="254603"/>
          </a:xfrm>
          <a:prstGeom prst="rect">
            <a:avLst/>
          </a:prstGeom>
          <a:noFill/>
          <a:ln/>
        </p:spPr>
        <p:txBody>
          <a:bodyPr wrap="none" lIns="0" tIns="0" rIns="0" bIns="0" rtlCol="0" anchor="t"/>
          <a:lstStyle/>
          <a:p>
            <a:pPr algn="l" indent="0" marL="0">
              <a:lnSpc>
                <a:spcPts val="1856"/>
              </a:lnSpc>
              <a:buNone/>
            </a:pPr>
            <a:r>
              <a:rPr lang="en-US" sz="1238" spc="-6" kern="0" dirty="0">
                <a:solidFill>
                  <a:srgbClr val="2D4A3A"/>
                </a:solidFill>
                <a:latin typeface="Tinos" pitchFamily="34" charset="0"/>
                <a:ea typeface="Tinos" pitchFamily="34" charset="-122"/>
                <a:cs typeface="Tinos" pitchFamily="34" charset="-120"/>
              </a:rPr>
              <a:t>Traditional craft.</a:t>
            </a:r>
            <a:endParaRPr lang="en-US" sz="1238" dirty="0"/>
          </a:p>
        </p:txBody>
      </p:sp>
      <p:sp>
        <p:nvSpPr>
          <p:cNvPr id="15" name="Text 13"/>
          <p:cNvSpPr/>
          <p:nvPr/>
        </p:nvSpPr>
        <p:spPr>
          <a:xfrm>
            <a:off x="3512269" y="3048037"/>
            <a:ext cx="2119350" cy="1053231"/>
          </a:xfrm>
          <a:prstGeom prst="rect">
            <a:avLst/>
          </a:prstGeom>
          <a:noFill/>
          <a:ln/>
        </p:spPr>
        <p:txBody>
          <a:bodyPr wrap="square" lIns="0" tIns="0" rIns="0" bIns="0" rtlCol="0" anchor="t"/>
          <a:lstStyle/>
          <a:p>
            <a:pPr algn="l" indent="0" marL="0">
              <a:lnSpc>
                <a:spcPts val="1170"/>
              </a:lnSpc>
              <a:buNone/>
            </a:pPr>
            <a:r>
              <a:rPr lang="en-US" sz="800" dirty="0">
                <a:solidFill>
                  <a:srgbClr val="1B2E24"/>
                </a:solidFill>
                <a:latin typeface="Carlito" pitchFamily="34" charset="0"/>
                <a:ea typeface="Carlito" pitchFamily="34" charset="-122"/>
                <a:cs typeface="Carlito" pitchFamily="34" charset="-120"/>
              </a:rPr>
              <a:t>Our recipes draw from Western herbal practice, folklore apothecary, and modern phytochemistry — in that order of precedence. Tinctures are extracted in glass over 4–6 weeks, never rushed with heat or industrial solvents. We trust the slow method because it works.</a:t>
            </a:r>
            <a:endParaRPr lang="en-US" sz="800" dirty="0"/>
          </a:p>
        </p:txBody>
      </p:sp>
      <p:sp>
        <p:nvSpPr>
          <p:cNvPr id="16" name="Text 14"/>
          <p:cNvSpPr/>
          <p:nvPr/>
        </p:nvSpPr>
        <p:spPr>
          <a:xfrm>
            <a:off x="6042385" y="1772878"/>
            <a:ext cx="2526432" cy="290985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17" name="Text 15"/>
          <p:cNvSpPr/>
          <p:nvPr/>
        </p:nvSpPr>
        <p:spPr>
          <a:xfrm>
            <a:off x="6245982" y="1976475"/>
            <a:ext cx="2119238" cy="385763"/>
          </a:xfrm>
          <a:prstGeom prst="rect">
            <a:avLst/>
          </a:prstGeom>
          <a:noFill/>
          <a:ln/>
        </p:spPr>
        <p:txBody>
          <a:bodyPr wrap="none" lIns="0" tIns="0" rIns="0" bIns="0" rtlCol="0" anchor="ctr"/>
          <a:lstStyle/>
          <a:p>
            <a:pPr algn="ctr" indent="0" marL="0">
              <a:buNone/>
            </a:pPr>
            <a:r>
              <a:rPr lang="en-US" sz="2531" dirty="0">
                <a:solidFill>
                  <a:srgbClr val="C2853A"/>
                </a:solidFill>
                <a:latin typeface="Segoe UI Symbol" pitchFamily="34" charset="0"/>
                <a:ea typeface="Segoe UI Symbol" pitchFamily="34" charset="-122"/>
                <a:cs typeface="Segoe UI Symbol" pitchFamily="34" charset="-120"/>
              </a:rPr>
              <a:t>▣</a:t>
            </a:r>
            <a:endParaRPr lang="en-US" sz="2531" dirty="0"/>
          </a:p>
        </p:txBody>
      </p:sp>
      <p:sp>
        <p:nvSpPr>
          <p:cNvPr id="18" name="Text 16"/>
          <p:cNvSpPr/>
          <p:nvPr/>
        </p:nvSpPr>
        <p:spPr>
          <a:xfrm>
            <a:off x="6245982" y="2490825"/>
            <a:ext cx="2119238" cy="194024"/>
          </a:xfrm>
          <a:prstGeom prst="rect">
            <a:avLst/>
          </a:prstGeom>
          <a:noFill/>
          <a:ln/>
        </p:spPr>
        <p:txBody>
          <a:bodyPr wrap="none" lIns="0" tIns="0" rIns="0" bIns="0" rtlCol="0" anchor="t">
            <a:normAutofit/>
          </a:bodyPr>
          <a:lstStyle/>
          <a:p>
            <a:pPr algn="l" indent="0" marL="0">
              <a:lnSpc>
                <a:spcPts val="1519"/>
              </a:lnSpc>
              <a:buNone/>
            </a:pPr>
            <a:r>
              <a:rPr lang="en-US" sz="1013" i="1" dirty="0">
                <a:solidFill>
                  <a:srgbClr val="C2853A"/>
                </a:solidFill>
                <a:latin typeface="Liberation Sans Narrow" pitchFamily="34" charset="0"/>
                <a:ea typeface="Liberation Sans Narrow" pitchFamily="34" charset="-122"/>
                <a:cs typeface="Liberation Sans Narrow" pitchFamily="34" charset="-120"/>
              </a:rPr>
              <a:t>03</a:t>
            </a:r>
            <a:endParaRPr lang="en-US" sz="1013" dirty="0"/>
          </a:p>
        </p:txBody>
      </p:sp>
      <p:sp>
        <p:nvSpPr>
          <p:cNvPr id="19" name="Text 17"/>
          <p:cNvSpPr/>
          <p:nvPr/>
        </p:nvSpPr>
        <p:spPr>
          <a:xfrm>
            <a:off x="6245982" y="2712281"/>
            <a:ext cx="2119238" cy="254603"/>
          </a:xfrm>
          <a:prstGeom prst="rect">
            <a:avLst/>
          </a:prstGeom>
          <a:noFill/>
          <a:ln/>
        </p:spPr>
        <p:txBody>
          <a:bodyPr wrap="none" lIns="0" tIns="0" rIns="0" bIns="0" rtlCol="0" anchor="t"/>
          <a:lstStyle/>
          <a:p>
            <a:pPr algn="l" indent="0" marL="0">
              <a:lnSpc>
                <a:spcPts val="1856"/>
              </a:lnSpc>
              <a:buNone/>
            </a:pPr>
            <a:r>
              <a:rPr lang="en-US" sz="1238" spc="-6" kern="0" dirty="0">
                <a:solidFill>
                  <a:srgbClr val="2D4A3A"/>
                </a:solidFill>
                <a:latin typeface="Tinos" pitchFamily="34" charset="0"/>
                <a:ea typeface="Tinos" pitchFamily="34" charset="-122"/>
                <a:cs typeface="Tinos" pitchFamily="34" charset="-120"/>
              </a:rPr>
              <a:t>Small batches, always.</a:t>
            </a:r>
            <a:endParaRPr lang="en-US" sz="1238" dirty="0"/>
          </a:p>
        </p:txBody>
      </p:sp>
      <p:sp>
        <p:nvSpPr>
          <p:cNvPr id="20" name="Text 18"/>
          <p:cNvSpPr/>
          <p:nvPr/>
        </p:nvSpPr>
        <p:spPr>
          <a:xfrm>
            <a:off x="6245982" y="3048037"/>
            <a:ext cx="2119238" cy="877692"/>
          </a:xfrm>
          <a:prstGeom prst="rect">
            <a:avLst/>
          </a:prstGeom>
          <a:noFill/>
          <a:ln/>
        </p:spPr>
        <p:txBody>
          <a:bodyPr wrap="square" lIns="0" tIns="0" rIns="0" bIns="0" rtlCol="0" anchor="t"/>
          <a:lstStyle/>
          <a:p>
            <a:pPr algn="l" indent="0" marL="0">
              <a:lnSpc>
                <a:spcPts val="1170"/>
              </a:lnSpc>
              <a:buNone/>
            </a:pPr>
            <a:r>
              <a:rPr lang="en-US" sz="800" dirty="0">
                <a:solidFill>
                  <a:srgbClr val="1B2E24"/>
                </a:solidFill>
                <a:latin typeface="Carlito" pitchFamily="34" charset="0"/>
                <a:ea typeface="Carlito" pitchFamily="34" charset="-122"/>
                <a:cs typeface="Carlito" pitchFamily="34" charset="-120"/>
              </a:rPr>
              <a:t>No batch exceeds 200 bottles. This is not a marketing number — it is the ceiling at which our herbalist can still personally inspect, decant, and sign off on every jar. Scaling past this means losing the standard your customers are paying for.</a:t>
            </a:r>
            <a:endParaRPr lang="en-US" sz="800" dirty="0"/>
          </a:p>
        </p:txBody>
      </p:sp>
      <p:sp>
        <p:nvSpPr>
          <p:cNvPr id="21" name="Text 19"/>
          <p:cNvSpPr/>
          <p:nvPr/>
        </p:nvSpPr>
        <p:spPr>
          <a:xfrm>
            <a:off x="571500" y="4825603"/>
            <a:ext cx="7622270"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ALL MOUNTAIN APOTHECARY · PHILOSOPHY</a:t>
            </a:r>
            <a:endParaRPr lang="en-US" sz="800" dirty="0"/>
          </a:p>
        </p:txBody>
      </p:sp>
      <p:sp>
        <p:nvSpPr>
          <p:cNvPr id="22" name="Text 20"/>
          <p:cNvSpPr/>
          <p:nvPr/>
        </p:nvSpPr>
        <p:spPr>
          <a:xfrm>
            <a:off x="8208057" y="4825603"/>
            <a:ext cx="54074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Liberation Sans Narrow" pitchFamily="34" charset="0"/>
                <a:ea typeface="Liberation Sans Narrow" pitchFamily="34" charset="-122"/>
                <a:cs typeface="Liberation Sans Narrow" pitchFamily="34" charset="-120"/>
              </a:rPr>
              <a:t>03 / 09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71500" y="457200"/>
            <a:ext cx="8572500" cy="147590"/>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OUR BOTANICAL PANTRY</a:t>
            </a:r>
            <a:endParaRPr lang="en-US" sz="800" dirty="0"/>
          </a:p>
        </p:txBody>
      </p:sp>
      <p:sp>
        <p:nvSpPr>
          <p:cNvPr id="3" name="Text 1"/>
          <p:cNvSpPr/>
          <p:nvPr/>
        </p:nvSpPr>
        <p:spPr>
          <a:xfrm>
            <a:off x="571500" y="632222"/>
            <a:ext cx="8001000" cy="288478"/>
          </a:xfrm>
          <a:prstGeom prst="rect">
            <a:avLst/>
          </a:prstGeom>
          <a:noFill/>
          <a:ln/>
        </p:spPr>
        <p:txBody>
          <a:bodyPr wrap="square" lIns="0" tIns="0" rIns="0" bIns="0" rtlCol="0" anchor="t"/>
          <a:lstStyle/>
          <a:p>
            <a:pPr algn="l" indent="0" marL="0">
              <a:lnSpc>
                <a:spcPts val="2104"/>
              </a:lnSpc>
              <a:buNone/>
            </a:pPr>
            <a:r>
              <a:rPr lang="en-US" sz="1913" spc="-19" kern="0" dirty="0">
                <a:solidFill>
                  <a:srgbClr val="2D4A3A"/>
                </a:solidFill>
                <a:latin typeface="Tinos" pitchFamily="34" charset="0"/>
                <a:ea typeface="Tinos" pitchFamily="34" charset="-122"/>
                <a:cs typeface="Tinos" pitchFamily="34" charset="-120"/>
              </a:rPr>
              <a:t>Forty-six plants. Foraged from the mountains of Pennsylvania.</a:t>
            </a:r>
            <a:endParaRPr lang="en-US" sz="1913" dirty="0"/>
          </a:p>
        </p:txBody>
      </p:sp>
      <p:sp>
        <p:nvSpPr>
          <p:cNvPr id="4" name="Text 2"/>
          <p:cNvSpPr/>
          <p:nvPr/>
        </p:nvSpPr>
        <p:spPr>
          <a:xfrm>
            <a:off x="571500" y="1006487"/>
            <a:ext cx="457200" cy="14288"/>
          </a:xfrm>
          <a:prstGeom prst="rect">
            <a:avLst/>
          </a:prstGeom>
          <a:solidFill>
            <a:srgbClr val="C2853A"/>
          </a:solidFill>
          <a:ln/>
        </p:spPr>
        <p:txBody>
          <a:bodyPr wrap="square" rtlCol="0" anchor="ctr"/>
          <a:lstStyle/>
          <a:p>
            <a:pPr indent="0" marL="0">
              <a:buNone/>
            </a:pPr>
            <a:endParaRPr lang="en-US" dirty="0"/>
          </a:p>
        </p:txBody>
      </p:sp>
      <p:sp>
        <p:nvSpPr>
          <p:cNvPr id="5" name="Text 3"/>
          <p:cNvSpPr/>
          <p:nvPr/>
        </p:nvSpPr>
        <p:spPr>
          <a:xfrm>
            <a:off x="571500" y="1142219"/>
            <a:ext cx="7143750" cy="304752"/>
          </a:xfrm>
          <a:prstGeom prst="rect">
            <a:avLst/>
          </a:prstGeom>
          <a:noFill/>
          <a:ln/>
        </p:spPr>
        <p:txBody>
          <a:bodyPr wrap="square" lIns="0" tIns="0" rIns="0" bIns="0" rtlCol="0" anchor="t">
            <a:normAutofit/>
          </a:bodyPr>
          <a:lstStyle/>
          <a:p>
            <a:pPr algn="l" indent="0" marL="0">
              <a:lnSpc>
                <a:spcPts val="970"/>
              </a:lnSpc>
              <a:buNone/>
            </a:pPr>
            <a:r>
              <a:rPr lang="en-US" sz="800" dirty="0">
                <a:solidFill>
                  <a:srgbClr val="4A5A50"/>
                </a:solidFill>
                <a:latin typeface="Carlito" pitchFamily="34" charset="0"/>
                <a:ea typeface="Carlito" pitchFamily="34" charset="-122"/>
                <a:cs typeface="Carlito" pitchFamily="34" charset="-120"/>
              </a:rPr>
              <a:t>The complete library of botanicals we wildcraft, grow, and work with across our elixir line. Every plant here is traceable to a ridge, hollow, certified organic farm, or wildcraft stand — and named on the label of every bottle it goes into.</a:t>
            </a:r>
            <a:endParaRPr lang="en-US" sz="800" dirty="0"/>
          </a:p>
        </p:txBody>
      </p:sp>
      <p:sp>
        <p:nvSpPr>
          <p:cNvPr id="6" name="Text 4"/>
          <p:cNvSpPr/>
          <p:nvPr/>
        </p:nvSpPr>
        <p:spPr>
          <a:xfrm>
            <a:off x="575072" y="1477975"/>
            <a:ext cx="1939528" cy="156303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7" name="Text 5"/>
          <p:cNvSpPr/>
          <p:nvPr/>
        </p:nvSpPr>
        <p:spPr>
          <a:xfrm>
            <a:off x="678656" y="1567272"/>
            <a:ext cx="1732359" cy="111871"/>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C2853A"/>
                </a:solidFill>
                <a:latin typeface="Liberation Sans Narrow" pitchFamily="34" charset="0"/>
                <a:ea typeface="Liberation Sans Narrow" pitchFamily="34" charset="-122"/>
                <a:cs typeface="Liberation Sans Narrow" pitchFamily="34" charset="-120"/>
              </a:rPr>
              <a:t>MEDICINAL MUSHROOMS · 04</a:t>
            </a:r>
            <a:endParaRPr lang="en-US" sz="800" dirty="0"/>
          </a:p>
        </p:txBody>
      </p:sp>
      <p:sp>
        <p:nvSpPr>
          <p:cNvPr id="8" name="Text 6"/>
          <p:cNvSpPr/>
          <p:nvPr/>
        </p:nvSpPr>
        <p:spPr>
          <a:xfrm>
            <a:off x="678656" y="1706575"/>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Birch Polypore</a:t>
            </a:r>
            <a:endParaRPr lang="en-US" sz="800" dirty="0"/>
          </a:p>
        </p:txBody>
      </p:sp>
      <p:sp>
        <p:nvSpPr>
          <p:cNvPr id="9" name="Text 7"/>
          <p:cNvSpPr/>
          <p:nvPr/>
        </p:nvSpPr>
        <p:spPr>
          <a:xfrm>
            <a:off x="678656" y="1840074"/>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Chaga</a:t>
            </a:r>
            <a:endParaRPr lang="en-US" sz="800" dirty="0"/>
          </a:p>
        </p:txBody>
      </p:sp>
      <p:sp>
        <p:nvSpPr>
          <p:cNvPr id="10" name="Text 8"/>
          <p:cNvSpPr/>
          <p:nvPr/>
        </p:nvSpPr>
        <p:spPr>
          <a:xfrm>
            <a:off x="678656" y="1973573"/>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Reishi</a:t>
            </a:r>
            <a:endParaRPr lang="en-US" sz="800" dirty="0"/>
          </a:p>
        </p:txBody>
      </p:sp>
      <p:sp>
        <p:nvSpPr>
          <p:cNvPr id="11" name="Text 9"/>
          <p:cNvSpPr/>
          <p:nvPr/>
        </p:nvSpPr>
        <p:spPr>
          <a:xfrm>
            <a:off x="678656" y="2107071"/>
            <a:ext cx="1732359" cy="186413"/>
          </a:xfrm>
          <a:prstGeom prst="rect">
            <a:avLst/>
          </a:prstGeom>
          <a:noFill/>
          <a:ln/>
        </p:spPr>
        <p:txBody>
          <a:bodyPr wrap="none" lIns="0" tIns="0" rIns="0" bIns="0" rtlCol="0" anchor="t"/>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Turkey Tail</a:t>
            </a:r>
            <a:endParaRPr lang="en-US" sz="800" dirty="0"/>
          </a:p>
        </p:txBody>
      </p:sp>
      <p:sp>
        <p:nvSpPr>
          <p:cNvPr id="12" name="Text 10"/>
          <p:cNvSpPr/>
          <p:nvPr/>
        </p:nvSpPr>
        <p:spPr>
          <a:xfrm>
            <a:off x="2593181" y="1477975"/>
            <a:ext cx="1939528" cy="156303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13" name="Text 11"/>
          <p:cNvSpPr/>
          <p:nvPr/>
        </p:nvSpPr>
        <p:spPr>
          <a:xfrm>
            <a:off x="2696766" y="1567272"/>
            <a:ext cx="1732359" cy="111871"/>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C2853A"/>
                </a:solidFill>
                <a:latin typeface="Liberation Sans Narrow" pitchFamily="34" charset="0"/>
                <a:ea typeface="Liberation Sans Narrow" pitchFamily="34" charset="-122"/>
                <a:cs typeface="Liberation Sans Narrow" pitchFamily="34" charset="-120"/>
              </a:rPr>
              <a:t>BERRIES &amp; FRUITS · 06</a:t>
            </a:r>
            <a:endParaRPr lang="en-US" sz="800" dirty="0"/>
          </a:p>
        </p:txBody>
      </p:sp>
      <p:sp>
        <p:nvSpPr>
          <p:cNvPr id="14" name="Text 12"/>
          <p:cNvSpPr/>
          <p:nvPr/>
        </p:nvSpPr>
        <p:spPr>
          <a:xfrm>
            <a:off x="2696766" y="1706575"/>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Black Mulberry</a:t>
            </a:r>
            <a:endParaRPr lang="en-US" sz="800" dirty="0"/>
          </a:p>
        </p:txBody>
      </p:sp>
      <p:sp>
        <p:nvSpPr>
          <p:cNvPr id="15" name="Text 13"/>
          <p:cNvSpPr/>
          <p:nvPr/>
        </p:nvSpPr>
        <p:spPr>
          <a:xfrm>
            <a:off x="2696766" y="1840074"/>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Blueberry</a:t>
            </a:r>
            <a:endParaRPr lang="en-US" sz="800" dirty="0"/>
          </a:p>
        </p:txBody>
      </p:sp>
      <p:sp>
        <p:nvSpPr>
          <p:cNvPr id="16" name="Text 14"/>
          <p:cNvSpPr/>
          <p:nvPr/>
        </p:nvSpPr>
        <p:spPr>
          <a:xfrm>
            <a:off x="2696766" y="1973573"/>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Cranberry</a:t>
            </a:r>
            <a:endParaRPr lang="en-US" sz="800" dirty="0"/>
          </a:p>
        </p:txBody>
      </p:sp>
      <p:sp>
        <p:nvSpPr>
          <p:cNvPr id="17" name="Text 15"/>
          <p:cNvSpPr/>
          <p:nvPr/>
        </p:nvSpPr>
        <p:spPr>
          <a:xfrm>
            <a:off x="2696766" y="2107071"/>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Elderberry</a:t>
            </a:r>
            <a:endParaRPr lang="en-US" sz="800" dirty="0"/>
          </a:p>
        </p:txBody>
      </p:sp>
      <p:sp>
        <p:nvSpPr>
          <p:cNvPr id="18" name="Text 16"/>
          <p:cNvSpPr/>
          <p:nvPr/>
        </p:nvSpPr>
        <p:spPr>
          <a:xfrm>
            <a:off x="2696766" y="2240570"/>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Raspberries</a:t>
            </a:r>
            <a:endParaRPr lang="en-US" sz="800" dirty="0"/>
          </a:p>
        </p:txBody>
      </p:sp>
      <p:sp>
        <p:nvSpPr>
          <p:cNvPr id="19" name="Text 17"/>
          <p:cNvSpPr/>
          <p:nvPr/>
        </p:nvSpPr>
        <p:spPr>
          <a:xfrm>
            <a:off x="2696766" y="2374069"/>
            <a:ext cx="1732359" cy="186413"/>
          </a:xfrm>
          <a:prstGeom prst="rect">
            <a:avLst/>
          </a:prstGeom>
          <a:noFill/>
          <a:ln/>
        </p:spPr>
        <p:txBody>
          <a:bodyPr wrap="none" lIns="0" tIns="0" rIns="0" bIns="0" rtlCol="0" anchor="t"/>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White Mulberry</a:t>
            </a:r>
            <a:endParaRPr lang="en-US" sz="800" dirty="0"/>
          </a:p>
        </p:txBody>
      </p:sp>
      <p:sp>
        <p:nvSpPr>
          <p:cNvPr id="20" name="Text 18"/>
          <p:cNvSpPr/>
          <p:nvPr/>
        </p:nvSpPr>
        <p:spPr>
          <a:xfrm>
            <a:off x="4611291" y="1477975"/>
            <a:ext cx="1939528" cy="156303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21" name="Text 19"/>
          <p:cNvSpPr/>
          <p:nvPr/>
        </p:nvSpPr>
        <p:spPr>
          <a:xfrm>
            <a:off x="4714875" y="1567272"/>
            <a:ext cx="1732359" cy="111871"/>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C2853A"/>
                </a:solidFill>
                <a:latin typeface="Liberation Sans Narrow" pitchFamily="34" charset="0"/>
                <a:ea typeface="Liberation Sans Narrow" pitchFamily="34" charset="-122"/>
                <a:cs typeface="Liberation Sans Narrow" pitchFamily="34" charset="-120"/>
              </a:rPr>
              <a:t>ROOTS, BARKS &amp; TREE · 07</a:t>
            </a:r>
            <a:endParaRPr lang="en-US" sz="800" dirty="0"/>
          </a:p>
        </p:txBody>
      </p:sp>
      <p:sp>
        <p:nvSpPr>
          <p:cNvPr id="22" name="Text 20"/>
          <p:cNvSpPr/>
          <p:nvPr/>
        </p:nvSpPr>
        <p:spPr>
          <a:xfrm>
            <a:off x="4714875" y="1706575"/>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Black Cohosh</a:t>
            </a:r>
            <a:endParaRPr lang="en-US" sz="800" dirty="0"/>
          </a:p>
        </p:txBody>
      </p:sp>
      <p:sp>
        <p:nvSpPr>
          <p:cNvPr id="23" name="Text 21"/>
          <p:cNvSpPr/>
          <p:nvPr/>
        </p:nvSpPr>
        <p:spPr>
          <a:xfrm>
            <a:off x="4714875" y="1840074"/>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Blue Cohosh</a:t>
            </a:r>
            <a:endParaRPr lang="en-US" sz="800" dirty="0"/>
          </a:p>
        </p:txBody>
      </p:sp>
      <p:sp>
        <p:nvSpPr>
          <p:cNvPr id="24" name="Text 22"/>
          <p:cNvSpPr/>
          <p:nvPr/>
        </p:nvSpPr>
        <p:spPr>
          <a:xfrm>
            <a:off x="4714875" y="1973573"/>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Burdock Root</a:t>
            </a:r>
            <a:endParaRPr lang="en-US" sz="800" dirty="0"/>
          </a:p>
        </p:txBody>
      </p:sp>
      <p:sp>
        <p:nvSpPr>
          <p:cNvPr id="25" name="Text 23"/>
          <p:cNvSpPr/>
          <p:nvPr/>
        </p:nvSpPr>
        <p:spPr>
          <a:xfrm>
            <a:off x="4714875" y="2107071"/>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Pine Pollen</a:t>
            </a:r>
            <a:endParaRPr lang="en-US" sz="800" dirty="0"/>
          </a:p>
        </p:txBody>
      </p:sp>
      <p:sp>
        <p:nvSpPr>
          <p:cNvPr id="26" name="Text 24"/>
          <p:cNvSpPr/>
          <p:nvPr/>
        </p:nvSpPr>
        <p:spPr>
          <a:xfrm>
            <a:off x="4714875" y="2240570"/>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Pine Shavings</a:t>
            </a:r>
            <a:endParaRPr lang="en-US" sz="800" dirty="0"/>
          </a:p>
        </p:txBody>
      </p:sp>
      <p:sp>
        <p:nvSpPr>
          <p:cNvPr id="27" name="Text 25"/>
          <p:cNvSpPr/>
          <p:nvPr/>
        </p:nvSpPr>
        <p:spPr>
          <a:xfrm>
            <a:off x="4714875" y="2374069"/>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Sarsaparilla</a:t>
            </a:r>
            <a:endParaRPr lang="en-US" sz="800" dirty="0"/>
          </a:p>
        </p:txBody>
      </p:sp>
      <p:sp>
        <p:nvSpPr>
          <p:cNvPr id="28" name="Text 26"/>
          <p:cNvSpPr/>
          <p:nvPr/>
        </p:nvSpPr>
        <p:spPr>
          <a:xfrm>
            <a:off x="4714875" y="2507568"/>
            <a:ext cx="1732359" cy="186413"/>
          </a:xfrm>
          <a:prstGeom prst="rect">
            <a:avLst/>
          </a:prstGeom>
          <a:noFill/>
          <a:ln/>
        </p:spPr>
        <p:txBody>
          <a:bodyPr wrap="none" lIns="0" tIns="0" rIns="0" bIns="0" rtlCol="0" anchor="t"/>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Sassafras</a:t>
            </a:r>
            <a:endParaRPr lang="en-US" sz="800" dirty="0"/>
          </a:p>
        </p:txBody>
      </p:sp>
      <p:sp>
        <p:nvSpPr>
          <p:cNvPr id="29" name="Text 27"/>
          <p:cNvSpPr/>
          <p:nvPr/>
        </p:nvSpPr>
        <p:spPr>
          <a:xfrm>
            <a:off x="6629400" y="1477975"/>
            <a:ext cx="1939528" cy="156303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30" name="Text 28"/>
          <p:cNvSpPr/>
          <p:nvPr/>
        </p:nvSpPr>
        <p:spPr>
          <a:xfrm>
            <a:off x="6732984" y="1567272"/>
            <a:ext cx="1732359" cy="111871"/>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C2853A"/>
                </a:solidFill>
                <a:latin typeface="Liberation Sans Narrow" pitchFamily="34" charset="0"/>
                <a:ea typeface="Liberation Sans Narrow" pitchFamily="34" charset="-122"/>
                <a:cs typeface="Liberation Sans Narrow" pitchFamily="34" charset="-120"/>
              </a:rPr>
              <a:t>FLOWERS &amp; BLOSSOMS · 08</a:t>
            </a:r>
            <a:endParaRPr lang="en-US" sz="800" dirty="0"/>
          </a:p>
        </p:txBody>
      </p:sp>
      <p:sp>
        <p:nvSpPr>
          <p:cNvPr id="31" name="Text 29"/>
          <p:cNvSpPr/>
          <p:nvPr/>
        </p:nvSpPr>
        <p:spPr>
          <a:xfrm>
            <a:off x="6732984" y="1706575"/>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Apple Blossoms</a:t>
            </a:r>
            <a:endParaRPr lang="en-US" sz="800" dirty="0"/>
          </a:p>
        </p:txBody>
      </p:sp>
      <p:sp>
        <p:nvSpPr>
          <p:cNvPr id="32" name="Text 30"/>
          <p:cNvSpPr/>
          <p:nvPr/>
        </p:nvSpPr>
        <p:spPr>
          <a:xfrm>
            <a:off x="6732984" y="1840074"/>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Coltsfoot</a:t>
            </a:r>
            <a:endParaRPr lang="en-US" sz="800" dirty="0"/>
          </a:p>
        </p:txBody>
      </p:sp>
      <p:sp>
        <p:nvSpPr>
          <p:cNvPr id="33" name="Text 31"/>
          <p:cNvSpPr/>
          <p:nvPr/>
        </p:nvSpPr>
        <p:spPr>
          <a:xfrm>
            <a:off x="6732984" y="1973573"/>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Lavender (Blue)</a:t>
            </a:r>
            <a:endParaRPr lang="en-US" sz="800" dirty="0"/>
          </a:p>
        </p:txBody>
      </p:sp>
      <p:sp>
        <p:nvSpPr>
          <p:cNvPr id="34" name="Text 32"/>
          <p:cNvSpPr/>
          <p:nvPr/>
        </p:nvSpPr>
        <p:spPr>
          <a:xfrm>
            <a:off x="6732984" y="2107071"/>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Lavender (White)</a:t>
            </a:r>
            <a:endParaRPr lang="en-US" sz="800" dirty="0"/>
          </a:p>
        </p:txBody>
      </p:sp>
      <p:sp>
        <p:nvSpPr>
          <p:cNvPr id="35" name="Text 33"/>
          <p:cNvSpPr/>
          <p:nvPr/>
        </p:nvSpPr>
        <p:spPr>
          <a:xfrm>
            <a:off x="6732984" y="2240570"/>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Oregano Flower</a:t>
            </a:r>
            <a:endParaRPr lang="en-US" sz="800" dirty="0"/>
          </a:p>
        </p:txBody>
      </p:sp>
      <p:sp>
        <p:nvSpPr>
          <p:cNvPr id="36" name="Text 34"/>
          <p:cNvSpPr/>
          <p:nvPr/>
        </p:nvSpPr>
        <p:spPr>
          <a:xfrm>
            <a:off x="6732984" y="2374069"/>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Red Clover</a:t>
            </a:r>
            <a:endParaRPr lang="en-US" sz="800" dirty="0"/>
          </a:p>
        </p:txBody>
      </p:sp>
      <p:sp>
        <p:nvSpPr>
          <p:cNvPr id="37" name="Text 35"/>
          <p:cNvSpPr/>
          <p:nvPr/>
        </p:nvSpPr>
        <p:spPr>
          <a:xfrm>
            <a:off x="6732984" y="2507568"/>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White Clover</a:t>
            </a:r>
            <a:endParaRPr lang="en-US" sz="800" dirty="0"/>
          </a:p>
        </p:txBody>
      </p:sp>
      <p:sp>
        <p:nvSpPr>
          <p:cNvPr id="38" name="Text 36"/>
          <p:cNvSpPr/>
          <p:nvPr/>
        </p:nvSpPr>
        <p:spPr>
          <a:xfrm>
            <a:off x="6732984" y="2641067"/>
            <a:ext cx="1732359" cy="186413"/>
          </a:xfrm>
          <a:prstGeom prst="rect">
            <a:avLst/>
          </a:prstGeom>
          <a:noFill/>
          <a:ln/>
        </p:spPr>
        <p:txBody>
          <a:bodyPr wrap="none" lIns="0" tIns="0" rIns="0" bIns="0" rtlCol="0" anchor="t"/>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Yarrow</a:t>
            </a:r>
            <a:endParaRPr lang="en-US" sz="800" dirty="0"/>
          </a:p>
        </p:txBody>
      </p:sp>
      <p:sp>
        <p:nvSpPr>
          <p:cNvPr id="39" name="Text 37"/>
          <p:cNvSpPr/>
          <p:nvPr/>
        </p:nvSpPr>
        <p:spPr>
          <a:xfrm>
            <a:off x="575072" y="3119586"/>
            <a:ext cx="1939528" cy="1563142"/>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40" name="Text 38"/>
          <p:cNvSpPr/>
          <p:nvPr/>
        </p:nvSpPr>
        <p:spPr>
          <a:xfrm>
            <a:off x="678656" y="3208883"/>
            <a:ext cx="1732359" cy="111871"/>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C2853A"/>
                </a:solidFill>
                <a:latin typeface="Liberation Sans Narrow" pitchFamily="34" charset="0"/>
                <a:ea typeface="Liberation Sans Narrow" pitchFamily="34" charset="-122"/>
                <a:cs typeface="Liberation Sans Narrow" pitchFamily="34" charset="-120"/>
              </a:rPr>
              <a:t>MINTS &amp; CULINARY HERBS · 05</a:t>
            </a:r>
            <a:endParaRPr lang="en-US" sz="800" dirty="0"/>
          </a:p>
        </p:txBody>
      </p:sp>
      <p:sp>
        <p:nvSpPr>
          <p:cNvPr id="41" name="Text 39"/>
          <p:cNvSpPr/>
          <p:nvPr/>
        </p:nvSpPr>
        <p:spPr>
          <a:xfrm>
            <a:off x="678656" y="3348186"/>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Oregano</a:t>
            </a:r>
            <a:endParaRPr lang="en-US" sz="800" dirty="0"/>
          </a:p>
        </p:txBody>
      </p:sp>
      <p:sp>
        <p:nvSpPr>
          <p:cNvPr id="42" name="Text 40"/>
          <p:cNvSpPr/>
          <p:nvPr/>
        </p:nvSpPr>
        <p:spPr>
          <a:xfrm>
            <a:off x="678656" y="3481685"/>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Peppermint</a:t>
            </a:r>
            <a:endParaRPr lang="en-US" sz="800" dirty="0"/>
          </a:p>
        </p:txBody>
      </p:sp>
      <p:sp>
        <p:nvSpPr>
          <p:cNvPr id="43" name="Text 41"/>
          <p:cNvSpPr/>
          <p:nvPr/>
        </p:nvSpPr>
        <p:spPr>
          <a:xfrm>
            <a:off x="678656" y="3615184"/>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Pineapple Mint</a:t>
            </a:r>
            <a:endParaRPr lang="en-US" sz="800" dirty="0"/>
          </a:p>
        </p:txBody>
      </p:sp>
      <p:sp>
        <p:nvSpPr>
          <p:cNvPr id="44" name="Text 42"/>
          <p:cNvSpPr/>
          <p:nvPr/>
        </p:nvSpPr>
        <p:spPr>
          <a:xfrm>
            <a:off x="678656" y="3748683"/>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Sage</a:t>
            </a:r>
            <a:endParaRPr lang="en-US" sz="800" dirty="0"/>
          </a:p>
        </p:txBody>
      </p:sp>
      <p:sp>
        <p:nvSpPr>
          <p:cNvPr id="45" name="Text 43"/>
          <p:cNvSpPr/>
          <p:nvPr/>
        </p:nvSpPr>
        <p:spPr>
          <a:xfrm>
            <a:off x="678656" y="3882182"/>
            <a:ext cx="1732359" cy="186413"/>
          </a:xfrm>
          <a:prstGeom prst="rect">
            <a:avLst/>
          </a:prstGeom>
          <a:noFill/>
          <a:ln/>
        </p:spPr>
        <p:txBody>
          <a:bodyPr wrap="none" lIns="0" tIns="0" rIns="0" bIns="0" rtlCol="0" anchor="t"/>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Spearmint</a:t>
            </a:r>
            <a:endParaRPr lang="en-US" sz="800" dirty="0"/>
          </a:p>
        </p:txBody>
      </p:sp>
      <p:sp>
        <p:nvSpPr>
          <p:cNvPr id="46" name="Text 44"/>
          <p:cNvSpPr/>
          <p:nvPr/>
        </p:nvSpPr>
        <p:spPr>
          <a:xfrm>
            <a:off x="2593181" y="3119586"/>
            <a:ext cx="1939528" cy="1563142"/>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47" name="Text 45"/>
          <p:cNvSpPr/>
          <p:nvPr/>
        </p:nvSpPr>
        <p:spPr>
          <a:xfrm>
            <a:off x="2696766" y="3208883"/>
            <a:ext cx="1836301" cy="111871"/>
          </a:xfrm>
          <a:prstGeom prst="rect">
            <a:avLst/>
          </a:prstGeom>
          <a:noFill/>
          <a:ln/>
        </p:spPr>
        <p:txBody>
          <a:bodyPr wrap="square" lIns="0" tIns="0" rIns="0" bIns="0" rtlCol="0" anchor="t">
            <a:normAutofit/>
          </a:bodyPr>
          <a:lstStyle/>
          <a:p>
            <a:pPr algn="l" indent="0" marL="0">
              <a:lnSpc>
                <a:spcPts val="759"/>
              </a:lnSpc>
              <a:buNone/>
            </a:pPr>
            <a:r>
              <a:rPr lang="en-US" sz="800" spc="91" kern="0" dirty="0">
                <a:solidFill>
                  <a:srgbClr val="C2853A"/>
                </a:solidFill>
                <a:latin typeface="Liberation Sans Narrow" pitchFamily="34" charset="0"/>
                <a:ea typeface="Liberation Sans Narrow" pitchFamily="34" charset="-122"/>
                <a:cs typeface="Liberation Sans Narrow" pitchFamily="34" charset="-120"/>
              </a:rPr>
              <a:t>WILDCRAFTED HERBS &amp; LEAVES · 11</a:t>
            </a:r>
            <a:endParaRPr lang="en-US" sz="800" dirty="0"/>
          </a:p>
        </p:txBody>
      </p:sp>
      <p:sp>
        <p:nvSpPr>
          <p:cNvPr id="48" name="Text 46"/>
          <p:cNvSpPr/>
          <p:nvPr/>
        </p:nvSpPr>
        <p:spPr>
          <a:xfrm>
            <a:off x="2696766" y="3348186"/>
            <a:ext cx="1053846"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Agrimony</a:t>
            </a:r>
            <a:endParaRPr lang="en-US" sz="800" dirty="0"/>
          </a:p>
        </p:txBody>
      </p:sp>
      <p:sp>
        <p:nvSpPr>
          <p:cNvPr id="49" name="Text 47"/>
          <p:cNvSpPr/>
          <p:nvPr/>
        </p:nvSpPr>
        <p:spPr>
          <a:xfrm>
            <a:off x="3605808" y="3348186"/>
            <a:ext cx="823317"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Horsetail</a:t>
            </a:r>
            <a:endParaRPr lang="en-US" sz="800" dirty="0"/>
          </a:p>
        </p:txBody>
      </p:sp>
      <p:sp>
        <p:nvSpPr>
          <p:cNvPr id="50" name="Text 48"/>
          <p:cNvSpPr/>
          <p:nvPr/>
        </p:nvSpPr>
        <p:spPr>
          <a:xfrm>
            <a:off x="2696766" y="3471863"/>
            <a:ext cx="1053846"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Bergamot</a:t>
            </a:r>
            <a:endParaRPr lang="en-US" sz="800" dirty="0"/>
          </a:p>
        </p:txBody>
      </p:sp>
      <p:sp>
        <p:nvSpPr>
          <p:cNvPr id="51" name="Text 49"/>
          <p:cNvSpPr/>
          <p:nvPr/>
        </p:nvSpPr>
        <p:spPr>
          <a:xfrm>
            <a:off x="3605808" y="3471863"/>
            <a:ext cx="823317"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Mugwort</a:t>
            </a:r>
            <a:endParaRPr lang="en-US" sz="800" dirty="0"/>
          </a:p>
        </p:txBody>
      </p:sp>
      <p:sp>
        <p:nvSpPr>
          <p:cNvPr id="52" name="Text 50"/>
          <p:cNvSpPr/>
          <p:nvPr/>
        </p:nvSpPr>
        <p:spPr>
          <a:xfrm>
            <a:off x="2696766" y="3595539"/>
            <a:ext cx="1053846"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Damiana</a:t>
            </a:r>
            <a:endParaRPr lang="en-US" sz="800" dirty="0"/>
          </a:p>
        </p:txBody>
      </p:sp>
      <p:sp>
        <p:nvSpPr>
          <p:cNvPr id="53" name="Text 51"/>
          <p:cNvSpPr/>
          <p:nvPr/>
        </p:nvSpPr>
        <p:spPr>
          <a:xfrm>
            <a:off x="3605808" y="3595539"/>
            <a:ext cx="823317"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Mullein</a:t>
            </a:r>
            <a:endParaRPr lang="en-US" sz="800" dirty="0"/>
          </a:p>
        </p:txBody>
      </p:sp>
      <p:sp>
        <p:nvSpPr>
          <p:cNvPr id="54" name="Text 52"/>
          <p:cNvSpPr/>
          <p:nvPr/>
        </p:nvSpPr>
        <p:spPr>
          <a:xfrm>
            <a:off x="2696766" y="3719215"/>
            <a:ext cx="1053846"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Dandelion</a:t>
            </a:r>
            <a:endParaRPr lang="en-US" sz="800" dirty="0"/>
          </a:p>
        </p:txBody>
      </p:sp>
      <p:sp>
        <p:nvSpPr>
          <p:cNvPr id="55" name="Text 53"/>
          <p:cNvSpPr/>
          <p:nvPr/>
        </p:nvSpPr>
        <p:spPr>
          <a:xfrm>
            <a:off x="3605808" y="3719215"/>
            <a:ext cx="823317"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Plantain</a:t>
            </a:r>
            <a:endParaRPr lang="en-US" sz="800" dirty="0"/>
          </a:p>
        </p:txBody>
      </p:sp>
      <p:sp>
        <p:nvSpPr>
          <p:cNvPr id="56" name="Text 54"/>
          <p:cNvSpPr/>
          <p:nvPr/>
        </p:nvSpPr>
        <p:spPr>
          <a:xfrm>
            <a:off x="2696766" y="3842891"/>
            <a:ext cx="1053846"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Goldenrod</a:t>
            </a:r>
            <a:endParaRPr lang="en-US" sz="800" dirty="0"/>
          </a:p>
        </p:txBody>
      </p:sp>
      <p:sp>
        <p:nvSpPr>
          <p:cNvPr id="57" name="Text 55"/>
          <p:cNvSpPr/>
          <p:nvPr/>
        </p:nvSpPr>
        <p:spPr>
          <a:xfrm>
            <a:off x="3605808" y="3842891"/>
            <a:ext cx="823317"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Stinging Nettle</a:t>
            </a:r>
            <a:endParaRPr lang="en-US" sz="800" dirty="0"/>
          </a:p>
        </p:txBody>
      </p:sp>
      <p:sp>
        <p:nvSpPr>
          <p:cNvPr id="58" name="Text 56"/>
          <p:cNvSpPr/>
          <p:nvPr/>
        </p:nvSpPr>
        <p:spPr>
          <a:xfrm>
            <a:off x="2696766" y="3966567"/>
            <a:ext cx="964928" cy="180921"/>
          </a:xfrm>
          <a:prstGeom prst="rect">
            <a:avLst/>
          </a:prstGeom>
          <a:noFill/>
          <a:ln/>
        </p:spPr>
        <p:txBody>
          <a:bodyPr wrap="none" lIns="0" tIns="0" rIns="0" bIns="0" rtlCol="0" anchor="t"/>
          <a:lstStyle/>
          <a:p>
            <a:pPr algn="l" indent="0" marL="0">
              <a:lnSpc>
                <a:spcPts val="975"/>
              </a:lnSpc>
              <a:buNone/>
            </a:pPr>
            <a:r>
              <a:rPr lang="en-US" sz="800" dirty="0">
                <a:solidFill>
                  <a:srgbClr val="1B2E24"/>
                </a:solidFill>
                <a:latin typeface="Carlito" pitchFamily="34" charset="0"/>
                <a:ea typeface="Carlito" pitchFamily="34" charset="-122"/>
                <a:cs typeface="Carlito" pitchFamily="34" charset="-120"/>
              </a:rPr>
              <a:t>Ground Ivy</a:t>
            </a:r>
            <a:endParaRPr lang="en-US" sz="800" dirty="0"/>
          </a:p>
        </p:txBody>
      </p:sp>
      <p:sp>
        <p:nvSpPr>
          <p:cNvPr id="59" name="Text 57"/>
          <p:cNvSpPr/>
          <p:nvPr/>
        </p:nvSpPr>
        <p:spPr>
          <a:xfrm>
            <a:off x="4611291" y="3119586"/>
            <a:ext cx="1939528" cy="1563142"/>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60" name="Text 58"/>
          <p:cNvSpPr/>
          <p:nvPr/>
        </p:nvSpPr>
        <p:spPr>
          <a:xfrm>
            <a:off x="4714875" y="3208883"/>
            <a:ext cx="1732359" cy="111871"/>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C2853A"/>
                </a:solidFill>
                <a:latin typeface="Liberation Sans Narrow" pitchFamily="34" charset="0"/>
                <a:ea typeface="Liberation Sans Narrow" pitchFamily="34" charset="-122"/>
                <a:cs typeface="Liberation Sans Narrow" pitchFamily="34" charset="-120"/>
              </a:rPr>
              <a:t>RARE WILDCRAFTED · 05</a:t>
            </a:r>
            <a:endParaRPr lang="en-US" sz="800" dirty="0"/>
          </a:p>
        </p:txBody>
      </p:sp>
      <p:sp>
        <p:nvSpPr>
          <p:cNvPr id="61" name="Text 59"/>
          <p:cNvSpPr/>
          <p:nvPr/>
        </p:nvSpPr>
        <p:spPr>
          <a:xfrm>
            <a:off x="4714875" y="3348186"/>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Indian Pipe</a:t>
            </a:r>
            <a:endParaRPr lang="en-US" sz="800" dirty="0"/>
          </a:p>
        </p:txBody>
      </p:sp>
      <p:sp>
        <p:nvSpPr>
          <p:cNvPr id="62" name="Text 60"/>
          <p:cNvSpPr/>
          <p:nvPr/>
        </p:nvSpPr>
        <p:spPr>
          <a:xfrm>
            <a:off x="4714875" y="3481685"/>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Lady's Slipper</a:t>
            </a:r>
            <a:endParaRPr lang="en-US" sz="800" dirty="0"/>
          </a:p>
        </p:txBody>
      </p:sp>
      <p:sp>
        <p:nvSpPr>
          <p:cNvPr id="63" name="Text 61"/>
          <p:cNvSpPr/>
          <p:nvPr/>
        </p:nvSpPr>
        <p:spPr>
          <a:xfrm>
            <a:off x="4714875" y="3615184"/>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Pennyroyal</a:t>
            </a:r>
            <a:endParaRPr lang="en-US" sz="800" dirty="0"/>
          </a:p>
        </p:txBody>
      </p:sp>
      <p:sp>
        <p:nvSpPr>
          <p:cNvPr id="64" name="Text 62"/>
          <p:cNvSpPr/>
          <p:nvPr/>
        </p:nvSpPr>
        <p:spPr>
          <a:xfrm>
            <a:off x="4714875" y="3748683"/>
            <a:ext cx="1732359" cy="106067"/>
          </a:xfrm>
          <a:prstGeom prst="rect">
            <a:avLst/>
          </a:prstGeom>
          <a:noFill/>
          <a:ln/>
        </p:spPr>
        <p:txBody>
          <a:bodyPr wrap="none" lIns="0" tIns="0" rIns="0" bIns="0" rtlCol="0" anchor="t">
            <a:normAutofit/>
          </a:bodyPr>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St. John's Wort</a:t>
            </a:r>
            <a:endParaRPr lang="en-US" sz="800" dirty="0"/>
          </a:p>
        </p:txBody>
      </p:sp>
      <p:sp>
        <p:nvSpPr>
          <p:cNvPr id="65" name="Text 63"/>
          <p:cNvSpPr/>
          <p:nvPr/>
        </p:nvSpPr>
        <p:spPr>
          <a:xfrm>
            <a:off x="4714875" y="3882182"/>
            <a:ext cx="1732359" cy="186413"/>
          </a:xfrm>
          <a:prstGeom prst="rect">
            <a:avLst/>
          </a:prstGeom>
          <a:noFill/>
          <a:ln/>
        </p:spPr>
        <p:txBody>
          <a:bodyPr wrap="none" lIns="0" tIns="0" rIns="0" bIns="0" rtlCol="0" anchor="t"/>
          <a:lstStyle/>
          <a:p>
            <a:pPr algn="l" indent="0" marL="0">
              <a:lnSpc>
                <a:spcPts val="1052"/>
              </a:lnSpc>
              <a:buNone/>
            </a:pPr>
            <a:r>
              <a:rPr lang="en-US" sz="800" dirty="0">
                <a:solidFill>
                  <a:srgbClr val="1B2E24"/>
                </a:solidFill>
                <a:latin typeface="Carlito" pitchFamily="34" charset="0"/>
                <a:ea typeface="Carlito" pitchFamily="34" charset="-122"/>
                <a:cs typeface="Carlito" pitchFamily="34" charset="-120"/>
              </a:rPr>
              <a:t>Uva Ursi </a:t>
            </a:r>
            <a:pPr algn="l" indent="0" marL="0">
              <a:lnSpc>
                <a:spcPts val="1052"/>
              </a:lnSpc>
              <a:buNone/>
            </a:pPr>
            <a:r>
              <a:rPr lang="en-US" sz="800" i="1" dirty="0">
                <a:solidFill>
                  <a:srgbClr val="4A5A50"/>
                </a:solidFill>
                <a:latin typeface="Carlito" pitchFamily="34" charset="0"/>
                <a:ea typeface="Carlito" pitchFamily="34" charset="-122"/>
                <a:cs typeface="Carlito" pitchFamily="34" charset="-120"/>
              </a:rPr>
              <a:t>(Uvawsa)</a:t>
            </a:r>
            <a:endParaRPr lang="en-US" sz="800" dirty="0"/>
          </a:p>
        </p:txBody>
      </p:sp>
      <p:sp>
        <p:nvSpPr>
          <p:cNvPr id="66" name="Text 64"/>
          <p:cNvSpPr/>
          <p:nvPr/>
        </p:nvSpPr>
        <p:spPr>
          <a:xfrm>
            <a:off x="6625828" y="3116014"/>
            <a:ext cx="1946672" cy="1570286"/>
          </a:xfrm>
          <a:prstGeom prst="rect">
            <a:avLst/>
          </a:prstGeom>
          <a:solidFill>
            <a:srgbClr val="2D4A3A"/>
          </a:solidFill>
          <a:ln/>
        </p:spPr>
        <p:txBody>
          <a:bodyPr wrap="square" rtlCol="0" anchor="ctr"/>
          <a:lstStyle/>
          <a:p>
            <a:pPr indent="0" marL="0">
              <a:buNone/>
            </a:pPr>
            <a:endParaRPr lang="en-US" dirty="0"/>
          </a:p>
        </p:txBody>
      </p:sp>
      <p:sp>
        <p:nvSpPr>
          <p:cNvPr id="67" name="Text 65"/>
          <p:cNvSpPr/>
          <p:nvPr/>
        </p:nvSpPr>
        <p:spPr>
          <a:xfrm>
            <a:off x="6740128" y="3216027"/>
            <a:ext cx="1718072" cy="111871"/>
          </a:xfrm>
          <a:prstGeom prst="rect">
            <a:avLst/>
          </a:prstGeom>
          <a:noFill/>
          <a:ln/>
        </p:spPr>
        <p:txBody>
          <a:bodyPr wrap="none" lIns="0" tIns="0" rIns="0" bIns="0" rtlCol="0" anchor="t">
            <a:normAutofit/>
          </a:bodyPr>
          <a:lstStyle/>
          <a:p>
            <a:pPr algn="l" indent="0" marL="0">
              <a:lnSpc>
                <a:spcPts val="759"/>
              </a:lnSpc>
              <a:buNone/>
            </a:pPr>
            <a:r>
              <a:rPr lang="en-US" sz="800" spc="101" kern="0" dirty="0">
                <a:solidFill>
                  <a:srgbClr val="D9A45E"/>
                </a:solidFill>
                <a:latin typeface="Carlito" pitchFamily="34" charset="0"/>
                <a:ea typeface="Carlito" pitchFamily="34" charset="-122"/>
                <a:cs typeface="Carlito" pitchFamily="34" charset="-120"/>
              </a:rPr>
              <a:t>THE LIBRARY</a:t>
            </a:r>
            <a:endParaRPr lang="en-US" sz="800" dirty="0"/>
          </a:p>
        </p:txBody>
      </p:sp>
      <p:sp>
        <p:nvSpPr>
          <p:cNvPr id="68" name="Text 66"/>
          <p:cNvSpPr/>
          <p:nvPr/>
        </p:nvSpPr>
        <p:spPr>
          <a:xfrm>
            <a:off x="6740128" y="3355330"/>
            <a:ext cx="1718072" cy="329756"/>
          </a:xfrm>
          <a:prstGeom prst="rect">
            <a:avLst/>
          </a:prstGeom>
          <a:noFill/>
          <a:ln/>
        </p:spPr>
        <p:txBody>
          <a:bodyPr wrap="none" lIns="0" tIns="0" rIns="0" bIns="0" rtlCol="0" anchor="t">
            <a:normAutofit/>
          </a:bodyPr>
          <a:lstStyle/>
          <a:p>
            <a:pPr algn="l" indent="0" marL="0">
              <a:lnSpc>
                <a:spcPts val="2588"/>
              </a:lnSpc>
              <a:buNone/>
            </a:pPr>
            <a:r>
              <a:rPr lang="en-US" sz="2588" spc="-26" kern="0" dirty="0">
                <a:solidFill>
                  <a:srgbClr val="F5F0E6"/>
                </a:solidFill>
                <a:latin typeface="Liberation Sans Narrow" pitchFamily="34" charset="0"/>
                <a:ea typeface="Liberation Sans Narrow" pitchFamily="34" charset="-122"/>
                <a:cs typeface="Liberation Sans Narrow" pitchFamily="34" charset="-120"/>
              </a:rPr>
              <a:t>46</a:t>
            </a:r>
            <a:endParaRPr lang="en-US" sz="2588" dirty="0"/>
          </a:p>
        </p:txBody>
      </p:sp>
      <p:sp>
        <p:nvSpPr>
          <p:cNvPr id="69" name="Text 67"/>
          <p:cNvSpPr/>
          <p:nvPr/>
        </p:nvSpPr>
        <p:spPr>
          <a:xfrm>
            <a:off x="6740128" y="3712518"/>
            <a:ext cx="1718072" cy="164592"/>
          </a:xfrm>
          <a:prstGeom prst="rect">
            <a:avLst/>
          </a:prstGeom>
          <a:noFill/>
          <a:ln/>
        </p:spPr>
        <p:txBody>
          <a:bodyPr wrap="none" lIns="0" tIns="0" rIns="0" bIns="0" rtlCol="0" anchor="t"/>
          <a:lstStyle/>
          <a:p>
            <a:pPr algn="l" indent="0" marL="0">
              <a:lnSpc>
                <a:spcPts val="802"/>
              </a:lnSpc>
              <a:buNone/>
            </a:pPr>
            <a:r>
              <a:rPr lang="en-US" sz="800" spc="75" kern="0" dirty="0">
                <a:solidFill>
                  <a:srgbClr val="F5F0E6">
                    <a:alpha val="75000"/>
                  </a:srgbClr>
                </a:solidFill>
                <a:latin typeface="Carlito" pitchFamily="34" charset="0"/>
                <a:ea typeface="Carlito" pitchFamily="34" charset="-122"/>
                <a:cs typeface="Carlito" pitchFamily="34" charset="-120"/>
              </a:rPr>
              <a:t>BOTANICALS IN ACTIVE USE</a:t>
            </a:r>
            <a:endParaRPr lang="en-US" sz="800" dirty="0"/>
          </a:p>
        </p:txBody>
      </p:sp>
      <p:sp>
        <p:nvSpPr>
          <p:cNvPr id="70" name="Shape 68"/>
          <p:cNvSpPr/>
          <p:nvPr/>
        </p:nvSpPr>
        <p:spPr>
          <a:xfrm>
            <a:off x="6740128" y="4154091"/>
            <a:ext cx="1718072" cy="0"/>
          </a:xfrm>
          <a:prstGeom prst="line">
            <a:avLst/>
          </a:prstGeom>
          <a:noFill/>
          <a:ln w="7144">
            <a:solidFill>
              <a:srgbClr val="F5F0E6"/>
            </a:solidFill>
            <a:prstDash val="solid"/>
          </a:ln>
        </p:spPr>
      </p:sp>
      <p:sp>
        <p:nvSpPr>
          <p:cNvPr id="71" name="Text 69"/>
          <p:cNvSpPr/>
          <p:nvPr/>
        </p:nvSpPr>
        <p:spPr>
          <a:xfrm>
            <a:off x="6740128" y="4214813"/>
            <a:ext cx="1821156" cy="108299"/>
          </a:xfrm>
          <a:prstGeom prst="rect">
            <a:avLst/>
          </a:prstGeom>
          <a:noFill/>
          <a:ln/>
        </p:spPr>
        <p:txBody>
          <a:bodyPr wrap="square" lIns="0" tIns="0" rIns="0" bIns="0" rtlCol="0" anchor="t">
            <a:normAutofit/>
          </a:bodyPr>
          <a:lstStyle/>
          <a:p>
            <a:pPr algn="l" indent="0" marL="0">
              <a:lnSpc>
                <a:spcPts val="788"/>
              </a:lnSpc>
              <a:buNone/>
            </a:pPr>
            <a:r>
              <a:rPr lang="en-US" sz="800" dirty="0">
                <a:solidFill>
                  <a:srgbClr val="D9A45E">
                    <a:alpha val="85000"/>
                  </a:srgbClr>
                </a:solidFill>
                <a:latin typeface="Liberation Sans Narrow" pitchFamily="34" charset="0"/>
                <a:ea typeface="Liberation Sans Narrow" pitchFamily="34" charset="-122"/>
                <a:cs typeface="Liberation Sans Narrow" pitchFamily="34" charset="-120"/>
              </a:rPr>
              <a:t>100%</a:t>
            </a:r>
            <a:pPr algn="l" indent="0" marL="0">
              <a:lnSpc>
                <a:spcPts val="788"/>
              </a:lnSpc>
              <a:buNone/>
            </a:pPr>
            <a:r>
              <a:rPr lang="en-US" sz="800" dirty="0">
                <a:solidFill>
                  <a:srgbClr val="F5F0E6">
                    <a:alpha val="85000"/>
                  </a:srgbClr>
                </a:solidFill>
                <a:latin typeface="Carlito" pitchFamily="34" charset="0"/>
                <a:ea typeface="Carlito" pitchFamily="34" charset="-122"/>
                <a:cs typeface="Carlito" pitchFamily="34" charset="-120"/>
              </a:rPr>
              <a:t> wild-foraged or organically grown</a:t>
            </a:r>
            <a:endParaRPr lang="en-US" sz="800" dirty="0"/>
          </a:p>
        </p:txBody>
      </p:sp>
      <p:sp>
        <p:nvSpPr>
          <p:cNvPr id="72" name="Text 70"/>
          <p:cNvSpPr/>
          <p:nvPr/>
        </p:nvSpPr>
        <p:spPr>
          <a:xfrm>
            <a:off x="6740128" y="4350544"/>
            <a:ext cx="1821156" cy="108299"/>
          </a:xfrm>
          <a:prstGeom prst="rect">
            <a:avLst/>
          </a:prstGeom>
          <a:noFill/>
          <a:ln/>
        </p:spPr>
        <p:txBody>
          <a:bodyPr wrap="square" lIns="0" tIns="0" rIns="0" bIns="0" rtlCol="0" anchor="t">
            <a:normAutofit/>
          </a:bodyPr>
          <a:lstStyle/>
          <a:p>
            <a:pPr algn="l" indent="0" marL="0">
              <a:lnSpc>
                <a:spcPts val="788"/>
              </a:lnSpc>
              <a:buNone/>
            </a:pPr>
            <a:r>
              <a:rPr lang="en-US" sz="800" dirty="0">
                <a:solidFill>
                  <a:srgbClr val="D9A45E">
                    <a:alpha val="85000"/>
                  </a:srgbClr>
                </a:solidFill>
                <a:latin typeface="Carlito" pitchFamily="34" charset="0"/>
                <a:ea typeface="Carlito" pitchFamily="34" charset="-122"/>
                <a:cs typeface="Carlito" pitchFamily="34" charset="-120"/>
              </a:rPr>
              <a:t>All</a:t>
            </a:r>
            <a:pPr algn="l" indent="0" marL="0">
              <a:lnSpc>
                <a:spcPts val="788"/>
              </a:lnSpc>
              <a:buNone/>
            </a:pPr>
            <a:r>
              <a:rPr lang="en-US" sz="800" dirty="0">
                <a:solidFill>
                  <a:srgbClr val="F5F0E6">
                    <a:alpha val="85000"/>
                  </a:srgbClr>
                </a:solidFill>
                <a:latin typeface="Carlito" pitchFamily="34" charset="0"/>
                <a:ea typeface="Carlito" pitchFamily="34" charset="-122"/>
                <a:cs typeface="Carlito" pitchFamily="34" charset="-120"/>
              </a:rPr>
              <a:t> traceable to PA mountain source</a:t>
            </a:r>
            <a:endParaRPr lang="en-US" sz="800" dirty="0"/>
          </a:p>
        </p:txBody>
      </p:sp>
      <p:sp>
        <p:nvSpPr>
          <p:cNvPr id="73" name="Text 71"/>
          <p:cNvSpPr/>
          <p:nvPr/>
        </p:nvSpPr>
        <p:spPr>
          <a:xfrm>
            <a:off x="6740128" y="4486275"/>
            <a:ext cx="1821156" cy="100013"/>
          </a:xfrm>
          <a:prstGeom prst="rect">
            <a:avLst/>
          </a:prstGeom>
          <a:noFill/>
          <a:ln/>
        </p:spPr>
        <p:txBody>
          <a:bodyPr wrap="square" lIns="0" tIns="0" rIns="0" bIns="0" rtlCol="0" anchor="t"/>
          <a:lstStyle/>
          <a:p>
            <a:pPr algn="l" indent="0" marL="0">
              <a:lnSpc>
                <a:spcPts val="788"/>
              </a:lnSpc>
              <a:buNone/>
            </a:pPr>
            <a:r>
              <a:rPr lang="en-US" sz="800" dirty="0">
                <a:solidFill>
                  <a:srgbClr val="D9A45E">
                    <a:alpha val="85000"/>
                  </a:srgbClr>
                </a:solidFill>
                <a:latin typeface="Liberation Sans Narrow" pitchFamily="34" charset="0"/>
                <a:ea typeface="Liberation Sans Narrow" pitchFamily="34" charset="-122"/>
                <a:cs typeface="Liberation Sans Narrow" pitchFamily="34" charset="-120"/>
              </a:rPr>
              <a:t>7</a:t>
            </a:r>
            <a:pPr algn="l" indent="0" marL="0">
              <a:lnSpc>
                <a:spcPts val="788"/>
              </a:lnSpc>
              <a:buNone/>
            </a:pPr>
            <a:r>
              <a:rPr lang="en-US" sz="800" dirty="0">
                <a:solidFill>
                  <a:srgbClr val="F5F0E6">
                    <a:alpha val="85000"/>
                  </a:srgbClr>
                </a:solidFill>
                <a:latin typeface="Carlito" pitchFamily="34" charset="0"/>
                <a:ea typeface="Carlito" pitchFamily="34" charset="-122"/>
                <a:cs typeface="Carlito" pitchFamily="34" charset="-120"/>
              </a:rPr>
              <a:t> categories of medicinal botanicals</a:t>
            </a:r>
            <a:endParaRPr lang="en-US" sz="800" dirty="0"/>
          </a:p>
        </p:txBody>
      </p:sp>
      <p:sp>
        <p:nvSpPr>
          <p:cNvPr id="74" name="Text 72"/>
          <p:cNvSpPr/>
          <p:nvPr/>
        </p:nvSpPr>
        <p:spPr>
          <a:xfrm>
            <a:off x="571500" y="4825603"/>
            <a:ext cx="7622270"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ALL MOUNTAIN APOTHECARY · BOTANICAL LIBRARY</a:t>
            </a:r>
            <a:endParaRPr lang="en-US" sz="800" dirty="0"/>
          </a:p>
        </p:txBody>
      </p:sp>
      <p:sp>
        <p:nvSpPr>
          <p:cNvPr id="75" name="Text 73"/>
          <p:cNvSpPr/>
          <p:nvPr/>
        </p:nvSpPr>
        <p:spPr>
          <a:xfrm>
            <a:off x="8208057" y="4825603"/>
            <a:ext cx="54074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Liberation Sans Narrow" pitchFamily="34" charset="0"/>
                <a:ea typeface="Liberation Sans Narrow" pitchFamily="34" charset="-122"/>
                <a:cs typeface="Liberation Sans Narrow" pitchFamily="34" charset="-120"/>
              </a:rPr>
              <a:t>04 / 09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71500" y="457200"/>
            <a:ext cx="8572500" cy="161877"/>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C2853A"/>
                </a:solidFill>
                <a:latin typeface="Liberation Sans Narrow" pitchFamily="34" charset="0"/>
                <a:ea typeface="Liberation Sans Narrow" pitchFamily="34" charset="-122"/>
                <a:cs typeface="Liberation Sans Narrow" pitchFamily="34" charset="-120"/>
              </a:rPr>
              <a:t>THE ELIXIRS — 2026 LINE</a:t>
            </a:r>
            <a:endParaRPr lang="en-US" sz="800" dirty="0"/>
          </a:p>
        </p:txBody>
      </p:sp>
      <p:sp>
        <p:nvSpPr>
          <p:cNvPr id="3" name="Text 1"/>
          <p:cNvSpPr/>
          <p:nvPr/>
        </p:nvSpPr>
        <p:spPr>
          <a:xfrm>
            <a:off x="571500" y="646509"/>
            <a:ext cx="8001000" cy="339471"/>
          </a:xfrm>
          <a:prstGeom prst="rect">
            <a:avLst/>
          </a:prstGeom>
          <a:noFill/>
          <a:ln/>
        </p:spPr>
        <p:txBody>
          <a:bodyPr wrap="square" lIns="0" tIns="0" rIns="0" bIns="0" rtlCol="0" anchor="t"/>
          <a:lstStyle/>
          <a:p>
            <a:pPr algn="l" indent="0" marL="0">
              <a:lnSpc>
                <a:spcPts val="2475"/>
              </a:lnSpc>
              <a:buNone/>
            </a:pPr>
            <a:r>
              <a:rPr lang="en-US" sz="2250" spc="-23" kern="0" dirty="0">
                <a:solidFill>
                  <a:srgbClr val="2D4A3A"/>
                </a:solidFill>
                <a:latin typeface="Tinos" pitchFamily="34" charset="0"/>
                <a:ea typeface="Tinos" pitchFamily="34" charset="-122"/>
                <a:cs typeface="Tinos" pitchFamily="34" charset="-120"/>
              </a:rPr>
              <a:t>A focused line of twelve. Six featured here.</a:t>
            </a:r>
            <a:endParaRPr lang="en-US" sz="2250" dirty="0"/>
          </a:p>
        </p:txBody>
      </p:sp>
      <p:sp>
        <p:nvSpPr>
          <p:cNvPr id="4" name="Text 2"/>
          <p:cNvSpPr/>
          <p:nvPr/>
        </p:nvSpPr>
        <p:spPr>
          <a:xfrm>
            <a:off x="571500" y="1060847"/>
            <a:ext cx="457200" cy="14288"/>
          </a:xfrm>
          <a:prstGeom prst="rect">
            <a:avLst/>
          </a:prstGeom>
          <a:solidFill>
            <a:srgbClr val="C2853A"/>
          </a:solidFill>
          <a:ln/>
        </p:spPr>
        <p:txBody>
          <a:bodyPr wrap="square" rtlCol="0" anchor="ctr"/>
          <a:lstStyle/>
          <a:p>
            <a:pPr indent="0" marL="0">
              <a:buNone/>
            </a:pPr>
            <a:endParaRPr lang="en-US" dirty="0"/>
          </a:p>
        </p:txBody>
      </p:sp>
      <p:sp>
        <p:nvSpPr>
          <p:cNvPr id="5" name="Text 3"/>
          <p:cNvSpPr/>
          <p:nvPr/>
        </p:nvSpPr>
        <p:spPr>
          <a:xfrm>
            <a:off x="571500" y="1160859"/>
            <a:ext cx="6572250" cy="164592"/>
          </a:xfrm>
          <a:prstGeom prst="rect">
            <a:avLst/>
          </a:prstGeom>
          <a:noFill/>
          <a:ln/>
        </p:spPr>
        <p:txBody>
          <a:bodyPr wrap="square" lIns="0" tIns="0" rIns="0" bIns="0" rtlCol="0" anchor="t"/>
          <a:lstStyle/>
          <a:p>
            <a:pPr algn="l" indent="0" marL="0">
              <a:lnSpc>
                <a:spcPts val="1097"/>
              </a:lnSpc>
              <a:buNone/>
            </a:pPr>
            <a:r>
              <a:rPr lang="en-US" sz="800" dirty="0">
                <a:solidFill>
                  <a:srgbClr val="4A5A50"/>
                </a:solidFill>
                <a:latin typeface="Carlito" pitchFamily="34" charset="0"/>
                <a:ea typeface="Carlito" pitchFamily="34" charset="-122"/>
                <a:cs typeface="Carlito" pitchFamily="34" charset="-120"/>
              </a:rPr>
              <a:t>Wholesale pricing shown. All elixirs are 2 oz amber glass with dropper. Shelf-ready case packs of 12. Full ingredient and benefit detail on the following page.</a:t>
            </a:r>
            <a:endParaRPr lang="en-US" sz="800" dirty="0"/>
          </a:p>
        </p:txBody>
      </p:sp>
      <p:sp>
        <p:nvSpPr>
          <p:cNvPr id="6" name="Text 4"/>
          <p:cNvSpPr/>
          <p:nvPr/>
        </p:nvSpPr>
        <p:spPr>
          <a:xfrm>
            <a:off x="575072" y="1432322"/>
            <a:ext cx="2574094" cy="220954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7" name="Text 5"/>
          <p:cNvSpPr/>
          <p:nvPr/>
        </p:nvSpPr>
        <p:spPr>
          <a:xfrm>
            <a:off x="682228" y="1539478"/>
            <a:ext cx="2359782" cy="521494"/>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8" name="Text 6"/>
          <p:cNvSpPr/>
          <p:nvPr/>
        </p:nvSpPr>
        <p:spPr>
          <a:xfrm>
            <a:off x="678656" y="2135981"/>
            <a:ext cx="2366925" cy="122587"/>
          </a:xfrm>
          <a:prstGeom prst="rect">
            <a:avLst/>
          </a:prstGeom>
          <a:noFill/>
          <a:ln/>
        </p:spPr>
        <p:txBody>
          <a:bodyPr wrap="none" lIns="0" tIns="0" rIns="0" bIns="0" rtlCol="0" anchor="t">
            <a:normAutofit/>
          </a:bodyPr>
          <a:lstStyle/>
          <a:p>
            <a:pPr algn="l" indent="0" marL="0">
              <a:lnSpc>
                <a:spcPts val="844"/>
              </a:lnSpc>
              <a:buNone/>
            </a:pPr>
            <a:r>
              <a:rPr lang="en-US" sz="800" spc="113" kern="0" dirty="0">
                <a:solidFill>
                  <a:srgbClr val="C2853A"/>
                </a:solidFill>
                <a:latin typeface="Carlito" pitchFamily="34" charset="0"/>
                <a:ea typeface="Carlito" pitchFamily="34" charset="-122"/>
                <a:cs typeface="Carlito" pitchFamily="34" charset="-120"/>
              </a:rPr>
              <a:t>DAILY TONIC</a:t>
            </a:r>
            <a:endParaRPr lang="en-US" sz="800" dirty="0"/>
          </a:p>
        </p:txBody>
      </p:sp>
      <p:sp>
        <p:nvSpPr>
          <p:cNvPr id="9" name="Text 7"/>
          <p:cNvSpPr/>
          <p:nvPr/>
        </p:nvSpPr>
        <p:spPr>
          <a:xfrm>
            <a:off x="678656" y="2286000"/>
            <a:ext cx="2366925" cy="177451"/>
          </a:xfrm>
          <a:prstGeom prst="rect">
            <a:avLst/>
          </a:prstGeom>
          <a:noFill/>
          <a:ln/>
        </p:spPr>
        <p:txBody>
          <a:bodyPr wrap="none" lIns="0" tIns="0" rIns="0" bIns="0" rtlCol="0" anchor="t"/>
          <a:lstStyle/>
          <a:p>
            <a:pPr algn="l" indent="0" marL="0">
              <a:lnSpc>
                <a:spcPts val="1294"/>
              </a:lnSpc>
              <a:buNone/>
            </a:pPr>
            <a:r>
              <a:rPr lang="en-US" sz="1125" spc="-6" kern="0" dirty="0">
                <a:solidFill>
                  <a:srgbClr val="2D4A3A"/>
                </a:solidFill>
                <a:latin typeface="Tinos" pitchFamily="34" charset="0"/>
                <a:ea typeface="Tinos" pitchFamily="34" charset="-122"/>
                <a:cs typeface="Tinos" pitchFamily="34" charset="-120"/>
              </a:rPr>
              <a:t>Ridge Reishi Daily</a:t>
            </a:r>
            <a:endParaRPr lang="en-US" sz="1125" dirty="0"/>
          </a:p>
        </p:txBody>
      </p:sp>
      <p:sp>
        <p:nvSpPr>
          <p:cNvPr id="10" name="Text 8"/>
          <p:cNvSpPr/>
          <p:nvPr/>
        </p:nvSpPr>
        <p:spPr>
          <a:xfrm>
            <a:off x="678656" y="2493169"/>
            <a:ext cx="2476653" cy="153591"/>
          </a:xfrm>
          <a:prstGeom prst="rect">
            <a:avLst/>
          </a:prstGeom>
          <a:noFill/>
          <a:ln/>
        </p:spPr>
        <p:txBody>
          <a:bodyPr wrap="square" lIns="0" tIns="0" rIns="0" bIns="0" rtlCol="0" anchor="t"/>
          <a:lstStyle/>
          <a:p>
            <a:pPr algn="l" indent="0" marL="0">
              <a:lnSpc>
                <a:spcPts val="945"/>
              </a:lnSpc>
              <a:buNone/>
            </a:pPr>
            <a:r>
              <a:rPr lang="en-US" sz="800" i="1" dirty="0">
                <a:solidFill>
                  <a:srgbClr val="4A5A50"/>
                </a:solidFill>
                <a:latin typeface="Carlito" pitchFamily="34" charset="0"/>
                <a:ea typeface="Carlito" pitchFamily="34" charset="-122"/>
                <a:cs typeface="Carlito" pitchFamily="34" charset="-120"/>
              </a:rPr>
              <a:t>Adaptogenic baseline for stress and stamina.</a:t>
            </a:r>
            <a:endParaRPr lang="en-US" sz="800" dirty="0"/>
          </a:p>
        </p:txBody>
      </p:sp>
      <p:sp>
        <p:nvSpPr>
          <p:cNvPr id="11" name="Text 9"/>
          <p:cNvSpPr/>
          <p:nvPr/>
        </p:nvSpPr>
        <p:spPr>
          <a:xfrm>
            <a:off x="678656" y="2684599"/>
            <a:ext cx="2366925" cy="7144"/>
          </a:xfrm>
          <a:prstGeom prst="rect">
            <a:avLst/>
          </a:prstGeom>
          <a:solidFill>
            <a:srgbClr val="C8BFA8"/>
          </a:solidFill>
          <a:ln/>
        </p:spPr>
        <p:txBody>
          <a:bodyPr wrap="square" rtlCol="0" anchor="ctr"/>
          <a:lstStyle/>
          <a:p>
            <a:pPr indent="0" marL="0">
              <a:buNone/>
            </a:pPr>
            <a:endParaRPr lang="en-US" dirty="0"/>
          </a:p>
        </p:txBody>
      </p:sp>
      <p:sp>
        <p:nvSpPr>
          <p:cNvPr id="12" name="Text 10"/>
          <p:cNvSpPr/>
          <p:nvPr/>
        </p:nvSpPr>
        <p:spPr>
          <a:xfrm>
            <a:off x="678656" y="2763180"/>
            <a:ext cx="2366925" cy="97584"/>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4A5A50"/>
                </a:solidFill>
                <a:latin typeface="Carlito" pitchFamily="34" charset="0"/>
                <a:ea typeface="Carlito" pitchFamily="34" charset="-122"/>
                <a:cs typeface="Carlito" pitchFamily="34" charset="-120"/>
              </a:rPr>
              <a:t>KEY BOTANICALS</a:t>
            </a:r>
            <a:endParaRPr lang="en-US" sz="800" dirty="0"/>
          </a:p>
        </p:txBody>
      </p:sp>
      <p:sp>
        <p:nvSpPr>
          <p:cNvPr id="13" name="Text 11"/>
          <p:cNvSpPr/>
          <p:nvPr/>
        </p:nvSpPr>
        <p:spPr>
          <a:xfrm>
            <a:off x="678656" y="2888196"/>
            <a:ext cx="2366925" cy="387256"/>
          </a:xfrm>
          <a:prstGeom prst="rect">
            <a:avLst/>
          </a:prstGeom>
          <a:noFill/>
          <a:ln/>
        </p:spPr>
        <p:txBody>
          <a:bodyPr wrap="square" lIns="0" tIns="0" rIns="0" bIns="0" rtlCol="0" anchor="t"/>
          <a:lstStyle/>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Reishi mushroom</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Ashwagandha</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Tulsi</a:t>
            </a:r>
            <a:endParaRPr lang="en-US" sz="800" dirty="0"/>
          </a:p>
        </p:txBody>
      </p:sp>
      <p:sp>
        <p:nvSpPr>
          <p:cNvPr id="14" name="Text 12"/>
          <p:cNvSpPr/>
          <p:nvPr/>
        </p:nvSpPr>
        <p:spPr>
          <a:xfrm>
            <a:off x="678656" y="3345396"/>
            <a:ext cx="2018556" cy="192881"/>
          </a:xfrm>
          <a:prstGeom prst="rect">
            <a:avLst/>
          </a:prstGeom>
          <a:noFill/>
          <a:ln/>
        </p:spPr>
        <p:txBody>
          <a:bodyPr wrap="none" lIns="0" tIns="0" rIns="0" bIns="0" rtlCol="0" anchor="t"/>
          <a:lstStyle/>
          <a:p>
            <a:pPr algn="l" indent="0" marL="0">
              <a:lnSpc>
                <a:spcPts val="1519"/>
              </a:lnSpc>
              <a:buNone/>
            </a:pPr>
            <a:r>
              <a:rPr lang="en-US" sz="1013" b="1" spc="20" kern="0" dirty="0">
                <a:solidFill>
                  <a:srgbClr val="2D4A3A"/>
                </a:solidFill>
                <a:latin typeface="Liberation Sans Narrow" pitchFamily="34" charset="0"/>
                <a:ea typeface="Liberation Sans Narrow" pitchFamily="34" charset="-122"/>
                <a:cs typeface="Liberation Sans Narrow" pitchFamily="34" charset="-120"/>
              </a:rPr>
              <a:t>WSLP $32</a:t>
            </a:r>
            <a:endParaRPr lang="en-US" sz="1013" dirty="0"/>
          </a:p>
        </p:txBody>
      </p:sp>
      <p:sp>
        <p:nvSpPr>
          <p:cNvPr id="15" name="Text 13"/>
          <p:cNvSpPr/>
          <p:nvPr/>
        </p:nvSpPr>
        <p:spPr>
          <a:xfrm>
            <a:off x="2711500" y="3388258"/>
            <a:ext cx="334082" cy="150019"/>
          </a:xfrm>
          <a:prstGeom prst="rect">
            <a:avLst/>
          </a:prstGeom>
          <a:noFill/>
          <a:ln/>
        </p:spPr>
        <p:txBody>
          <a:bodyPr wrap="square" lIns="0" tIns="0" rIns="0" bIns="0" rtlCol="0" anchor="t"/>
          <a:lstStyle/>
          <a:p>
            <a:pPr algn="l" indent="0" marL="0">
              <a:lnSpc>
                <a:spcPts val="1013"/>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SRP $48</a:t>
            </a:r>
            <a:endParaRPr lang="en-US" sz="800" dirty="0"/>
          </a:p>
        </p:txBody>
      </p:sp>
      <p:sp>
        <p:nvSpPr>
          <p:cNvPr id="16" name="Text 14"/>
          <p:cNvSpPr/>
          <p:nvPr/>
        </p:nvSpPr>
        <p:spPr>
          <a:xfrm>
            <a:off x="3284897" y="1432322"/>
            <a:ext cx="2574094" cy="220954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17" name="Text 15"/>
          <p:cNvSpPr/>
          <p:nvPr/>
        </p:nvSpPr>
        <p:spPr>
          <a:xfrm>
            <a:off x="3392053" y="1539478"/>
            <a:ext cx="2359782" cy="521494"/>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18" name="Text 16"/>
          <p:cNvSpPr/>
          <p:nvPr/>
        </p:nvSpPr>
        <p:spPr>
          <a:xfrm>
            <a:off x="3388482" y="2135981"/>
            <a:ext cx="2366925" cy="122587"/>
          </a:xfrm>
          <a:prstGeom prst="rect">
            <a:avLst/>
          </a:prstGeom>
          <a:noFill/>
          <a:ln/>
        </p:spPr>
        <p:txBody>
          <a:bodyPr wrap="none" lIns="0" tIns="0" rIns="0" bIns="0" rtlCol="0" anchor="t">
            <a:normAutofit/>
          </a:bodyPr>
          <a:lstStyle/>
          <a:p>
            <a:pPr algn="l" indent="0" marL="0">
              <a:lnSpc>
                <a:spcPts val="844"/>
              </a:lnSpc>
              <a:buNone/>
            </a:pPr>
            <a:r>
              <a:rPr lang="en-US" sz="800" spc="113" kern="0" dirty="0">
                <a:solidFill>
                  <a:srgbClr val="C2853A"/>
                </a:solidFill>
                <a:latin typeface="Carlito" pitchFamily="34" charset="0"/>
                <a:ea typeface="Carlito" pitchFamily="34" charset="-122"/>
                <a:cs typeface="Carlito" pitchFamily="34" charset="-120"/>
              </a:rPr>
              <a:t>SLEEP</a:t>
            </a:r>
            <a:endParaRPr lang="en-US" sz="800" dirty="0"/>
          </a:p>
        </p:txBody>
      </p:sp>
      <p:sp>
        <p:nvSpPr>
          <p:cNvPr id="19" name="Text 17"/>
          <p:cNvSpPr/>
          <p:nvPr/>
        </p:nvSpPr>
        <p:spPr>
          <a:xfrm>
            <a:off x="3388482" y="2286000"/>
            <a:ext cx="2366925" cy="177451"/>
          </a:xfrm>
          <a:prstGeom prst="rect">
            <a:avLst/>
          </a:prstGeom>
          <a:noFill/>
          <a:ln/>
        </p:spPr>
        <p:txBody>
          <a:bodyPr wrap="none" lIns="0" tIns="0" rIns="0" bIns="0" rtlCol="0" anchor="t"/>
          <a:lstStyle/>
          <a:p>
            <a:pPr algn="l" indent="0" marL="0">
              <a:lnSpc>
                <a:spcPts val="1294"/>
              </a:lnSpc>
              <a:buNone/>
            </a:pPr>
            <a:r>
              <a:rPr lang="en-US" sz="1125" spc="-6" kern="0" dirty="0">
                <a:solidFill>
                  <a:srgbClr val="2D4A3A"/>
                </a:solidFill>
                <a:latin typeface="Tinos" pitchFamily="34" charset="0"/>
                <a:ea typeface="Tinos" pitchFamily="34" charset="-122"/>
                <a:cs typeface="Tinos" pitchFamily="34" charset="-120"/>
              </a:rPr>
              <a:t>Hollow Moon Sleep</a:t>
            </a:r>
            <a:endParaRPr lang="en-US" sz="1125" dirty="0"/>
          </a:p>
        </p:txBody>
      </p:sp>
      <p:sp>
        <p:nvSpPr>
          <p:cNvPr id="20" name="Text 18"/>
          <p:cNvSpPr/>
          <p:nvPr/>
        </p:nvSpPr>
        <p:spPr>
          <a:xfrm>
            <a:off x="3388482" y="2493169"/>
            <a:ext cx="2476653" cy="153591"/>
          </a:xfrm>
          <a:prstGeom prst="rect">
            <a:avLst/>
          </a:prstGeom>
          <a:noFill/>
          <a:ln/>
        </p:spPr>
        <p:txBody>
          <a:bodyPr wrap="square" lIns="0" tIns="0" rIns="0" bIns="0" rtlCol="0" anchor="t"/>
          <a:lstStyle/>
          <a:p>
            <a:pPr algn="l" indent="0" marL="0">
              <a:lnSpc>
                <a:spcPts val="945"/>
              </a:lnSpc>
              <a:buNone/>
            </a:pPr>
            <a:r>
              <a:rPr lang="en-US" sz="800" i="1" dirty="0">
                <a:solidFill>
                  <a:srgbClr val="4A5A50"/>
                </a:solidFill>
                <a:latin typeface="Carlito" pitchFamily="34" charset="0"/>
                <a:ea typeface="Carlito" pitchFamily="34" charset="-122"/>
                <a:cs typeface="Carlito" pitchFamily="34" charset="-120"/>
              </a:rPr>
              <a:t>Quiet the mind and ease into deep rest.</a:t>
            </a:r>
            <a:endParaRPr lang="en-US" sz="800" dirty="0"/>
          </a:p>
        </p:txBody>
      </p:sp>
      <p:sp>
        <p:nvSpPr>
          <p:cNvPr id="21" name="Text 19"/>
          <p:cNvSpPr/>
          <p:nvPr/>
        </p:nvSpPr>
        <p:spPr>
          <a:xfrm>
            <a:off x="3388482" y="2684599"/>
            <a:ext cx="2366925" cy="7144"/>
          </a:xfrm>
          <a:prstGeom prst="rect">
            <a:avLst/>
          </a:prstGeom>
          <a:solidFill>
            <a:srgbClr val="C8BFA8"/>
          </a:solidFill>
          <a:ln/>
        </p:spPr>
        <p:txBody>
          <a:bodyPr wrap="square" rtlCol="0" anchor="ctr"/>
          <a:lstStyle/>
          <a:p>
            <a:pPr indent="0" marL="0">
              <a:buNone/>
            </a:pPr>
            <a:endParaRPr lang="en-US" dirty="0"/>
          </a:p>
        </p:txBody>
      </p:sp>
      <p:sp>
        <p:nvSpPr>
          <p:cNvPr id="22" name="Text 20"/>
          <p:cNvSpPr/>
          <p:nvPr/>
        </p:nvSpPr>
        <p:spPr>
          <a:xfrm>
            <a:off x="3388482" y="2763180"/>
            <a:ext cx="2366925" cy="97584"/>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4A5A50"/>
                </a:solidFill>
                <a:latin typeface="Carlito" pitchFamily="34" charset="0"/>
                <a:ea typeface="Carlito" pitchFamily="34" charset="-122"/>
                <a:cs typeface="Carlito" pitchFamily="34" charset="-120"/>
              </a:rPr>
              <a:t>KEY BOTANICALS</a:t>
            </a:r>
            <a:endParaRPr lang="en-US" sz="800" dirty="0"/>
          </a:p>
        </p:txBody>
      </p:sp>
      <p:sp>
        <p:nvSpPr>
          <p:cNvPr id="23" name="Text 21"/>
          <p:cNvSpPr/>
          <p:nvPr/>
        </p:nvSpPr>
        <p:spPr>
          <a:xfrm>
            <a:off x="3388482" y="2888196"/>
            <a:ext cx="2366925" cy="387256"/>
          </a:xfrm>
          <a:prstGeom prst="rect">
            <a:avLst/>
          </a:prstGeom>
          <a:noFill/>
          <a:ln/>
        </p:spPr>
        <p:txBody>
          <a:bodyPr wrap="square" lIns="0" tIns="0" rIns="0" bIns="0" rtlCol="0" anchor="t"/>
          <a:lstStyle/>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Valerian</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Passionflower</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Skullcap</a:t>
            </a:r>
            <a:endParaRPr lang="en-US" sz="800" dirty="0"/>
          </a:p>
        </p:txBody>
      </p:sp>
      <p:sp>
        <p:nvSpPr>
          <p:cNvPr id="24" name="Text 22"/>
          <p:cNvSpPr/>
          <p:nvPr/>
        </p:nvSpPr>
        <p:spPr>
          <a:xfrm>
            <a:off x="3388482" y="3345396"/>
            <a:ext cx="2018556" cy="192881"/>
          </a:xfrm>
          <a:prstGeom prst="rect">
            <a:avLst/>
          </a:prstGeom>
          <a:noFill/>
          <a:ln/>
        </p:spPr>
        <p:txBody>
          <a:bodyPr wrap="none" lIns="0" tIns="0" rIns="0" bIns="0" rtlCol="0" anchor="t"/>
          <a:lstStyle/>
          <a:p>
            <a:pPr algn="l" indent="0" marL="0">
              <a:lnSpc>
                <a:spcPts val="1519"/>
              </a:lnSpc>
              <a:buNone/>
            </a:pPr>
            <a:r>
              <a:rPr lang="en-US" sz="1013" b="1" spc="20" kern="0" dirty="0">
                <a:solidFill>
                  <a:srgbClr val="2D4A3A"/>
                </a:solidFill>
                <a:latin typeface="Liberation Sans Narrow" pitchFamily="34" charset="0"/>
                <a:ea typeface="Liberation Sans Narrow" pitchFamily="34" charset="-122"/>
                <a:cs typeface="Liberation Sans Narrow" pitchFamily="34" charset="-120"/>
              </a:rPr>
              <a:t>WSLP $34</a:t>
            </a:r>
            <a:endParaRPr lang="en-US" sz="1013" dirty="0"/>
          </a:p>
        </p:txBody>
      </p:sp>
      <p:sp>
        <p:nvSpPr>
          <p:cNvPr id="25" name="Text 23"/>
          <p:cNvSpPr/>
          <p:nvPr/>
        </p:nvSpPr>
        <p:spPr>
          <a:xfrm>
            <a:off x="5421325" y="3388258"/>
            <a:ext cx="334082" cy="150019"/>
          </a:xfrm>
          <a:prstGeom prst="rect">
            <a:avLst/>
          </a:prstGeom>
          <a:noFill/>
          <a:ln/>
        </p:spPr>
        <p:txBody>
          <a:bodyPr wrap="square" lIns="0" tIns="0" rIns="0" bIns="0" rtlCol="0" anchor="t"/>
          <a:lstStyle/>
          <a:p>
            <a:pPr algn="l" indent="0" marL="0">
              <a:lnSpc>
                <a:spcPts val="1013"/>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SRP $52</a:t>
            </a:r>
            <a:endParaRPr lang="en-US" sz="800" dirty="0"/>
          </a:p>
        </p:txBody>
      </p:sp>
      <p:sp>
        <p:nvSpPr>
          <p:cNvPr id="26" name="Text 24"/>
          <p:cNvSpPr/>
          <p:nvPr/>
        </p:nvSpPr>
        <p:spPr>
          <a:xfrm>
            <a:off x="5994722" y="1432322"/>
            <a:ext cx="2574206" cy="220954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27" name="Text 25"/>
          <p:cNvSpPr/>
          <p:nvPr/>
        </p:nvSpPr>
        <p:spPr>
          <a:xfrm>
            <a:off x="6101879" y="1539478"/>
            <a:ext cx="2359893" cy="521494"/>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28" name="Text 26"/>
          <p:cNvSpPr/>
          <p:nvPr/>
        </p:nvSpPr>
        <p:spPr>
          <a:xfrm>
            <a:off x="6098307" y="2135981"/>
            <a:ext cx="2367037" cy="122587"/>
          </a:xfrm>
          <a:prstGeom prst="rect">
            <a:avLst/>
          </a:prstGeom>
          <a:noFill/>
          <a:ln/>
        </p:spPr>
        <p:txBody>
          <a:bodyPr wrap="none" lIns="0" tIns="0" rIns="0" bIns="0" rtlCol="0" anchor="t">
            <a:normAutofit/>
          </a:bodyPr>
          <a:lstStyle/>
          <a:p>
            <a:pPr algn="l" indent="0" marL="0">
              <a:lnSpc>
                <a:spcPts val="844"/>
              </a:lnSpc>
              <a:buNone/>
            </a:pPr>
            <a:r>
              <a:rPr lang="en-US" sz="800" spc="113" kern="0" dirty="0">
                <a:solidFill>
                  <a:srgbClr val="C2853A"/>
                </a:solidFill>
                <a:latin typeface="Carlito" pitchFamily="34" charset="0"/>
                <a:ea typeface="Carlito" pitchFamily="34" charset="-122"/>
                <a:cs typeface="Carlito" pitchFamily="34" charset="-120"/>
              </a:rPr>
              <a:t>IMMUNE · SUBLINGUAL</a:t>
            </a:r>
            <a:endParaRPr lang="en-US" sz="800" dirty="0"/>
          </a:p>
        </p:txBody>
      </p:sp>
      <p:sp>
        <p:nvSpPr>
          <p:cNvPr id="29" name="Text 27"/>
          <p:cNvSpPr/>
          <p:nvPr/>
        </p:nvSpPr>
        <p:spPr>
          <a:xfrm>
            <a:off x="6098307" y="2286000"/>
            <a:ext cx="2367037" cy="177451"/>
          </a:xfrm>
          <a:prstGeom prst="rect">
            <a:avLst/>
          </a:prstGeom>
          <a:noFill/>
          <a:ln/>
        </p:spPr>
        <p:txBody>
          <a:bodyPr wrap="none" lIns="0" tIns="0" rIns="0" bIns="0" rtlCol="0" anchor="t"/>
          <a:lstStyle/>
          <a:p>
            <a:pPr algn="l" indent="0" marL="0">
              <a:lnSpc>
                <a:spcPts val="1294"/>
              </a:lnSpc>
              <a:buNone/>
            </a:pPr>
            <a:r>
              <a:rPr lang="en-US" sz="1125" spc="-6" kern="0" dirty="0">
                <a:solidFill>
                  <a:srgbClr val="2D4A3A"/>
                </a:solidFill>
                <a:latin typeface="Tinos" pitchFamily="34" charset="0"/>
                <a:ea typeface="Tinos" pitchFamily="34" charset="-122"/>
                <a:cs typeface="Tinos" pitchFamily="34" charset="-120"/>
              </a:rPr>
              <a:t>Immune Boost</a:t>
            </a:r>
            <a:pPr algn="l" indent="0" marL="0">
              <a:lnSpc>
                <a:spcPts val="1294"/>
              </a:lnSpc>
              <a:buNone/>
            </a:pPr>
            <a:r>
              <a:rPr lang="en-US" sz="800" baseline="30000" spc="-6" kern="0" dirty="0">
                <a:solidFill>
                  <a:srgbClr val="2D4A3A"/>
                </a:solidFill>
                <a:latin typeface="Tinos" pitchFamily="34" charset="0"/>
                <a:ea typeface="Tinos" pitchFamily="34" charset="-122"/>
                <a:cs typeface="Tinos" pitchFamily="34" charset="-120"/>
              </a:rPr>
              <a:t>TM</a:t>
            </a:r>
            <a:endParaRPr lang="en-US" sz="1125" dirty="0"/>
          </a:p>
        </p:txBody>
      </p:sp>
      <p:sp>
        <p:nvSpPr>
          <p:cNvPr id="30" name="Text 28"/>
          <p:cNvSpPr/>
          <p:nvPr/>
        </p:nvSpPr>
        <p:spPr>
          <a:xfrm>
            <a:off x="6098307" y="2493169"/>
            <a:ext cx="2367037" cy="153591"/>
          </a:xfrm>
          <a:prstGeom prst="rect">
            <a:avLst/>
          </a:prstGeom>
          <a:noFill/>
          <a:ln/>
        </p:spPr>
        <p:txBody>
          <a:bodyPr wrap="square" lIns="0" tIns="0" rIns="0" bIns="0" rtlCol="0" anchor="t"/>
          <a:lstStyle/>
          <a:p>
            <a:pPr algn="l" indent="0" marL="0">
              <a:lnSpc>
                <a:spcPts val="945"/>
              </a:lnSpc>
              <a:buNone/>
            </a:pPr>
            <a:r>
              <a:rPr lang="en-US" sz="800" i="1" dirty="0">
                <a:solidFill>
                  <a:srgbClr val="4A5A50"/>
                </a:solidFill>
                <a:latin typeface="Carlito" pitchFamily="34" charset="0"/>
                <a:ea typeface="Carlito" pitchFamily="34" charset="-122"/>
                <a:cs typeface="Carlito" pitchFamily="34" charset="-120"/>
              </a:rPr>
              <a:t>Six immuno-boosting herbs, wild-foraged in western PA.</a:t>
            </a:r>
            <a:endParaRPr lang="en-US" sz="800" dirty="0"/>
          </a:p>
        </p:txBody>
      </p:sp>
      <p:sp>
        <p:nvSpPr>
          <p:cNvPr id="31" name="Text 29"/>
          <p:cNvSpPr/>
          <p:nvPr/>
        </p:nvSpPr>
        <p:spPr>
          <a:xfrm>
            <a:off x="6098307" y="2684599"/>
            <a:ext cx="2367037" cy="7144"/>
          </a:xfrm>
          <a:prstGeom prst="rect">
            <a:avLst/>
          </a:prstGeom>
          <a:solidFill>
            <a:srgbClr val="C8BFA8"/>
          </a:solidFill>
          <a:ln/>
        </p:spPr>
        <p:txBody>
          <a:bodyPr wrap="square" rtlCol="0" anchor="ctr"/>
          <a:lstStyle/>
          <a:p>
            <a:pPr indent="0" marL="0">
              <a:buNone/>
            </a:pPr>
            <a:endParaRPr lang="en-US" dirty="0"/>
          </a:p>
        </p:txBody>
      </p:sp>
      <p:sp>
        <p:nvSpPr>
          <p:cNvPr id="32" name="Text 30"/>
          <p:cNvSpPr/>
          <p:nvPr/>
        </p:nvSpPr>
        <p:spPr>
          <a:xfrm>
            <a:off x="6098307" y="2763180"/>
            <a:ext cx="2367037" cy="104727"/>
          </a:xfrm>
          <a:prstGeom prst="rect">
            <a:avLst/>
          </a:prstGeom>
          <a:noFill/>
          <a:ln/>
        </p:spPr>
        <p:txBody>
          <a:bodyPr wrap="none" lIns="0" tIns="0" rIns="0" bIns="0" rtlCol="0" anchor="t">
            <a:normAutofit/>
          </a:bodyPr>
          <a:lstStyle/>
          <a:p>
            <a:pPr algn="l" indent="0" marL="0">
              <a:lnSpc>
                <a:spcPts val="759"/>
              </a:lnSpc>
              <a:buNone/>
            </a:pPr>
            <a:r>
              <a:rPr lang="en-US" sz="800" spc="91" kern="0" dirty="0">
                <a:solidFill>
                  <a:srgbClr val="4A5A50"/>
                </a:solidFill>
                <a:latin typeface="Carlito" pitchFamily="34" charset="0"/>
                <a:ea typeface="Carlito" pitchFamily="34" charset="-122"/>
                <a:cs typeface="Carlito" pitchFamily="34" charset="-120"/>
              </a:rPr>
              <a:t>SIX WILD BOTANICALS</a:t>
            </a:r>
            <a:endParaRPr lang="en-US" sz="800" dirty="0"/>
          </a:p>
        </p:txBody>
      </p:sp>
      <p:sp>
        <p:nvSpPr>
          <p:cNvPr id="33" name="Text 31"/>
          <p:cNvSpPr/>
          <p:nvPr/>
        </p:nvSpPr>
        <p:spPr>
          <a:xfrm>
            <a:off x="6098307" y="2895340"/>
            <a:ext cx="1336849" cy="164592"/>
          </a:xfrm>
          <a:prstGeom prst="rect">
            <a:avLst/>
          </a:prstGeom>
          <a:noFill/>
          <a:ln/>
        </p:spPr>
        <p:txBody>
          <a:bodyPr wrap="none" lIns="0" tIns="0" rIns="0" bIns="0" rtlCol="0" anchor="t"/>
          <a:lstStyle/>
          <a:p>
            <a:pPr algn="l" indent="0" marL="0">
              <a:lnSpc>
                <a:spcPts val="844"/>
              </a:lnSpc>
              <a:buNone/>
            </a:pPr>
            <a:r>
              <a:rPr lang="en-US" sz="800" dirty="0">
                <a:solidFill>
                  <a:srgbClr val="1B2E24"/>
                </a:solidFill>
                <a:latin typeface="Carlito" pitchFamily="34" charset="0"/>
                <a:ea typeface="Carlito" pitchFamily="34" charset="-122"/>
                <a:cs typeface="Carlito" pitchFamily="34" charset="-120"/>
              </a:rPr>
              <a:t>• Elderberry</a:t>
            </a:r>
            <a:endParaRPr lang="en-US" sz="800" dirty="0"/>
          </a:p>
        </p:txBody>
      </p:sp>
      <p:sp>
        <p:nvSpPr>
          <p:cNvPr id="34" name="Text 32"/>
          <p:cNvSpPr/>
          <p:nvPr/>
        </p:nvSpPr>
        <p:spPr>
          <a:xfrm>
            <a:off x="7324688" y="2895340"/>
            <a:ext cx="1140656" cy="164592"/>
          </a:xfrm>
          <a:prstGeom prst="rect">
            <a:avLst/>
          </a:prstGeom>
          <a:noFill/>
          <a:ln/>
        </p:spPr>
        <p:txBody>
          <a:bodyPr wrap="none" lIns="0" tIns="0" rIns="0" bIns="0" rtlCol="0" anchor="t"/>
          <a:lstStyle/>
          <a:p>
            <a:pPr algn="l" indent="0" marL="0">
              <a:lnSpc>
                <a:spcPts val="844"/>
              </a:lnSpc>
              <a:buNone/>
            </a:pPr>
            <a:r>
              <a:rPr lang="en-US" sz="800" dirty="0">
                <a:solidFill>
                  <a:srgbClr val="1B2E24"/>
                </a:solidFill>
                <a:latin typeface="Carlito" pitchFamily="34" charset="0"/>
                <a:ea typeface="Carlito" pitchFamily="34" charset="-122"/>
                <a:cs typeface="Carlito" pitchFamily="34" charset="-120"/>
              </a:rPr>
              <a:t>• Elder flower</a:t>
            </a:r>
            <a:endParaRPr lang="en-US" sz="800" dirty="0"/>
          </a:p>
        </p:txBody>
      </p:sp>
      <p:sp>
        <p:nvSpPr>
          <p:cNvPr id="35" name="Text 33"/>
          <p:cNvSpPr/>
          <p:nvPr/>
        </p:nvSpPr>
        <p:spPr>
          <a:xfrm>
            <a:off x="6098307" y="3023927"/>
            <a:ext cx="1336849" cy="164592"/>
          </a:xfrm>
          <a:prstGeom prst="rect">
            <a:avLst/>
          </a:prstGeom>
          <a:noFill/>
          <a:ln/>
        </p:spPr>
        <p:txBody>
          <a:bodyPr wrap="none" lIns="0" tIns="0" rIns="0" bIns="0" rtlCol="0" anchor="t"/>
          <a:lstStyle/>
          <a:p>
            <a:pPr algn="l" indent="0" marL="0">
              <a:lnSpc>
                <a:spcPts val="844"/>
              </a:lnSpc>
              <a:buNone/>
            </a:pPr>
            <a:r>
              <a:rPr lang="en-US" sz="800" dirty="0">
                <a:solidFill>
                  <a:srgbClr val="1B2E24"/>
                </a:solidFill>
                <a:latin typeface="Carlito" pitchFamily="34" charset="0"/>
                <a:ea typeface="Carlito" pitchFamily="34" charset="-122"/>
                <a:cs typeface="Carlito" pitchFamily="34" charset="-120"/>
              </a:rPr>
              <a:t>• Pine Pollen</a:t>
            </a:r>
            <a:endParaRPr lang="en-US" sz="800" dirty="0"/>
          </a:p>
        </p:txBody>
      </p:sp>
      <p:sp>
        <p:nvSpPr>
          <p:cNvPr id="36" name="Text 34"/>
          <p:cNvSpPr/>
          <p:nvPr/>
        </p:nvSpPr>
        <p:spPr>
          <a:xfrm>
            <a:off x="7324688" y="3023927"/>
            <a:ext cx="1140656" cy="164592"/>
          </a:xfrm>
          <a:prstGeom prst="rect">
            <a:avLst/>
          </a:prstGeom>
          <a:noFill/>
          <a:ln/>
        </p:spPr>
        <p:txBody>
          <a:bodyPr wrap="none" lIns="0" tIns="0" rIns="0" bIns="0" rtlCol="0" anchor="t"/>
          <a:lstStyle/>
          <a:p>
            <a:pPr algn="l" indent="0" marL="0">
              <a:lnSpc>
                <a:spcPts val="844"/>
              </a:lnSpc>
              <a:buNone/>
            </a:pPr>
            <a:r>
              <a:rPr lang="en-US" sz="800" dirty="0">
                <a:solidFill>
                  <a:srgbClr val="1B2E24"/>
                </a:solidFill>
                <a:latin typeface="Carlito" pitchFamily="34" charset="0"/>
                <a:ea typeface="Carlito" pitchFamily="34" charset="-122"/>
                <a:cs typeface="Carlito" pitchFamily="34" charset="-120"/>
              </a:rPr>
              <a:t>• Chaga Mushroom</a:t>
            </a:r>
            <a:endParaRPr lang="en-US" sz="800" dirty="0"/>
          </a:p>
        </p:txBody>
      </p:sp>
      <p:sp>
        <p:nvSpPr>
          <p:cNvPr id="37" name="Text 35"/>
          <p:cNvSpPr/>
          <p:nvPr/>
        </p:nvSpPr>
        <p:spPr>
          <a:xfrm>
            <a:off x="6098307" y="3152515"/>
            <a:ext cx="1336849" cy="164592"/>
          </a:xfrm>
          <a:prstGeom prst="rect">
            <a:avLst/>
          </a:prstGeom>
          <a:noFill/>
          <a:ln/>
        </p:spPr>
        <p:txBody>
          <a:bodyPr wrap="none" lIns="0" tIns="0" rIns="0" bIns="0" rtlCol="0" anchor="t"/>
          <a:lstStyle/>
          <a:p>
            <a:pPr algn="l" indent="0" marL="0">
              <a:lnSpc>
                <a:spcPts val="844"/>
              </a:lnSpc>
              <a:buNone/>
            </a:pPr>
            <a:r>
              <a:rPr lang="en-US" sz="800" dirty="0">
                <a:solidFill>
                  <a:srgbClr val="1B2E24"/>
                </a:solidFill>
                <a:latin typeface="Carlito" pitchFamily="34" charset="0"/>
                <a:ea typeface="Carlito" pitchFamily="34" charset="-122"/>
                <a:cs typeface="Carlito" pitchFamily="34" charset="-120"/>
              </a:rPr>
              <a:t>• Reishi Mushroom</a:t>
            </a:r>
            <a:endParaRPr lang="en-US" sz="800" dirty="0"/>
          </a:p>
        </p:txBody>
      </p:sp>
      <p:sp>
        <p:nvSpPr>
          <p:cNvPr id="38" name="Text 36"/>
          <p:cNvSpPr/>
          <p:nvPr/>
        </p:nvSpPr>
        <p:spPr>
          <a:xfrm>
            <a:off x="7324688" y="3152515"/>
            <a:ext cx="1140656" cy="164592"/>
          </a:xfrm>
          <a:prstGeom prst="rect">
            <a:avLst/>
          </a:prstGeom>
          <a:noFill/>
          <a:ln/>
        </p:spPr>
        <p:txBody>
          <a:bodyPr wrap="none" lIns="0" tIns="0" rIns="0" bIns="0" rtlCol="0" anchor="t"/>
          <a:lstStyle/>
          <a:p>
            <a:pPr algn="l" indent="0" marL="0">
              <a:lnSpc>
                <a:spcPts val="844"/>
              </a:lnSpc>
              <a:buNone/>
            </a:pPr>
            <a:r>
              <a:rPr lang="en-US" sz="800" dirty="0">
                <a:solidFill>
                  <a:srgbClr val="1B2E24"/>
                </a:solidFill>
                <a:latin typeface="Carlito" pitchFamily="34" charset="0"/>
                <a:ea typeface="Carlito" pitchFamily="34" charset="-122"/>
                <a:cs typeface="Carlito" pitchFamily="34" charset="-120"/>
              </a:rPr>
              <a:t>• Wild Garlic</a:t>
            </a:r>
            <a:endParaRPr lang="en-US" sz="800" dirty="0"/>
          </a:p>
        </p:txBody>
      </p:sp>
      <p:sp>
        <p:nvSpPr>
          <p:cNvPr id="39" name="Text 37"/>
          <p:cNvSpPr/>
          <p:nvPr/>
        </p:nvSpPr>
        <p:spPr>
          <a:xfrm>
            <a:off x="6098307" y="3345396"/>
            <a:ext cx="2018667" cy="192881"/>
          </a:xfrm>
          <a:prstGeom prst="rect">
            <a:avLst/>
          </a:prstGeom>
          <a:noFill/>
          <a:ln/>
        </p:spPr>
        <p:txBody>
          <a:bodyPr wrap="none" lIns="0" tIns="0" rIns="0" bIns="0" rtlCol="0" anchor="t"/>
          <a:lstStyle/>
          <a:p>
            <a:pPr algn="l" indent="0" marL="0">
              <a:lnSpc>
                <a:spcPts val="1519"/>
              </a:lnSpc>
              <a:buNone/>
            </a:pPr>
            <a:r>
              <a:rPr lang="en-US" sz="1013" b="1" spc="20" kern="0" dirty="0">
                <a:solidFill>
                  <a:srgbClr val="2D4A3A"/>
                </a:solidFill>
                <a:latin typeface="Liberation Sans Narrow" pitchFamily="34" charset="0"/>
                <a:ea typeface="Liberation Sans Narrow" pitchFamily="34" charset="-122"/>
                <a:cs typeface="Liberation Sans Narrow" pitchFamily="34" charset="-120"/>
              </a:rPr>
              <a:t>WSLP $30</a:t>
            </a:r>
            <a:endParaRPr lang="en-US" sz="1013" dirty="0"/>
          </a:p>
        </p:txBody>
      </p:sp>
      <p:sp>
        <p:nvSpPr>
          <p:cNvPr id="40" name="Text 38"/>
          <p:cNvSpPr/>
          <p:nvPr/>
        </p:nvSpPr>
        <p:spPr>
          <a:xfrm>
            <a:off x="8131262" y="3388258"/>
            <a:ext cx="334082" cy="150019"/>
          </a:xfrm>
          <a:prstGeom prst="rect">
            <a:avLst/>
          </a:prstGeom>
          <a:noFill/>
          <a:ln/>
        </p:spPr>
        <p:txBody>
          <a:bodyPr wrap="square" lIns="0" tIns="0" rIns="0" bIns="0" rtlCol="0" anchor="t"/>
          <a:lstStyle/>
          <a:p>
            <a:pPr algn="l" indent="0" marL="0">
              <a:lnSpc>
                <a:spcPts val="1013"/>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SRP $46</a:t>
            </a:r>
            <a:endParaRPr lang="en-US" sz="800" dirty="0"/>
          </a:p>
        </p:txBody>
      </p:sp>
      <p:sp>
        <p:nvSpPr>
          <p:cNvPr id="41" name="Text 39"/>
          <p:cNvSpPr/>
          <p:nvPr/>
        </p:nvSpPr>
        <p:spPr>
          <a:xfrm>
            <a:off x="575072" y="3777593"/>
            <a:ext cx="2574094" cy="220340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42" name="Text 40"/>
          <p:cNvSpPr/>
          <p:nvPr/>
        </p:nvSpPr>
        <p:spPr>
          <a:xfrm>
            <a:off x="682228" y="3884749"/>
            <a:ext cx="2359782" cy="521494"/>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43" name="Text 41"/>
          <p:cNvSpPr/>
          <p:nvPr/>
        </p:nvSpPr>
        <p:spPr>
          <a:xfrm>
            <a:off x="678656" y="4481252"/>
            <a:ext cx="2366925" cy="122587"/>
          </a:xfrm>
          <a:prstGeom prst="rect">
            <a:avLst/>
          </a:prstGeom>
          <a:noFill/>
          <a:ln/>
        </p:spPr>
        <p:txBody>
          <a:bodyPr wrap="none" lIns="0" tIns="0" rIns="0" bIns="0" rtlCol="0" anchor="t">
            <a:normAutofit/>
          </a:bodyPr>
          <a:lstStyle/>
          <a:p>
            <a:pPr algn="l" indent="0" marL="0">
              <a:lnSpc>
                <a:spcPts val="844"/>
              </a:lnSpc>
              <a:buNone/>
            </a:pPr>
            <a:r>
              <a:rPr lang="en-US" sz="800" spc="113" kern="0" dirty="0">
                <a:solidFill>
                  <a:srgbClr val="C2853A"/>
                </a:solidFill>
                <a:latin typeface="Carlito" pitchFamily="34" charset="0"/>
                <a:ea typeface="Carlito" pitchFamily="34" charset="-122"/>
                <a:cs typeface="Carlito" pitchFamily="34" charset="-120"/>
              </a:rPr>
              <a:t>DIGESTION</a:t>
            </a:r>
            <a:endParaRPr lang="en-US" sz="800" dirty="0"/>
          </a:p>
        </p:txBody>
      </p:sp>
      <p:sp>
        <p:nvSpPr>
          <p:cNvPr id="44" name="Text 42"/>
          <p:cNvSpPr/>
          <p:nvPr/>
        </p:nvSpPr>
        <p:spPr>
          <a:xfrm>
            <a:off x="678656" y="4631271"/>
            <a:ext cx="2366925" cy="177451"/>
          </a:xfrm>
          <a:prstGeom prst="rect">
            <a:avLst/>
          </a:prstGeom>
          <a:noFill/>
          <a:ln/>
        </p:spPr>
        <p:txBody>
          <a:bodyPr wrap="none" lIns="0" tIns="0" rIns="0" bIns="0" rtlCol="0" anchor="t"/>
          <a:lstStyle/>
          <a:p>
            <a:pPr algn="l" indent="0" marL="0">
              <a:lnSpc>
                <a:spcPts val="1294"/>
              </a:lnSpc>
              <a:buNone/>
            </a:pPr>
            <a:r>
              <a:rPr lang="en-US" sz="1125" spc="-6" kern="0" dirty="0">
                <a:solidFill>
                  <a:srgbClr val="2D4A3A"/>
                </a:solidFill>
                <a:latin typeface="Tinos" pitchFamily="34" charset="0"/>
                <a:ea typeface="Tinos" pitchFamily="34" charset="-122"/>
                <a:cs typeface="Tinos" pitchFamily="34" charset="-120"/>
              </a:rPr>
              <a:t>Hearth Bitter</a:t>
            </a:r>
            <a:endParaRPr lang="en-US" sz="1125" dirty="0"/>
          </a:p>
        </p:txBody>
      </p:sp>
      <p:sp>
        <p:nvSpPr>
          <p:cNvPr id="45" name="Text 43"/>
          <p:cNvSpPr/>
          <p:nvPr/>
        </p:nvSpPr>
        <p:spPr>
          <a:xfrm>
            <a:off x="678656" y="4838440"/>
            <a:ext cx="2476653" cy="153591"/>
          </a:xfrm>
          <a:prstGeom prst="rect">
            <a:avLst/>
          </a:prstGeom>
          <a:noFill/>
          <a:ln/>
        </p:spPr>
        <p:txBody>
          <a:bodyPr wrap="square" lIns="0" tIns="0" rIns="0" bIns="0" rtlCol="0" anchor="t"/>
          <a:lstStyle/>
          <a:p>
            <a:pPr algn="l" indent="0" marL="0">
              <a:lnSpc>
                <a:spcPts val="945"/>
              </a:lnSpc>
              <a:buNone/>
            </a:pPr>
            <a:r>
              <a:rPr lang="en-US" sz="800" i="1" dirty="0">
                <a:solidFill>
                  <a:srgbClr val="4A5A50"/>
                </a:solidFill>
                <a:latin typeface="Carlito" pitchFamily="34" charset="0"/>
                <a:ea typeface="Carlito" pitchFamily="34" charset="-122"/>
                <a:cs typeface="Carlito" pitchFamily="34" charset="-120"/>
              </a:rPr>
              <a:t>Pre-meal bitter for digestion and appetite.</a:t>
            </a:r>
            <a:endParaRPr lang="en-US" sz="800" dirty="0"/>
          </a:p>
        </p:txBody>
      </p:sp>
      <p:sp>
        <p:nvSpPr>
          <p:cNvPr id="46" name="Text 44"/>
          <p:cNvSpPr/>
          <p:nvPr/>
        </p:nvSpPr>
        <p:spPr>
          <a:xfrm>
            <a:off x="678656" y="5029870"/>
            <a:ext cx="2366925" cy="7144"/>
          </a:xfrm>
          <a:prstGeom prst="rect">
            <a:avLst/>
          </a:prstGeom>
          <a:solidFill>
            <a:srgbClr val="C8BFA8"/>
          </a:solidFill>
          <a:ln/>
        </p:spPr>
        <p:txBody>
          <a:bodyPr wrap="square" rtlCol="0" anchor="ctr"/>
          <a:lstStyle/>
          <a:p>
            <a:pPr indent="0" marL="0">
              <a:buNone/>
            </a:pPr>
            <a:endParaRPr lang="en-US" dirty="0"/>
          </a:p>
        </p:txBody>
      </p:sp>
      <p:sp>
        <p:nvSpPr>
          <p:cNvPr id="47" name="Text 45"/>
          <p:cNvSpPr/>
          <p:nvPr/>
        </p:nvSpPr>
        <p:spPr>
          <a:xfrm>
            <a:off x="678656" y="5108451"/>
            <a:ext cx="2366925" cy="91440"/>
          </a:xfrm>
          <a:prstGeom prst="rect">
            <a:avLst/>
          </a:prstGeom>
          <a:noFill/>
          <a:ln/>
        </p:spPr>
        <p:txBody>
          <a:bodyPr wrap="none" lIns="0" tIns="0" rIns="0" bIns="0" rtlCol="0" anchor="t"/>
          <a:lstStyle/>
          <a:p>
            <a:pPr algn="l" indent="0" marL="0">
              <a:lnSpc>
                <a:spcPts val="759"/>
              </a:lnSpc>
              <a:buNone/>
            </a:pPr>
            <a:r>
              <a:rPr lang="en-US" sz="800" spc="91" kern="0" dirty="0">
                <a:solidFill>
                  <a:srgbClr val="4A5A50"/>
                </a:solidFill>
                <a:latin typeface="Carlito" pitchFamily="34" charset="0"/>
                <a:ea typeface="Carlito" pitchFamily="34" charset="-122"/>
                <a:cs typeface="Carlito" pitchFamily="34" charset="-120"/>
              </a:rPr>
              <a:t>KEY BOTANICALS</a:t>
            </a:r>
            <a:endParaRPr lang="en-US" sz="800" dirty="0"/>
          </a:p>
        </p:txBody>
      </p:sp>
      <p:sp>
        <p:nvSpPr>
          <p:cNvPr id="48" name="Text 46"/>
          <p:cNvSpPr/>
          <p:nvPr/>
        </p:nvSpPr>
        <p:spPr>
          <a:xfrm>
            <a:off x="678656" y="5233467"/>
            <a:ext cx="2366925" cy="91440"/>
          </a:xfrm>
          <a:prstGeom prst="rect">
            <a:avLst/>
          </a:prstGeom>
          <a:noFill/>
          <a:ln/>
        </p:spPr>
        <p:txBody>
          <a:bodyPr wrap="square" lIns="0" tIns="0" rIns="0" bIns="0" rtlCol="0" anchor="t"/>
          <a:lstStyle/>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Gentian</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Burdock</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Orange peel</a:t>
            </a:r>
            <a:endParaRPr lang="en-US" sz="800" dirty="0"/>
          </a:p>
        </p:txBody>
      </p:sp>
      <p:sp>
        <p:nvSpPr>
          <p:cNvPr id="49" name="Text 47"/>
          <p:cNvSpPr/>
          <p:nvPr/>
        </p:nvSpPr>
        <p:spPr>
          <a:xfrm>
            <a:off x="678656" y="5684527"/>
            <a:ext cx="2018556" cy="91440"/>
          </a:xfrm>
          <a:prstGeom prst="rect">
            <a:avLst/>
          </a:prstGeom>
          <a:noFill/>
          <a:ln/>
        </p:spPr>
        <p:txBody>
          <a:bodyPr wrap="none" lIns="0" tIns="0" rIns="0" bIns="0" rtlCol="0" anchor="t"/>
          <a:lstStyle/>
          <a:p>
            <a:pPr algn="l" indent="0" marL="0">
              <a:lnSpc>
                <a:spcPts val="1519"/>
              </a:lnSpc>
              <a:buNone/>
            </a:pPr>
            <a:r>
              <a:rPr lang="en-US" sz="1013" b="1" spc="20" kern="0" dirty="0">
                <a:solidFill>
                  <a:srgbClr val="2D4A3A"/>
                </a:solidFill>
                <a:latin typeface="Liberation Sans Narrow" pitchFamily="34" charset="0"/>
                <a:ea typeface="Liberation Sans Narrow" pitchFamily="34" charset="-122"/>
                <a:cs typeface="Liberation Sans Narrow" pitchFamily="34" charset="-120"/>
              </a:rPr>
              <a:t>WSLP $26</a:t>
            </a:r>
            <a:endParaRPr lang="en-US" sz="1013" dirty="0"/>
          </a:p>
        </p:txBody>
      </p:sp>
      <p:sp>
        <p:nvSpPr>
          <p:cNvPr id="50" name="Text 48"/>
          <p:cNvSpPr/>
          <p:nvPr/>
        </p:nvSpPr>
        <p:spPr>
          <a:xfrm>
            <a:off x="2711500" y="5727390"/>
            <a:ext cx="334082" cy="91440"/>
          </a:xfrm>
          <a:prstGeom prst="rect">
            <a:avLst/>
          </a:prstGeom>
          <a:noFill/>
          <a:ln/>
        </p:spPr>
        <p:txBody>
          <a:bodyPr wrap="square" lIns="0" tIns="0" rIns="0" bIns="0" rtlCol="0" anchor="t"/>
          <a:lstStyle/>
          <a:p>
            <a:pPr algn="l" indent="0" marL="0">
              <a:lnSpc>
                <a:spcPts val="1013"/>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SRP $40</a:t>
            </a:r>
            <a:endParaRPr lang="en-US" sz="800" dirty="0"/>
          </a:p>
        </p:txBody>
      </p:sp>
      <p:sp>
        <p:nvSpPr>
          <p:cNvPr id="51" name="Text 49"/>
          <p:cNvSpPr/>
          <p:nvPr/>
        </p:nvSpPr>
        <p:spPr>
          <a:xfrm>
            <a:off x="3284897" y="3777593"/>
            <a:ext cx="2574094" cy="220340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52" name="Text 50"/>
          <p:cNvSpPr/>
          <p:nvPr/>
        </p:nvSpPr>
        <p:spPr>
          <a:xfrm>
            <a:off x="3392053" y="3884749"/>
            <a:ext cx="2359782" cy="521494"/>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53" name="Text 51"/>
          <p:cNvSpPr/>
          <p:nvPr/>
        </p:nvSpPr>
        <p:spPr>
          <a:xfrm>
            <a:off x="3388482" y="4481252"/>
            <a:ext cx="2366925" cy="122587"/>
          </a:xfrm>
          <a:prstGeom prst="rect">
            <a:avLst/>
          </a:prstGeom>
          <a:noFill/>
          <a:ln/>
        </p:spPr>
        <p:txBody>
          <a:bodyPr wrap="none" lIns="0" tIns="0" rIns="0" bIns="0" rtlCol="0" anchor="t">
            <a:normAutofit/>
          </a:bodyPr>
          <a:lstStyle/>
          <a:p>
            <a:pPr algn="l" indent="0" marL="0">
              <a:lnSpc>
                <a:spcPts val="844"/>
              </a:lnSpc>
              <a:buNone/>
            </a:pPr>
            <a:r>
              <a:rPr lang="en-US" sz="800" spc="113" kern="0" dirty="0">
                <a:solidFill>
                  <a:srgbClr val="C2853A"/>
                </a:solidFill>
                <a:latin typeface="Carlito" pitchFamily="34" charset="0"/>
                <a:ea typeface="Carlito" pitchFamily="34" charset="-122"/>
                <a:cs typeface="Carlito" pitchFamily="34" charset="-120"/>
              </a:rPr>
              <a:t>CALM</a:t>
            </a:r>
            <a:endParaRPr lang="en-US" sz="800" dirty="0"/>
          </a:p>
        </p:txBody>
      </p:sp>
      <p:sp>
        <p:nvSpPr>
          <p:cNvPr id="54" name="Text 52"/>
          <p:cNvSpPr/>
          <p:nvPr/>
        </p:nvSpPr>
        <p:spPr>
          <a:xfrm>
            <a:off x="3388482" y="4631271"/>
            <a:ext cx="2366925" cy="177451"/>
          </a:xfrm>
          <a:prstGeom prst="rect">
            <a:avLst/>
          </a:prstGeom>
          <a:noFill/>
          <a:ln/>
        </p:spPr>
        <p:txBody>
          <a:bodyPr wrap="none" lIns="0" tIns="0" rIns="0" bIns="0" rtlCol="0" anchor="t"/>
          <a:lstStyle/>
          <a:p>
            <a:pPr algn="l" indent="0" marL="0">
              <a:lnSpc>
                <a:spcPts val="1294"/>
              </a:lnSpc>
              <a:buNone/>
            </a:pPr>
            <a:r>
              <a:rPr lang="en-US" sz="1125" spc="-6" kern="0" dirty="0">
                <a:solidFill>
                  <a:srgbClr val="2D4A3A"/>
                </a:solidFill>
                <a:latin typeface="Tinos" pitchFamily="34" charset="0"/>
                <a:ea typeface="Tinos" pitchFamily="34" charset="-122"/>
                <a:cs typeface="Tinos" pitchFamily="34" charset="-120"/>
              </a:rPr>
              <a:t>Stillwater Calm</a:t>
            </a:r>
            <a:endParaRPr lang="en-US" sz="1125" dirty="0"/>
          </a:p>
        </p:txBody>
      </p:sp>
      <p:sp>
        <p:nvSpPr>
          <p:cNvPr id="55" name="Text 53"/>
          <p:cNvSpPr/>
          <p:nvPr/>
        </p:nvSpPr>
        <p:spPr>
          <a:xfrm>
            <a:off x="3388482" y="4838440"/>
            <a:ext cx="2476653" cy="153591"/>
          </a:xfrm>
          <a:prstGeom prst="rect">
            <a:avLst/>
          </a:prstGeom>
          <a:noFill/>
          <a:ln/>
        </p:spPr>
        <p:txBody>
          <a:bodyPr wrap="square" lIns="0" tIns="0" rIns="0" bIns="0" rtlCol="0" anchor="t"/>
          <a:lstStyle/>
          <a:p>
            <a:pPr algn="l" indent="0" marL="0">
              <a:lnSpc>
                <a:spcPts val="945"/>
              </a:lnSpc>
              <a:buNone/>
            </a:pPr>
            <a:r>
              <a:rPr lang="en-US" sz="800" i="1" dirty="0">
                <a:solidFill>
                  <a:srgbClr val="4A5A50"/>
                </a:solidFill>
                <a:latin typeface="Carlito" pitchFamily="34" charset="0"/>
                <a:ea typeface="Carlito" pitchFamily="34" charset="-122"/>
                <a:cs typeface="Carlito" pitchFamily="34" charset="-120"/>
              </a:rPr>
              <a:t>In-the-moment composure without drowsiness.</a:t>
            </a:r>
            <a:endParaRPr lang="en-US" sz="800" dirty="0"/>
          </a:p>
        </p:txBody>
      </p:sp>
      <p:sp>
        <p:nvSpPr>
          <p:cNvPr id="56" name="Text 54"/>
          <p:cNvSpPr/>
          <p:nvPr/>
        </p:nvSpPr>
        <p:spPr>
          <a:xfrm>
            <a:off x="3388482" y="5029870"/>
            <a:ext cx="2366925" cy="7144"/>
          </a:xfrm>
          <a:prstGeom prst="rect">
            <a:avLst/>
          </a:prstGeom>
          <a:solidFill>
            <a:srgbClr val="C8BFA8"/>
          </a:solidFill>
          <a:ln/>
        </p:spPr>
        <p:txBody>
          <a:bodyPr wrap="square" rtlCol="0" anchor="ctr"/>
          <a:lstStyle/>
          <a:p>
            <a:pPr indent="0" marL="0">
              <a:buNone/>
            </a:pPr>
            <a:endParaRPr lang="en-US" dirty="0"/>
          </a:p>
        </p:txBody>
      </p:sp>
      <p:sp>
        <p:nvSpPr>
          <p:cNvPr id="57" name="Text 55"/>
          <p:cNvSpPr/>
          <p:nvPr/>
        </p:nvSpPr>
        <p:spPr>
          <a:xfrm>
            <a:off x="3388482" y="5108451"/>
            <a:ext cx="2366925" cy="91440"/>
          </a:xfrm>
          <a:prstGeom prst="rect">
            <a:avLst/>
          </a:prstGeom>
          <a:noFill/>
          <a:ln/>
        </p:spPr>
        <p:txBody>
          <a:bodyPr wrap="none" lIns="0" tIns="0" rIns="0" bIns="0" rtlCol="0" anchor="t"/>
          <a:lstStyle/>
          <a:p>
            <a:pPr algn="l" indent="0" marL="0">
              <a:lnSpc>
                <a:spcPts val="759"/>
              </a:lnSpc>
              <a:buNone/>
            </a:pPr>
            <a:r>
              <a:rPr lang="en-US" sz="800" spc="91" kern="0" dirty="0">
                <a:solidFill>
                  <a:srgbClr val="4A5A50"/>
                </a:solidFill>
                <a:latin typeface="Carlito" pitchFamily="34" charset="0"/>
                <a:ea typeface="Carlito" pitchFamily="34" charset="-122"/>
                <a:cs typeface="Carlito" pitchFamily="34" charset="-120"/>
              </a:rPr>
              <a:t>KEY BOTANICALS</a:t>
            </a:r>
            <a:endParaRPr lang="en-US" sz="800" dirty="0"/>
          </a:p>
        </p:txBody>
      </p:sp>
      <p:sp>
        <p:nvSpPr>
          <p:cNvPr id="58" name="Text 56"/>
          <p:cNvSpPr/>
          <p:nvPr/>
        </p:nvSpPr>
        <p:spPr>
          <a:xfrm>
            <a:off x="3388482" y="5233467"/>
            <a:ext cx="2366925" cy="91440"/>
          </a:xfrm>
          <a:prstGeom prst="rect">
            <a:avLst/>
          </a:prstGeom>
          <a:noFill/>
          <a:ln/>
        </p:spPr>
        <p:txBody>
          <a:bodyPr wrap="square" lIns="0" tIns="0" rIns="0" bIns="0" rtlCol="0" anchor="t"/>
          <a:lstStyle/>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Lemon balm</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Milky oat</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Lavender</a:t>
            </a:r>
            <a:endParaRPr lang="en-US" sz="800" dirty="0"/>
          </a:p>
        </p:txBody>
      </p:sp>
      <p:sp>
        <p:nvSpPr>
          <p:cNvPr id="59" name="Text 57"/>
          <p:cNvSpPr/>
          <p:nvPr/>
        </p:nvSpPr>
        <p:spPr>
          <a:xfrm>
            <a:off x="3388482" y="5684527"/>
            <a:ext cx="2018556" cy="91440"/>
          </a:xfrm>
          <a:prstGeom prst="rect">
            <a:avLst/>
          </a:prstGeom>
          <a:noFill/>
          <a:ln/>
        </p:spPr>
        <p:txBody>
          <a:bodyPr wrap="none" lIns="0" tIns="0" rIns="0" bIns="0" rtlCol="0" anchor="t"/>
          <a:lstStyle/>
          <a:p>
            <a:pPr algn="l" indent="0" marL="0">
              <a:lnSpc>
                <a:spcPts val="1519"/>
              </a:lnSpc>
              <a:buNone/>
            </a:pPr>
            <a:r>
              <a:rPr lang="en-US" sz="1013" b="1" spc="20" kern="0" dirty="0">
                <a:solidFill>
                  <a:srgbClr val="2D4A3A"/>
                </a:solidFill>
                <a:latin typeface="Liberation Sans Narrow" pitchFamily="34" charset="0"/>
                <a:ea typeface="Liberation Sans Narrow" pitchFamily="34" charset="-122"/>
                <a:cs typeface="Liberation Sans Narrow" pitchFamily="34" charset="-120"/>
              </a:rPr>
              <a:t>WSLP $30</a:t>
            </a:r>
            <a:endParaRPr lang="en-US" sz="1013" dirty="0"/>
          </a:p>
        </p:txBody>
      </p:sp>
      <p:sp>
        <p:nvSpPr>
          <p:cNvPr id="60" name="Text 58"/>
          <p:cNvSpPr/>
          <p:nvPr/>
        </p:nvSpPr>
        <p:spPr>
          <a:xfrm>
            <a:off x="5421325" y="5727390"/>
            <a:ext cx="334082" cy="91440"/>
          </a:xfrm>
          <a:prstGeom prst="rect">
            <a:avLst/>
          </a:prstGeom>
          <a:noFill/>
          <a:ln/>
        </p:spPr>
        <p:txBody>
          <a:bodyPr wrap="square" lIns="0" tIns="0" rIns="0" bIns="0" rtlCol="0" anchor="t"/>
          <a:lstStyle/>
          <a:p>
            <a:pPr algn="l" indent="0" marL="0">
              <a:lnSpc>
                <a:spcPts val="1013"/>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SRP $46</a:t>
            </a:r>
            <a:endParaRPr lang="en-US" sz="800" dirty="0"/>
          </a:p>
        </p:txBody>
      </p:sp>
      <p:sp>
        <p:nvSpPr>
          <p:cNvPr id="61" name="Text 59"/>
          <p:cNvSpPr/>
          <p:nvPr/>
        </p:nvSpPr>
        <p:spPr>
          <a:xfrm>
            <a:off x="5994722" y="3777593"/>
            <a:ext cx="2574206" cy="2203400"/>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62" name="Text 60"/>
          <p:cNvSpPr/>
          <p:nvPr/>
        </p:nvSpPr>
        <p:spPr>
          <a:xfrm>
            <a:off x="6101879" y="3884749"/>
            <a:ext cx="2359893" cy="521494"/>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63" name="Text 61"/>
          <p:cNvSpPr/>
          <p:nvPr/>
        </p:nvSpPr>
        <p:spPr>
          <a:xfrm>
            <a:off x="6098307" y="4481252"/>
            <a:ext cx="2367037" cy="122587"/>
          </a:xfrm>
          <a:prstGeom prst="rect">
            <a:avLst/>
          </a:prstGeom>
          <a:noFill/>
          <a:ln/>
        </p:spPr>
        <p:txBody>
          <a:bodyPr wrap="none" lIns="0" tIns="0" rIns="0" bIns="0" rtlCol="0" anchor="t">
            <a:normAutofit/>
          </a:bodyPr>
          <a:lstStyle/>
          <a:p>
            <a:pPr algn="l" indent="0" marL="0">
              <a:lnSpc>
                <a:spcPts val="844"/>
              </a:lnSpc>
              <a:buNone/>
            </a:pPr>
            <a:r>
              <a:rPr lang="en-US" sz="800" spc="113" kern="0" dirty="0">
                <a:solidFill>
                  <a:srgbClr val="C2853A"/>
                </a:solidFill>
                <a:latin typeface="Carlito" pitchFamily="34" charset="0"/>
                <a:ea typeface="Carlito" pitchFamily="34" charset="-122"/>
                <a:cs typeface="Carlito" pitchFamily="34" charset="-120"/>
              </a:rPr>
              <a:t>JOINT</a:t>
            </a:r>
            <a:endParaRPr lang="en-US" sz="800" dirty="0"/>
          </a:p>
        </p:txBody>
      </p:sp>
      <p:sp>
        <p:nvSpPr>
          <p:cNvPr id="64" name="Text 62"/>
          <p:cNvSpPr/>
          <p:nvPr/>
        </p:nvSpPr>
        <p:spPr>
          <a:xfrm>
            <a:off x="6098307" y="4631271"/>
            <a:ext cx="2367037" cy="177451"/>
          </a:xfrm>
          <a:prstGeom prst="rect">
            <a:avLst/>
          </a:prstGeom>
          <a:noFill/>
          <a:ln/>
        </p:spPr>
        <p:txBody>
          <a:bodyPr wrap="none" lIns="0" tIns="0" rIns="0" bIns="0" rtlCol="0" anchor="t"/>
          <a:lstStyle/>
          <a:p>
            <a:pPr algn="l" indent="0" marL="0">
              <a:lnSpc>
                <a:spcPts val="1294"/>
              </a:lnSpc>
              <a:buNone/>
            </a:pPr>
            <a:r>
              <a:rPr lang="en-US" sz="1125" spc="-6" kern="0" dirty="0">
                <a:solidFill>
                  <a:srgbClr val="2D4A3A"/>
                </a:solidFill>
                <a:latin typeface="Tinos" pitchFamily="34" charset="0"/>
                <a:ea typeface="Tinos" pitchFamily="34" charset="-122"/>
                <a:cs typeface="Tinos" pitchFamily="34" charset="-120"/>
              </a:rPr>
              <a:t>Stovepipe Joint</a:t>
            </a:r>
            <a:endParaRPr lang="en-US" sz="1125" dirty="0"/>
          </a:p>
        </p:txBody>
      </p:sp>
      <p:sp>
        <p:nvSpPr>
          <p:cNvPr id="65" name="Text 63"/>
          <p:cNvSpPr/>
          <p:nvPr/>
        </p:nvSpPr>
        <p:spPr>
          <a:xfrm>
            <a:off x="6098307" y="4838440"/>
            <a:ext cx="2476765" cy="153591"/>
          </a:xfrm>
          <a:prstGeom prst="rect">
            <a:avLst/>
          </a:prstGeom>
          <a:noFill/>
          <a:ln/>
        </p:spPr>
        <p:txBody>
          <a:bodyPr wrap="square" lIns="0" tIns="0" rIns="0" bIns="0" rtlCol="0" anchor="t"/>
          <a:lstStyle/>
          <a:p>
            <a:pPr algn="l" indent="0" marL="0">
              <a:lnSpc>
                <a:spcPts val="945"/>
              </a:lnSpc>
              <a:buNone/>
            </a:pPr>
            <a:r>
              <a:rPr lang="en-US" sz="800" i="1" dirty="0">
                <a:solidFill>
                  <a:srgbClr val="4A5A50"/>
                </a:solidFill>
                <a:latin typeface="Carlito" pitchFamily="34" charset="0"/>
                <a:ea typeface="Carlito" pitchFamily="34" charset="-122"/>
                <a:cs typeface="Carlito" pitchFamily="34" charset="-120"/>
              </a:rPr>
              <a:t>Warming support for stiff, overworked joints.</a:t>
            </a:r>
            <a:endParaRPr lang="en-US" sz="800" dirty="0"/>
          </a:p>
        </p:txBody>
      </p:sp>
      <p:sp>
        <p:nvSpPr>
          <p:cNvPr id="66" name="Text 64"/>
          <p:cNvSpPr/>
          <p:nvPr/>
        </p:nvSpPr>
        <p:spPr>
          <a:xfrm>
            <a:off x="6098307" y="5029870"/>
            <a:ext cx="2367037" cy="7144"/>
          </a:xfrm>
          <a:prstGeom prst="rect">
            <a:avLst/>
          </a:prstGeom>
          <a:solidFill>
            <a:srgbClr val="C8BFA8"/>
          </a:solidFill>
          <a:ln/>
        </p:spPr>
        <p:txBody>
          <a:bodyPr wrap="square" rtlCol="0" anchor="ctr"/>
          <a:lstStyle/>
          <a:p>
            <a:pPr indent="0" marL="0">
              <a:buNone/>
            </a:pPr>
            <a:endParaRPr lang="en-US" dirty="0"/>
          </a:p>
        </p:txBody>
      </p:sp>
      <p:sp>
        <p:nvSpPr>
          <p:cNvPr id="67" name="Text 65"/>
          <p:cNvSpPr/>
          <p:nvPr/>
        </p:nvSpPr>
        <p:spPr>
          <a:xfrm>
            <a:off x="6098307" y="5108451"/>
            <a:ext cx="2367037" cy="91440"/>
          </a:xfrm>
          <a:prstGeom prst="rect">
            <a:avLst/>
          </a:prstGeom>
          <a:noFill/>
          <a:ln/>
        </p:spPr>
        <p:txBody>
          <a:bodyPr wrap="none" lIns="0" tIns="0" rIns="0" bIns="0" rtlCol="0" anchor="t"/>
          <a:lstStyle/>
          <a:p>
            <a:pPr algn="l" indent="0" marL="0">
              <a:lnSpc>
                <a:spcPts val="759"/>
              </a:lnSpc>
              <a:buNone/>
            </a:pPr>
            <a:r>
              <a:rPr lang="en-US" sz="800" spc="91" kern="0" dirty="0">
                <a:solidFill>
                  <a:srgbClr val="4A5A50"/>
                </a:solidFill>
                <a:latin typeface="Carlito" pitchFamily="34" charset="0"/>
                <a:ea typeface="Carlito" pitchFamily="34" charset="-122"/>
                <a:cs typeface="Carlito" pitchFamily="34" charset="-120"/>
              </a:rPr>
              <a:t>KEY BOTANICALS</a:t>
            </a:r>
            <a:endParaRPr lang="en-US" sz="800" dirty="0"/>
          </a:p>
        </p:txBody>
      </p:sp>
      <p:sp>
        <p:nvSpPr>
          <p:cNvPr id="68" name="Text 66"/>
          <p:cNvSpPr/>
          <p:nvPr/>
        </p:nvSpPr>
        <p:spPr>
          <a:xfrm>
            <a:off x="6098307" y="5233467"/>
            <a:ext cx="2367037" cy="91440"/>
          </a:xfrm>
          <a:prstGeom prst="rect">
            <a:avLst/>
          </a:prstGeom>
          <a:noFill/>
          <a:ln/>
        </p:spPr>
        <p:txBody>
          <a:bodyPr wrap="square" lIns="0" tIns="0" rIns="0" bIns="0" rtlCol="0" anchor="t"/>
          <a:lstStyle/>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St. John's Wort</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Turmeric</a:t>
            </a:r>
            <a:endParaRPr lang="en-US" sz="800" dirty="0"/>
          </a:p>
          <a:p>
            <a:pPr algn="l" marL="342900" indent="-342900">
              <a:lnSpc>
                <a:spcPts val="959"/>
              </a:lnSpc>
              <a:buSzPct val="100000"/>
              <a:buChar char="•"/>
            </a:pPr>
            <a:r>
              <a:rPr lang="en-US" sz="800" dirty="0">
                <a:solidFill>
                  <a:srgbClr val="1B2E24"/>
                </a:solidFill>
                <a:latin typeface="Carlito" pitchFamily="34" charset="0"/>
                <a:ea typeface="Carlito" pitchFamily="34" charset="-122"/>
                <a:cs typeface="Carlito" pitchFamily="34" charset="-120"/>
              </a:rPr>
              <a:t>Cottonwood</a:t>
            </a:r>
            <a:endParaRPr lang="en-US" sz="800" dirty="0"/>
          </a:p>
        </p:txBody>
      </p:sp>
      <p:sp>
        <p:nvSpPr>
          <p:cNvPr id="69" name="Text 67"/>
          <p:cNvSpPr/>
          <p:nvPr/>
        </p:nvSpPr>
        <p:spPr>
          <a:xfrm>
            <a:off x="6098307" y="5684527"/>
            <a:ext cx="2018667" cy="91440"/>
          </a:xfrm>
          <a:prstGeom prst="rect">
            <a:avLst/>
          </a:prstGeom>
          <a:noFill/>
          <a:ln/>
        </p:spPr>
        <p:txBody>
          <a:bodyPr wrap="none" lIns="0" tIns="0" rIns="0" bIns="0" rtlCol="0" anchor="t"/>
          <a:lstStyle/>
          <a:p>
            <a:pPr algn="l" indent="0" marL="0">
              <a:lnSpc>
                <a:spcPts val="1519"/>
              </a:lnSpc>
              <a:buNone/>
            </a:pPr>
            <a:r>
              <a:rPr lang="en-US" sz="1013" b="1" spc="20" kern="0" dirty="0">
                <a:solidFill>
                  <a:srgbClr val="2D4A3A"/>
                </a:solidFill>
                <a:latin typeface="Liberation Sans Narrow" pitchFamily="34" charset="0"/>
                <a:ea typeface="Liberation Sans Narrow" pitchFamily="34" charset="-122"/>
                <a:cs typeface="Liberation Sans Narrow" pitchFamily="34" charset="-120"/>
              </a:rPr>
              <a:t>WSLP $34</a:t>
            </a:r>
            <a:endParaRPr lang="en-US" sz="1013" dirty="0"/>
          </a:p>
        </p:txBody>
      </p:sp>
      <p:sp>
        <p:nvSpPr>
          <p:cNvPr id="70" name="Text 68"/>
          <p:cNvSpPr/>
          <p:nvPr/>
        </p:nvSpPr>
        <p:spPr>
          <a:xfrm>
            <a:off x="8131262" y="5727390"/>
            <a:ext cx="334082" cy="91440"/>
          </a:xfrm>
          <a:prstGeom prst="rect">
            <a:avLst/>
          </a:prstGeom>
          <a:noFill/>
          <a:ln/>
        </p:spPr>
        <p:txBody>
          <a:bodyPr wrap="square" lIns="0" tIns="0" rIns="0" bIns="0" rtlCol="0" anchor="t"/>
          <a:lstStyle/>
          <a:p>
            <a:pPr algn="l" indent="0" marL="0">
              <a:lnSpc>
                <a:spcPts val="1013"/>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SRP $52</a:t>
            </a:r>
            <a:endParaRPr lang="en-US" sz="800" dirty="0"/>
          </a:p>
        </p:txBody>
      </p:sp>
      <p:sp>
        <p:nvSpPr>
          <p:cNvPr id="71" name="Text 69"/>
          <p:cNvSpPr/>
          <p:nvPr/>
        </p:nvSpPr>
        <p:spPr>
          <a:xfrm>
            <a:off x="571500" y="4825603"/>
            <a:ext cx="7622270"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ALL MOUNTAIN APOTHECARY · ELIXIR LINE</a:t>
            </a:r>
            <a:endParaRPr lang="en-US" sz="800" dirty="0"/>
          </a:p>
        </p:txBody>
      </p:sp>
      <p:sp>
        <p:nvSpPr>
          <p:cNvPr id="72" name="Text 70"/>
          <p:cNvSpPr/>
          <p:nvPr/>
        </p:nvSpPr>
        <p:spPr>
          <a:xfrm>
            <a:off x="8208057" y="4825603"/>
            <a:ext cx="54074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Liberation Sans Narrow" pitchFamily="34" charset="0"/>
                <a:ea typeface="Liberation Sans Narrow" pitchFamily="34" charset="-122"/>
                <a:cs typeface="Liberation Sans Narrow" pitchFamily="34" charset="-120"/>
              </a:rPr>
              <a:t>05 / 09</a:t>
            </a:r>
            <a:endParaRPr lang="en-US" sz="800" dirty="0"/>
          </a:p>
        </p:txBody>
      </p:sp>
      <p:sp>
        <p:nvSpPr>
          <p:cNvPr id="73" name="Text 71"/>
          <p:cNvSpPr/>
          <p:nvPr/>
        </p:nvSpPr>
        <p:spPr>
          <a:xfrm>
            <a:off x="1505992" y="1605558"/>
            <a:ext cx="712254" cy="235744"/>
          </a:xfrm>
          <a:prstGeom prst="rect">
            <a:avLst/>
          </a:prstGeom>
          <a:noFill/>
          <a:ln/>
        </p:spPr>
        <p:txBody>
          <a:bodyPr wrap="none" lIns="0" tIns="0" rIns="0" bIns="0" rtlCol="0" anchor="ctr"/>
          <a:lstStyle/>
          <a:p>
            <a:pPr algn="ctr" indent="0" marL="0">
              <a:buNone/>
            </a:pPr>
            <a:r>
              <a:rPr lang="en-US" sz="1547" dirty="0">
                <a:solidFill>
                  <a:srgbClr val="C2853A"/>
                </a:solidFill>
                <a:latin typeface="Segoe UI Symbol" pitchFamily="34" charset="0"/>
                <a:ea typeface="Segoe UI Symbol" pitchFamily="34" charset="-122"/>
                <a:cs typeface="Segoe UI Symbol" pitchFamily="34" charset="-120"/>
              </a:rPr>
              <a:t>⚗</a:t>
            </a:r>
            <a:endParaRPr lang="en-US" sz="1547" dirty="0"/>
          </a:p>
        </p:txBody>
      </p:sp>
      <p:sp>
        <p:nvSpPr>
          <p:cNvPr id="74" name="Text 72"/>
          <p:cNvSpPr/>
          <p:nvPr/>
        </p:nvSpPr>
        <p:spPr>
          <a:xfrm>
            <a:off x="1483172" y="1898452"/>
            <a:ext cx="757783" cy="91440"/>
          </a:xfrm>
          <a:prstGeom prst="rect">
            <a:avLst/>
          </a:prstGeom>
          <a:noFill/>
          <a:ln/>
        </p:spPr>
        <p:txBody>
          <a:bodyPr wrap="square" lIns="0" tIns="0" rIns="0" bIns="0" rtlCol="0" anchor="t"/>
          <a:lstStyle/>
          <a:p>
            <a:pPr algn="ctr" indent="0" marL="0">
              <a:lnSpc>
                <a:spcPts val="759"/>
              </a:lnSpc>
              <a:buNone/>
            </a:pPr>
            <a:r>
              <a:rPr lang="en-US" sz="800" spc="101" kern="0" dirty="0">
                <a:solidFill>
                  <a:srgbClr val="4A5A50"/>
                </a:solidFill>
                <a:latin typeface="Carlito" pitchFamily="34" charset="0"/>
                <a:ea typeface="Carlito" pitchFamily="34" charset="-122"/>
                <a:cs typeface="Carlito" pitchFamily="34" charset="-120"/>
              </a:rPr>
              <a:t>BOTTLE PHOTO</a:t>
            </a:r>
            <a:endParaRPr lang="en-US" sz="800" dirty="0"/>
          </a:p>
        </p:txBody>
      </p:sp>
      <p:sp>
        <p:nvSpPr>
          <p:cNvPr id="75" name="Text 73"/>
          <p:cNvSpPr/>
          <p:nvPr/>
        </p:nvSpPr>
        <p:spPr>
          <a:xfrm>
            <a:off x="4014341" y="1605558"/>
            <a:ext cx="1115095" cy="235744"/>
          </a:xfrm>
          <a:prstGeom prst="rect">
            <a:avLst/>
          </a:prstGeom>
          <a:noFill/>
          <a:ln/>
        </p:spPr>
        <p:txBody>
          <a:bodyPr wrap="none" lIns="0" tIns="0" rIns="0" bIns="0" rtlCol="0" anchor="ctr"/>
          <a:lstStyle/>
          <a:p>
            <a:pPr algn="ctr" indent="0" marL="0">
              <a:buNone/>
            </a:pPr>
            <a:r>
              <a:rPr lang="en-US" sz="1547" dirty="0">
                <a:solidFill>
                  <a:srgbClr val="C2853A"/>
                </a:solidFill>
                <a:latin typeface="Segoe UI Symbol" pitchFamily="34" charset="0"/>
                <a:ea typeface="Segoe UI Symbol" pitchFamily="34" charset="-122"/>
                <a:cs typeface="Segoe UI Symbol" pitchFamily="34" charset="-120"/>
              </a:rPr>
              <a:t>☾</a:t>
            </a:r>
            <a:endParaRPr lang="en-US" sz="1547" dirty="0"/>
          </a:p>
        </p:txBody>
      </p:sp>
      <p:sp>
        <p:nvSpPr>
          <p:cNvPr id="76" name="Text 74"/>
          <p:cNvSpPr/>
          <p:nvPr/>
        </p:nvSpPr>
        <p:spPr>
          <a:xfrm>
            <a:off x="4192997" y="1898452"/>
            <a:ext cx="757783" cy="91440"/>
          </a:xfrm>
          <a:prstGeom prst="rect">
            <a:avLst/>
          </a:prstGeom>
          <a:noFill/>
          <a:ln/>
        </p:spPr>
        <p:txBody>
          <a:bodyPr wrap="square" lIns="0" tIns="0" rIns="0" bIns="0" rtlCol="0" anchor="t"/>
          <a:lstStyle/>
          <a:p>
            <a:pPr algn="ctr" indent="0" marL="0">
              <a:lnSpc>
                <a:spcPts val="759"/>
              </a:lnSpc>
              <a:buNone/>
            </a:pPr>
            <a:r>
              <a:rPr lang="en-US" sz="800" spc="101" kern="0" dirty="0">
                <a:solidFill>
                  <a:srgbClr val="4A5A50"/>
                </a:solidFill>
                <a:latin typeface="Carlito" pitchFamily="34" charset="0"/>
                <a:ea typeface="Carlito" pitchFamily="34" charset="-122"/>
                <a:cs typeface="Carlito" pitchFamily="34" charset="-120"/>
              </a:rPr>
              <a:t>BOTTLE PHOTO</a:t>
            </a:r>
            <a:endParaRPr lang="en-US" sz="800" dirty="0"/>
          </a:p>
        </p:txBody>
      </p:sp>
      <p:sp>
        <p:nvSpPr>
          <p:cNvPr id="77" name="Text 75"/>
          <p:cNvSpPr/>
          <p:nvPr/>
        </p:nvSpPr>
        <p:spPr>
          <a:xfrm>
            <a:off x="6983016" y="1605558"/>
            <a:ext cx="597619" cy="235744"/>
          </a:xfrm>
          <a:prstGeom prst="rect">
            <a:avLst/>
          </a:prstGeom>
          <a:noFill/>
          <a:ln/>
        </p:spPr>
        <p:txBody>
          <a:bodyPr wrap="none" lIns="0" tIns="0" rIns="0" bIns="0" rtlCol="0" anchor="ctr"/>
          <a:lstStyle/>
          <a:p>
            <a:pPr algn="ctr" indent="0" marL="0">
              <a:buNone/>
            </a:pPr>
            <a:r>
              <a:rPr lang="en-US" sz="1547" dirty="0">
                <a:solidFill>
                  <a:srgbClr val="C2853A"/>
                </a:solidFill>
                <a:latin typeface="Segoe UI Symbol" pitchFamily="34" charset="0"/>
                <a:ea typeface="Segoe UI Symbol" pitchFamily="34" charset="-122"/>
                <a:cs typeface="Segoe UI Symbol" pitchFamily="34" charset="-120"/>
              </a:rPr>
              <a:t>⛨</a:t>
            </a:r>
            <a:endParaRPr lang="en-US" sz="1547" dirty="0"/>
          </a:p>
        </p:txBody>
      </p:sp>
      <p:sp>
        <p:nvSpPr>
          <p:cNvPr id="78" name="Text 76"/>
          <p:cNvSpPr/>
          <p:nvPr/>
        </p:nvSpPr>
        <p:spPr>
          <a:xfrm>
            <a:off x="6902934" y="1898452"/>
            <a:ext cx="757783" cy="91440"/>
          </a:xfrm>
          <a:prstGeom prst="rect">
            <a:avLst/>
          </a:prstGeom>
          <a:noFill/>
          <a:ln/>
        </p:spPr>
        <p:txBody>
          <a:bodyPr wrap="square" lIns="0" tIns="0" rIns="0" bIns="0" rtlCol="0" anchor="t"/>
          <a:lstStyle/>
          <a:p>
            <a:pPr algn="ctr" indent="0" marL="0">
              <a:lnSpc>
                <a:spcPts val="759"/>
              </a:lnSpc>
              <a:buNone/>
            </a:pPr>
            <a:r>
              <a:rPr lang="en-US" sz="800" spc="101" kern="0" dirty="0">
                <a:solidFill>
                  <a:srgbClr val="4A5A50"/>
                </a:solidFill>
                <a:latin typeface="Carlito" pitchFamily="34" charset="0"/>
                <a:ea typeface="Carlito" pitchFamily="34" charset="-122"/>
                <a:cs typeface="Carlito" pitchFamily="34" charset="-120"/>
              </a:rPr>
              <a:t>BOTTLE PHOTO</a:t>
            </a:r>
            <a:endParaRPr lang="en-US" sz="800" dirty="0"/>
          </a:p>
        </p:txBody>
      </p:sp>
      <p:sp>
        <p:nvSpPr>
          <p:cNvPr id="79" name="Text 77"/>
          <p:cNvSpPr/>
          <p:nvPr/>
        </p:nvSpPr>
        <p:spPr>
          <a:xfrm>
            <a:off x="788603" y="3950829"/>
            <a:ext cx="2146920" cy="235744"/>
          </a:xfrm>
          <a:prstGeom prst="rect">
            <a:avLst/>
          </a:prstGeom>
          <a:noFill/>
          <a:ln/>
        </p:spPr>
        <p:txBody>
          <a:bodyPr wrap="none" lIns="0" tIns="0" rIns="0" bIns="0" rtlCol="0" anchor="ctr"/>
          <a:lstStyle/>
          <a:p>
            <a:pPr algn="ctr" indent="0" marL="0">
              <a:buNone/>
            </a:pPr>
            <a:r>
              <a:rPr lang="en-US" sz="1547" dirty="0">
                <a:solidFill>
                  <a:srgbClr val="C2853A"/>
                </a:solidFill>
                <a:latin typeface="Segoe UI Symbol" pitchFamily="34" charset="0"/>
                <a:ea typeface="Segoe UI Symbol" pitchFamily="34" charset="-122"/>
                <a:cs typeface="Segoe UI Symbol" pitchFamily="34" charset="-120"/>
              </a:rPr>
              <a:t>✦</a:t>
            </a:r>
            <a:endParaRPr lang="en-US" sz="1547" dirty="0"/>
          </a:p>
        </p:txBody>
      </p:sp>
      <p:sp>
        <p:nvSpPr>
          <p:cNvPr id="80" name="Text 78"/>
          <p:cNvSpPr/>
          <p:nvPr/>
        </p:nvSpPr>
        <p:spPr>
          <a:xfrm>
            <a:off x="1483172" y="4243722"/>
            <a:ext cx="757783" cy="91440"/>
          </a:xfrm>
          <a:prstGeom prst="rect">
            <a:avLst/>
          </a:prstGeom>
          <a:noFill/>
          <a:ln/>
        </p:spPr>
        <p:txBody>
          <a:bodyPr wrap="square" lIns="0" tIns="0" rIns="0" bIns="0" rtlCol="0" anchor="t"/>
          <a:lstStyle/>
          <a:p>
            <a:pPr algn="ctr" indent="0" marL="0">
              <a:lnSpc>
                <a:spcPts val="759"/>
              </a:lnSpc>
              <a:buNone/>
            </a:pPr>
            <a:r>
              <a:rPr lang="en-US" sz="800" spc="101" kern="0" dirty="0">
                <a:solidFill>
                  <a:srgbClr val="4A5A50"/>
                </a:solidFill>
                <a:latin typeface="Carlito" pitchFamily="34" charset="0"/>
                <a:ea typeface="Carlito" pitchFamily="34" charset="-122"/>
                <a:cs typeface="Carlito" pitchFamily="34" charset="-120"/>
              </a:rPr>
              <a:t>BOTTLE PHOTO</a:t>
            </a:r>
            <a:endParaRPr lang="en-US" sz="800" dirty="0"/>
          </a:p>
        </p:txBody>
      </p:sp>
      <p:sp>
        <p:nvSpPr>
          <p:cNvPr id="81" name="Text 79"/>
          <p:cNvSpPr/>
          <p:nvPr/>
        </p:nvSpPr>
        <p:spPr>
          <a:xfrm>
            <a:off x="4413833" y="3950829"/>
            <a:ext cx="316111" cy="235744"/>
          </a:xfrm>
          <a:prstGeom prst="rect">
            <a:avLst/>
          </a:prstGeom>
          <a:noFill/>
          <a:ln/>
        </p:spPr>
        <p:txBody>
          <a:bodyPr wrap="none" lIns="0" tIns="0" rIns="0" bIns="0" rtlCol="0" anchor="ctr"/>
          <a:lstStyle/>
          <a:p>
            <a:pPr algn="ctr" indent="0" marL="0">
              <a:buNone/>
            </a:pPr>
            <a:r>
              <a:rPr lang="en-US" sz="1547" dirty="0">
                <a:solidFill>
                  <a:srgbClr val="C2853A"/>
                </a:solidFill>
                <a:latin typeface="Segoe UI Symbol" pitchFamily="34" charset="0"/>
                <a:ea typeface="Segoe UI Symbol" pitchFamily="34" charset="-122"/>
                <a:cs typeface="Segoe UI Symbol" pitchFamily="34" charset="-120"/>
              </a:rPr>
              <a:t>✿</a:t>
            </a:r>
            <a:endParaRPr lang="en-US" sz="1547" dirty="0"/>
          </a:p>
        </p:txBody>
      </p:sp>
      <p:sp>
        <p:nvSpPr>
          <p:cNvPr id="82" name="Text 80"/>
          <p:cNvSpPr/>
          <p:nvPr/>
        </p:nvSpPr>
        <p:spPr>
          <a:xfrm>
            <a:off x="4192997" y="4243722"/>
            <a:ext cx="757783" cy="91440"/>
          </a:xfrm>
          <a:prstGeom prst="rect">
            <a:avLst/>
          </a:prstGeom>
          <a:noFill/>
          <a:ln/>
        </p:spPr>
        <p:txBody>
          <a:bodyPr wrap="square" lIns="0" tIns="0" rIns="0" bIns="0" rtlCol="0" anchor="t"/>
          <a:lstStyle/>
          <a:p>
            <a:pPr algn="ctr" indent="0" marL="0">
              <a:lnSpc>
                <a:spcPts val="759"/>
              </a:lnSpc>
              <a:buNone/>
            </a:pPr>
            <a:r>
              <a:rPr lang="en-US" sz="800" spc="101" kern="0" dirty="0">
                <a:solidFill>
                  <a:srgbClr val="4A5A50"/>
                </a:solidFill>
                <a:latin typeface="Carlito" pitchFamily="34" charset="0"/>
                <a:ea typeface="Carlito" pitchFamily="34" charset="-122"/>
                <a:cs typeface="Carlito" pitchFamily="34" charset="-120"/>
              </a:rPr>
              <a:t>BOTTLE PHOTO</a:t>
            </a:r>
            <a:endParaRPr lang="en-US" sz="800" dirty="0"/>
          </a:p>
        </p:txBody>
      </p:sp>
      <p:sp>
        <p:nvSpPr>
          <p:cNvPr id="83" name="Text 81"/>
          <p:cNvSpPr/>
          <p:nvPr/>
        </p:nvSpPr>
        <p:spPr>
          <a:xfrm>
            <a:off x="6928768" y="3950829"/>
            <a:ext cx="706115" cy="235744"/>
          </a:xfrm>
          <a:prstGeom prst="rect">
            <a:avLst/>
          </a:prstGeom>
          <a:noFill/>
          <a:ln/>
        </p:spPr>
        <p:txBody>
          <a:bodyPr wrap="none" lIns="0" tIns="0" rIns="0" bIns="0" rtlCol="0" anchor="ctr"/>
          <a:lstStyle/>
          <a:p>
            <a:pPr algn="ctr" indent="0" marL="0">
              <a:buNone/>
            </a:pPr>
            <a:r>
              <a:rPr lang="en-US" sz="1547" dirty="0">
                <a:solidFill>
                  <a:srgbClr val="C2853A"/>
                </a:solidFill>
                <a:latin typeface="Segoe UI Symbol" pitchFamily="34" charset="0"/>
                <a:ea typeface="Segoe UI Symbol" pitchFamily="34" charset="-122"/>
                <a:cs typeface="Segoe UI Symbol" pitchFamily="34" charset="-120"/>
              </a:rPr>
              <a:t>✚</a:t>
            </a:r>
            <a:endParaRPr lang="en-US" sz="1547" dirty="0"/>
          </a:p>
        </p:txBody>
      </p:sp>
      <p:sp>
        <p:nvSpPr>
          <p:cNvPr id="84" name="Text 82"/>
          <p:cNvSpPr/>
          <p:nvPr/>
        </p:nvSpPr>
        <p:spPr>
          <a:xfrm>
            <a:off x="6902934" y="4243722"/>
            <a:ext cx="757783" cy="91440"/>
          </a:xfrm>
          <a:prstGeom prst="rect">
            <a:avLst/>
          </a:prstGeom>
          <a:noFill/>
          <a:ln/>
        </p:spPr>
        <p:txBody>
          <a:bodyPr wrap="square" lIns="0" tIns="0" rIns="0" bIns="0" rtlCol="0" anchor="t"/>
          <a:lstStyle/>
          <a:p>
            <a:pPr algn="ctr" indent="0" marL="0">
              <a:lnSpc>
                <a:spcPts val="759"/>
              </a:lnSpc>
              <a:buNone/>
            </a:pPr>
            <a:r>
              <a:rPr lang="en-US" sz="800" spc="101" kern="0" dirty="0">
                <a:solidFill>
                  <a:srgbClr val="4A5A50"/>
                </a:solidFill>
                <a:latin typeface="Carlito" pitchFamily="34" charset="0"/>
                <a:ea typeface="Carlito" pitchFamily="34" charset="-122"/>
                <a:cs typeface="Carlito" pitchFamily="34" charset="-120"/>
              </a:rPr>
              <a:t>BOTTLE PHOTO</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71500" y="457200"/>
            <a:ext cx="2011149" cy="133302"/>
          </a:xfrm>
          <a:prstGeom prst="rect">
            <a:avLst/>
          </a:prstGeom>
          <a:noFill/>
          <a:ln/>
        </p:spPr>
        <p:txBody>
          <a:bodyPr wrap="square" lIns="0" tIns="0" rIns="0" bIns="0" rtlCol="0" anchor="t">
            <a:normAutofit/>
          </a:bodyPr>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PRODUCT SPOTLIGHT · HERO ELIXIR</a:t>
            </a:r>
            <a:endParaRPr lang="en-US" sz="800" dirty="0"/>
          </a:p>
        </p:txBody>
      </p:sp>
      <p:sp>
        <p:nvSpPr>
          <p:cNvPr id="3" name="Text 1"/>
          <p:cNvSpPr/>
          <p:nvPr/>
        </p:nvSpPr>
        <p:spPr>
          <a:xfrm>
            <a:off x="571500" y="617934"/>
            <a:ext cx="1955283" cy="324041"/>
          </a:xfrm>
          <a:prstGeom prst="rect">
            <a:avLst/>
          </a:prstGeom>
          <a:noFill/>
          <a:ln/>
        </p:spPr>
        <p:txBody>
          <a:bodyPr wrap="none" lIns="0" tIns="0" rIns="0" bIns="0" rtlCol="0" anchor="t"/>
          <a:lstStyle/>
          <a:p>
            <a:pPr algn="l" indent="0" marL="0">
              <a:lnSpc>
                <a:spcPts val="2363"/>
              </a:lnSpc>
              <a:buNone/>
            </a:pPr>
            <a:r>
              <a:rPr lang="en-US" sz="2250" dirty="0">
                <a:solidFill>
                  <a:srgbClr val="2D4A3A"/>
                </a:solidFill>
                <a:latin typeface="Tinos" pitchFamily="34" charset="0"/>
                <a:ea typeface="Tinos" pitchFamily="34" charset="-122"/>
                <a:cs typeface="Tinos" pitchFamily="34" charset="-120"/>
              </a:rPr>
              <a:t>Immune Boost</a:t>
            </a:r>
            <a:pPr algn="l" indent="0" marL="0">
              <a:lnSpc>
                <a:spcPts val="2363"/>
              </a:lnSpc>
              <a:buNone/>
            </a:pPr>
            <a:r>
              <a:rPr lang="en-US" sz="900" baseline="30000" dirty="0">
                <a:solidFill>
                  <a:srgbClr val="2D4A3A"/>
                </a:solidFill>
                <a:latin typeface="Tinos" pitchFamily="34" charset="0"/>
                <a:ea typeface="Tinos" pitchFamily="34" charset="-122"/>
                <a:cs typeface="Tinos" pitchFamily="34" charset="-120"/>
              </a:rPr>
              <a:t>TM</a:t>
            </a:r>
            <a:endParaRPr lang="en-US" sz="2250" dirty="0"/>
          </a:p>
        </p:txBody>
      </p:sp>
      <p:sp>
        <p:nvSpPr>
          <p:cNvPr id="4" name="Text 2"/>
          <p:cNvSpPr/>
          <p:nvPr/>
        </p:nvSpPr>
        <p:spPr>
          <a:xfrm>
            <a:off x="7134597" y="657225"/>
            <a:ext cx="1437903" cy="207169"/>
          </a:xfrm>
          <a:prstGeom prst="roundRect">
            <a:avLst>
              <a:gd name="adj" fmla="val 4593098"/>
            </a:avLst>
          </a:prstGeom>
          <a:solidFill>
            <a:srgbClr val="2D4A3A"/>
          </a:solidFill>
          <a:ln/>
        </p:spPr>
        <p:txBody>
          <a:bodyPr wrap="square" rtlCol="0" anchor="ctr"/>
          <a:lstStyle/>
          <a:p>
            <a:pPr indent="0" marL="0">
              <a:buNone/>
            </a:pPr>
            <a:endParaRPr lang="en-US" dirty="0"/>
          </a:p>
        </p:txBody>
      </p:sp>
      <p:sp>
        <p:nvSpPr>
          <p:cNvPr id="5" name="Text 3"/>
          <p:cNvSpPr/>
          <p:nvPr/>
        </p:nvSpPr>
        <p:spPr>
          <a:xfrm>
            <a:off x="7134597" y="657225"/>
            <a:ext cx="1437903" cy="318211"/>
          </a:xfrm>
          <a:prstGeom prst="rect">
            <a:avLst/>
          </a:prstGeom>
          <a:noFill/>
          <a:ln/>
        </p:spPr>
        <p:txBody>
          <a:bodyPr wrap="square" lIns="114300" tIns="50006" rIns="114300" bIns="50006" rtlCol="0" anchor="t"/>
          <a:lstStyle/>
          <a:p>
            <a:pPr algn="l" indent="0" marL="0">
              <a:lnSpc>
                <a:spcPts val="844"/>
              </a:lnSpc>
              <a:buNone/>
            </a:pPr>
            <a:r>
              <a:rPr lang="en-US" sz="800" spc="79" kern="0" dirty="0">
                <a:solidFill>
                  <a:srgbClr val="F5F0E6"/>
                </a:solidFill>
                <a:latin typeface="Carlito" pitchFamily="34" charset="0"/>
                <a:ea typeface="Carlito" pitchFamily="34" charset="-122"/>
                <a:cs typeface="Carlito" pitchFamily="34" charset="-120"/>
              </a:rPr>
              <a:t>IMMUNE · SUBLINGUAL ELIXIR</a:t>
            </a:r>
            <a:endParaRPr lang="en-US" sz="800" dirty="0"/>
          </a:p>
        </p:txBody>
      </p:sp>
      <p:sp>
        <p:nvSpPr>
          <p:cNvPr id="6" name="Text 4"/>
          <p:cNvSpPr/>
          <p:nvPr/>
        </p:nvSpPr>
        <p:spPr>
          <a:xfrm>
            <a:off x="571500" y="975122"/>
            <a:ext cx="342900" cy="14288"/>
          </a:xfrm>
          <a:prstGeom prst="rect">
            <a:avLst/>
          </a:prstGeom>
          <a:solidFill>
            <a:srgbClr val="C2853A"/>
          </a:solidFill>
          <a:ln/>
        </p:spPr>
        <p:txBody>
          <a:bodyPr wrap="square" rtlCol="0" anchor="ctr"/>
          <a:lstStyle/>
          <a:p>
            <a:pPr indent="0" marL="0">
              <a:buNone/>
            </a:pPr>
            <a:endParaRPr lang="en-US" dirty="0"/>
          </a:p>
        </p:txBody>
      </p:sp>
      <p:sp>
        <p:nvSpPr>
          <p:cNvPr id="7" name="Text 5"/>
          <p:cNvSpPr/>
          <p:nvPr/>
        </p:nvSpPr>
        <p:spPr>
          <a:xfrm>
            <a:off x="575072" y="1092994"/>
            <a:ext cx="4842458" cy="621506"/>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8" name="Text 6"/>
          <p:cNvSpPr/>
          <p:nvPr/>
        </p:nvSpPr>
        <p:spPr>
          <a:xfrm>
            <a:off x="571500" y="1789509"/>
            <a:ext cx="4849602" cy="475644"/>
          </a:xfrm>
          <a:prstGeom prst="rect">
            <a:avLst/>
          </a:prstGeom>
          <a:noFill/>
          <a:ln/>
        </p:spPr>
        <p:txBody>
          <a:bodyPr wrap="square" lIns="0" tIns="0" rIns="0" bIns="0" rtlCol="0" anchor="t">
            <a:normAutofit/>
          </a:bodyPr>
          <a:lstStyle/>
          <a:p>
            <a:pPr algn="l" indent="0" marL="0">
              <a:lnSpc>
                <a:spcPts val="1133"/>
              </a:lnSpc>
              <a:buNone/>
            </a:pPr>
            <a:r>
              <a:rPr lang="en-US" sz="800" dirty="0">
                <a:solidFill>
                  <a:srgbClr val="1B2E24"/>
                </a:solidFill>
                <a:latin typeface="Carlito" pitchFamily="34" charset="0"/>
                <a:ea typeface="Carlito" pitchFamily="34" charset="-122"/>
                <a:cs typeface="Carlito" pitchFamily="34" charset="-120"/>
              </a:rPr>
              <a:t>A sublingual immuno-boosting elixir blending six wild-foraged medicinal plants — elderberry, elder flower, pine pollen, chaga, reishi, and wild garlic. Extracted slow in organic cane alcohol, delivered under the tongue for fast absorption. Built for daily immune resilience through cold and flu season.</a:t>
            </a:r>
            <a:endParaRPr lang="en-US" sz="800" dirty="0"/>
          </a:p>
        </p:txBody>
      </p:sp>
      <p:sp>
        <p:nvSpPr>
          <p:cNvPr id="9" name="Text 7"/>
          <p:cNvSpPr/>
          <p:nvPr/>
        </p:nvSpPr>
        <p:spPr>
          <a:xfrm>
            <a:off x="571500" y="2292586"/>
            <a:ext cx="4849602" cy="164592"/>
          </a:xfrm>
          <a:prstGeom prst="rect">
            <a:avLst/>
          </a:prstGeom>
          <a:noFill/>
          <a:ln/>
        </p:spPr>
        <p:txBody>
          <a:bodyPr wrap="square" lIns="0" tIns="0" rIns="0" bIns="0" rtlCol="0" anchor="t"/>
          <a:lstStyle/>
          <a:p>
            <a:pPr algn="l" indent="0" marL="0">
              <a:lnSpc>
                <a:spcPts val="1013"/>
              </a:lnSpc>
              <a:buNone/>
            </a:pPr>
            <a:r>
              <a:rPr lang="en-US" sz="800" i="1" dirty="0">
                <a:solidFill>
                  <a:srgbClr val="C2853A"/>
                </a:solidFill>
                <a:latin typeface="Tinos" pitchFamily="34" charset="0"/>
                <a:ea typeface="Tinos" pitchFamily="34" charset="-122"/>
                <a:cs typeface="Tinos" pitchFamily="34" charset="-120"/>
              </a:rPr>
              <a:t>All six plants are wild-foraged and wildcrafted from the mountains of western Pennsylvania, along the top of the eastern continental divide.</a:t>
            </a:r>
            <a:endParaRPr lang="en-US" sz="800" dirty="0"/>
          </a:p>
        </p:txBody>
      </p:sp>
      <p:sp>
        <p:nvSpPr>
          <p:cNvPr id="10" name="Text 8"/>
          <p:cNvSpPr/>
          <p:nvPr/>
        </p:nvSpPr>
        <p:spPr>
          <a:xfrm>
            <a:off x="571500" y="2506898"/>
            <a:ext cx="5237570" cy="140446"/>
          </a:xfrm>
          <a:prstGeom prst="rect">
            <a:avLst/>
          </a:prstGeom>
          <a:noFill/>
          <a:ln/>
        </p:spPr>
        <p:txBody>
          <a:bodyPr wrap="square" lIns="0" tIns="0" rIns="0" bIns="0" rtlCol="0" anchor="t">
            <a:normAutofit/>
          </a:bodyPr>
          <a:lstStyle/>
          <a:p>
            <a:pPr algn="l" indent="0" marL="0">
              <a:lnSpc>
                <a:spcPts val="759"/>
              </a:lnSpc>
              <a:buNone/>
            </a:pPr>
            <a:r>
              <a:rPr lang="en-US" sz="800" spc="101" kern="0" dirty="0">
                <a:solidFill>
                  <a:srgbClr val="4A5A50"/>
                </a:solidFill>
                <a:latin typeface="Carlito" pitchFamily="34" charset="0"/>
                <a:ea typeface="Carlito" pitchFamily="34" charset="-122"/>
                <a:cs typeface="Carlito" pitchFamily="34" charset="-120"/>
              </a:rPr>
              <a:t>SIX WILD BOTANICALS · WHAT'S INSIDE</a:t>
            </a:r>
            <a:endParaRPr lang="en-US" sz="800" dirty="0"/>
          </a:p>
        </p:txBody>
      </p:sp>
      <p:sp>
        <p:nvSpPr>
          <p:cNvPr id="11" name="Text 9"/>
          <p:cNvSpPr/>
          <p:nvPr/>
        </p:nvSpPr>
        <p:spPr>
          <a:xfrm>
            <a:off x="571500" y="2674776"/>
            <a:ext cx="2389026" cy="637133"/>
          </a:xfrm>
          <a:prstGeom prst="rect">
            <a:avLst/>
          </a:prstGeom>
          <a:solidFill>
            <a:srgbClr val="EDE5D3"/>
          </a:solidFill>
          <a:ln/>
        </p:spPr>
        <p:txBody>
          <a:bodyPr wrap="square" rtlCol="0" anchor="ctr"/>
          <a:lstStyle/>
          <a:p>
            <a:pPr indent="0" marL="0">
              <a:buNone/>
            </a:pPr>
            <a:endParaRPr lang="en-US" dirty="0"/>
          </a:p>
        </p:txBody>
      </p:sp>
      <p:sp>
        <p:nvSpPr>
          <p:cNvPr id="12" name="Shape 10"/>
          <p:cNvSpPr/>
          <p:nvPr/>
        </p:nvSpPr>
        <p:spPr>
          <a:xfrm>
            <a:off x="578644" y="2674776"/>
            <a:ext cx="0" cy="637133"/>
          </a:xfrm>
          <a:prstGeom prst="line">
            <a:avLst/>
          </a:prstGeom>
          <a:noFill/>
          <a:ln w="14288">
            <a:solidFill>
              <a:srgbClr val="C2853A"/>
            </a:solidFill>
            <a:prstDash val="solid"/>
          </a:ln>
        </p:spPr>
      </p:sp>
      <p:sp>
        <p:nvSpPr>
          <p:cNvPr id="13" name="Text 11"/>
          <p:cNvSpPr/>
          <p:nvPr/>
        </p:nvSpPr>
        <p:spPr>
          <a:xfrm>
            <a:off x="650081" y="2717639"/>
            <a:ext cx="2246151" cy="92561"/>
          </a:xfrm>
          <a:prstGeom prst="rect">
            <a:avLst/>
          </a:prstGeom>
          <a:noFill/>
          <a:ln/>
        </p:spPr>
        <p:txBody>
          <a:bodyPr wrap="none" lIns="0" tIns="0" rIns="0" bIns="0" rtlCol="0" anchor="t">
            <a:normAutofit/>
          </a:bodyPr>
          <a:lstStyle/>
          <a:p>
            <a:pPr algn="l" indent="0" marL="0">
              <a:lnSpc>
                <a:spcPts val="776"/>
              </a:lnSpc>
              <a:buNone/>
            </a:pPr>
            <a:r>
              <a:rPr lang="en-US" sz="800" dirty="0">
                <a:solidFill>
                  <a:srgbClr val="2D4A3A"/>
                </a:solidFill>
                <a:latin typeface="Tinos" pitchFamily="34" charset="0"/>
                <a:ea typeface="Tinos" pitchFamily="34" charset="-122"/>
                <a:cs typeface="Tinos" pitchFamily="34" charset="-120"/>
              </a:rPr>
              <a:t>Elderberry</a:t>
            </a:r>
            <a:endParaRPr lang="en-US" sz="800" dirty="0"/>
          </a:p>
        </p:txBody>
      </p:sp>
      <p:sp>
        <p:nvSpPr>
          <p:cNvPr id="14" name="Text 12"/>
          <p:cNvSpPr/>
          <p:nvPr/>
        </p:nvSpPr>
        <p:spPr>
          <a:xfrm>
            <a:off x="650081" y="2837631"/>
            <a:ext cx="2246151" cy="307166"/>
          </a:xfrm>
          <a:prstGeom prst="rect">
            <a:avLst/>
          </a:prstGeom>
          <a:noFill/>
          <a:ln/>
        </p:spPr>
        <p:txBody>
          <a:bodyPr wrap="square" lIns="0" tIns="0" rIns="0" bIns="0" rtlCol="0" anchor="t"/>
          <a:lstStyle/>
          <a:p>
            <a:pPr algn="l" indent="0" marL="0">
              <a:lnSpc>
                <a:spcPts val="748"/>
              </a:lnSpc>
              <a:buNone/>
            </a:pPr>
            <a:r>
              <a:rPr lang="en-US" sz="800" dirty="0">
                <a:solidFill>
                  <a:srgbClr val="4A5A50"/>
                </a:solidFill>
                <a:latin typeface="Carlito" pitchFamily="34" charset="0"/>
                <a:ea typeface="Carlito" pitchFamily="34" charset="-122"/>
                <a:cs typeface="Carlito" pitchFamily="34" charset="-120"/>
              </a:rPr>
              <a:t>Used for the common cold, influenza, and H1N1; sinus pain, sciatica, neuralgia, and chronic fatigue syndrome.</a:t>
            </a:r>
            <a:endParaRPr lang="en-US" sz="800" dirty="0"/>
          </a:p>
        </p:txBody>
      </p:sp>
      <p:sp>
        <p:nvSpPr>
          <p:cNvPr id="15" name="Text 13"/>
          <p:cNvSpPr/>
          <p:nvPr/>
        </p:nvSpPr>
        <p:spPr>
          <a:xfrm>
            <a:off x="3031964" y="2674776"/>
            <a:ext cx="2389138" cy="637133"/>
          </a:xfrm>
          <a:prstGeom prst="rect">
            <a:avLst/>
          </a:prstGeom>
          <a:solidFill>
            <a:srgbClr val="EDE5D3"/>
          </a:solidFill>
          <a:ln/>
        </p:spPr>
        <p:txBody>
          <a:bodyPr wrap="square" rtlCol="0" anchor="ctr"/>
          <a:lstStyle/>
          <a:p>
            <a:pPr indent="0" marL="0">
              <a:buNone/>
            </a:pPr>
            <a:endParaRPr lang="en-US" dirty="0"/>
          </a:p>
        </p:txBody>
      </p:sp>
      <p:sp>
        <p:nvSpPr>
          <p:cNvPr id="16" name="Shape 14"/>
          <p:cNvSpPr/>
          <p:nvPr/>
        </p:nvSpPr>
        <p:spPr>
          <a:xfrm>
            <a:off x="3039108" y="2674776"/>
            <a:ext cx="0" cy="637133"/>
          </a:xfrm>
          <a:prstGeom prst="line">
            <a:avLst/>
          </a:prstGeom>
          <a:noFill/>
          <a:ln w="14288">
            <a:solidFill>
              <a:srgbClr val="C2853A"/>
            </a:solidFill>
            <a:prstDash val="solid"/>
          </a:ln>
        </p:spPr>
      </p:sp>
      <p:sp>
        <p:nvSpPr>
          <p:cNvPr id="17" name="Text 15"/>
          <p:cNvSpPr/>
          <p:nvPr/>
        </p:nvSpPr>
        <p:spPr>
          <a:xfrm>
            <a:off x="3110545" y="2717639"/>
            <a:ext cx="2246263" cy="92561"/>
          </a:xfrm>
          <a:prstGeom prst="rect">
            <a:avLst/>
          </a:prstGeom>
          <a:noFill/>
          <a:ln/>
        </p:spPr>
        <p:txBody>
          <a:bodyPr wrap="none" lIns="0" tIns="0" rIns="0" bIns="0" rtlCol="0" anchor="t">
            <a:normAutofit/>
          </a:bodyPr>
          <a:lstStyle/>
          <a:p>
            <a:pPr algn="l" indent="0" marL="0">
              <a:lnSpc>
                <a:spcPts val="776"/>
              </a:lnSpc>
              <a:buNone/>
            </a:pPr>
            <a:r>
              <a:rPr lang="en-US" sz="800" dirty="0">
                <a:solidFill>
                  <a:srgbClr val="2D4A3A"/>
                </a:solidFill>
                <a:latin typeface="Tinos" pitchFamily="34" charset="0"/>
                <a:ea typeface="Tinos" pitchFamily="34" charset="-122"/>
                <a:cs typeface="Tinos" pitchFamily="34" charset="-120"/>
              </a:rPr>
              <a:t>Elder Flower</a:t>
            </a:r>
            <a:endParaRPr lang="en-US" sz="800" dirty="0"/>
          </a:p>
        </p:txBody>
      </p:sp>
      <p:sp>
        <p:nvSpPr>
          <p:cNvPr id="18" name="Text 16"/>
          <p:cNvSpPr/>
          <p:nvPr/>
        </p:nvSpPr>
        <p:spPr>
          <a:xfrm>
            <a:off x="3110545" y="2837631"/>
            <a:ext cx="2246263" cy="307166"/>
          </a:xfrm>
          <a:prstGeom prst="rect">
            <a:avLst/>
          </a:prstGeom>
          <a:noFill/>
          <a:ln/>
        </p:spPr>
        <p:txBody>
          <a:bodyPr wrap="square" lIns="0" tIns="0" rIns="0" bIns="0" rtlCol="0" anchor="t"/>
          <a:lstStyle/>
          <a:p>
            <a:pPr algn="l" indent="0" marL="0">
              <a:lnSpc>
                <a:spcPts val="748"/>
              </a:lnSpc>
              <a:buNone/>
            </a:pPr>
            <a:r>
              <a:rPr lang="en-US" sz="800" dirty="0">
                <a:solidFill>
                  <a:srgbClr val="4A5A50"/>
                </a:solidFill>
                <a:latin typeface="Carlito" pitchFamily="34" charset="0"/>
                <a:ea typeface="Carlito" pitchFamily="34" charset="-122"/>
                <a:cs typeface="Carlito" pitchFamily="34" charset="-120"/>
              </a:rPr>
              <a:t>For sinusitis, colds, flu, bronchitis, and constipation; acts as a diuretic, diaphoretic, and to stop bleeding.</a:t>
            </a:r>
            <a:endParaRPr lang="en-US" sz="800" dirty="0"/>
          </a:p>
        </p:txBody>
      </p:sp>
      <p:sp>
        <p:nvSpPr>
          <p:cNvPr id="19" name="Text 17"/>
          <p:cNvSpPr/>
          <p:nvPr/>
        </p:nvSpPr>
        <p:spPr>
          <a:xfrm>
            <a:off x="571500" y="3361916"/>
            <a:ext cx="2389026" cy="637133"/>
          </a:xfrm>
          <a:prstGeom prst="rect">
            <a:avLst/>
          </a:prstGeom>
          <a:solidFill>
            <a:srgbClr val="EDE5D3"/>
          </a:solidFill>
          <a:ln/>
        </p:spPr>
        <p:txBody>
          <a:bodyPr wrap="square" rtlCol="0" anchor="ctr"/>
          <a:lstStyle/>
          <a:p>
            <a:pPr indent="0" marL="0">
              <a:buNone/>
            </a:pPr>
            <a:endParaRPr lang="en-US" dirty="0"/>
          </a:p>
        </p:txBody>
      </p:sp>
      <p:sp>
        <p:nvSpPr>
          <p:cNvPr id="20" name="Shape 18"/>
          <p:cNvSpPr/>
          <p:nvPr/>
        </p:nvSpPr>
        <p:spPr>
          <a:xfrm>
            <a:off x="578644" y="3361916"/>
            <a:ext cx="0" cy="637133"/>
          </a:xfrm>
          <a:prstGeom prst="line">
            <a:avLst/>
          </a:prstGeom>
          <a:noFill/>
          <a:ln w="14288">
            <a:solidFill>
              <a:srgbClr val="C2853A"/>
            </a:solidFill>
            <a:prstDash val="solid"/>
          </a:ln>
        </p:spPr>
      </p:sp>
      <p:sp>
        <p:nvSpPr>
          <p:cNvPr id="21" name="Text 19"/>
          <p:cNvSpPr/>
          <p:nvPr/>
        </p:nvSpPr>
        <p:spPr>
          <a:xfrm>
            <a:off x="650081" y="3404778"/>
            <a:ext cx="2246151" cy="92561"/>
          </a:xfrm>
          <a:prstGeom prst="rect">
            <a:avLst/>
          </a:prstGeom>
          <a:noFill/>
          <a:ln/>
        </p:spPr>
        <p:txBody>
          <a:bodyPr wrap="none" lIns="0" tIns="0" rIns="0" bIns="0" rtlCol="0" anchor="t">
            <a:normAutofit/>
          </a:bodyPr>
          <a:lstStyle/>
          <a:p>
            <a:pPr algn="l" indent="0" marL="0">
              <a:lnSpc>
                <a:spcPts val="776"/>
              </a:lnSpc>
              <a:buNone/>
            </a:pPr>
            <a:r>
              <a:rPr lang="en-US" sz="800" dirty="0">
                <a:solidFill>
                  <a:srgbClr val="2D4A3A"/>
                </a:solidFill>
                <a:latin typeface="Tinos" pitchFamily="34" charset="0"/>
                <a:ea typeface="Tinos" pitchFamily="34" charset="-122"/>
                <a:cs typeface="Tinos" pitchFamily="34" charset="-120"/>
              </a:rPr>
              <a:t>Pine Pollen</a:t>
            </a:r>
            <a:endParaRPr lang="en-US" sz="800" dirty="0"/>
          </a:p>
        </p:txBody>
      </p:sp>
      <p:sp>
        <p:nvSpPr>
          <p:cNvPr id="22" name="Text 20"/>
          <p:cNvSpPr/>
          <p:nvPr/>
        </p:nvSpPr>
        <p:spPr>
          <a:xfrm>
            <a:off x="650081" y="3524771"/>
            <a:ext cx="2246151" cy="307166"/>
          </a:xfrm>
          <a:prstGeom prst="rect">
            <a:avLst/>
          </a:prstGeom>
          <a:noFill/>
          <a:ln/>
        </p:spPr>
        <p:txBody>
          <a:bodyPr wrap="square" lIns="0" tIns="0" rIns="0" bIns="0" rtlCol="0" anchor="t"/>
          <a:lstStyle/>
          <a:p>
            <a:pPr algn="l" indent="0" marL="0">
              <a:lnSpc>
                <a:spcPts val="748"/>
              </a:lnSpc>
              <a:buNone/>
            </a:pPr>
            <a:r>
              <a:rPr lang="en-US" sz="800" dirty="0">
                <a:solidFill>
                  <a:srgbClr val="4A5A50"/>
                </a:solidFill>
                <a:latin typeface="Carlito" pitchFamily="34" charset="0"/>
                <a:ea typeface="Carlito" pitchFamily="34" charset="-122"/>
                <a:cs typeface="Carlito" pitchFamily="34" charset="-120"/>
              </a:rPr>
              <a:t>Stimulates immune system, boosts brain health, supports detoxification, alleviates pain, and may help prevent some cancers.</a:t>
            </a:r>
            <a:endParaRPr lang="en-US" sz="800" dirty="0"/>
          </a:p>
        </p:txBody>
      </p:sp>
      <p:sp>
        <p:nvSpPr>
          <p:cNvPr id="23" name="Text 21"/>
          <p:cNvSpPr/>
          <p:nvPr/>
        </p:nvSpPr>
        <p:spPr>
          <a:xfrm>
            <a:off x="3031964" y="3361916"/>
            <a:ext cx="2389138" cy="637133"/>
          </a:xfrm>
          <a:prstGeom prst="rect">
            <a:avLst/>
          </a:prstGeom>
          <a:solidFill>
            <a:srgbClr val="EDE5D3"/>
          </a:solidFill>
          <a:ln/>
        </p:spPr>
        <p:txBody>
          <a:bodyPr wrap="square" rtlCol="0" anchor="ctr"/>
          <a:lstStyle/>
          <a:p>
            <a:pPr indent="0" marL="0">
              <a:buNone/>
            </a:pPr>
            <a:endParaRPr lang="en-US" dirty="0"/>
          </a:p>
        </p:txBody>
      </p:sp>
      <p:sp>
        <p:nvSpPr>
          <p:cNvPr id="24" name="Shape 22"/>
          <p:cNvSpPr/>
          <p:nvPr/>
        </p:nvSpPr>
        <p:spPr>
          <a:xfrm>
            <a:off x="3039108" y="3361916"/>
            <a:ext cx="0" cy="637133"/>
          </a:xfrm>
          <a:prstGeom prst="line">
            <a:avLst/>
          </a:prstGeom>
          <a:noFill/>
          <a:ln w="14288">
            <a:solidFill>
              <a:srgbClr val="C2853A"/>
            </a:solidFill>
            <a:prstDash val="solid"/>
          </a:ln>
        </p:spPr>
      </p:sp>
      <p:sp>
        <p:nvSpPr>
          <p:cNvPr id="25" name="Text 23"/>
          <p:cNvSpPr/>
          <p:nvPr/>
        </p:nvSpPr>
        <p:spPr>
          <a:xfrm>
            <a:off x="3110545" y="3404778"/>
            <a:ext cx="2246263" cy="92561"/>
          </a:xfrm>
          <a:prstGeom prst="rect">
            <a:avLst/>
          </a:prstGeom>
          <a:noFill/>
          <a:ln/>
        </p:spPr>
        <p:txBody>
          <a:bodyPr wrap="none" lIns="0" tIns="0" rIns="0" bIns="0" rtlCol="0" anchor="t">
            <a:normAutofit/>
          </a:bodyPr>
          <a:lstStyle/>
          <a:p>
            <a:pPr algn="l" indent="0" marL="0">
              <a:lnSpc>
                <a:spcPts val="776"/>
              </a:lnSpc>
              <a:buNone/>
            </a:pPr>
            <a:r>
              <a:rPr lang="en-US" sz="800" dirty="0">
                <a:solidFill>
                  <a:srgbClr val="2D4A3A"/>
                </a:solidFill>
                <a:latin typeface="Tinos" pitchFamily="34" charset="0"/>
                <a:ea typeface="Tinos" pitchFamily="34" charset="-122"/>
                <a:cs typeface="Tinos" pitchFamily="34" charset="-120"/>
              </a:rPr>
              <a:t>Chaga Mushroom</a:t>
            </a:r>
            <a:endParaRPr lang="en-US" sz="800" dirty="0"/>
          </a:p>
        </p:txBody>
      </p:sp>
      <p:sp>
        <p:nvSpPr>
          <p:cNvPr id="26" name="Text 24"/>
          <p:cNvSpPr/>
          <p:nvPr/>
        </p:nvSpPr>
        <p:spPr>
          <a:xfrm>
            <a:off x="3110545" y="3524771"/>
            <a:ext cx="2246263" cy="307166"/>
          </a:xfrm>
          <a:prstGeom prst="rect">
            <a:avLst/>
          </a:prstGeom>
          <a:noFill/>
          <a:ln/>
        </p:spPr>
        <p:txBody>
          <a:bodyPr wrap="square" lIns="0" tIns="0" rIns="0" bIns="0" rtlCol="0" anchor="t"/>
          <a:lstStyle/>
          <a:p>
            <a:pPr algn="l" indent="0" marL="0">
              <a:lnSpc>
                <a:spcPts val="748"/>
              </a:lnSpc>
              <a:buNone/>
            </a:pPr>
            <a:r>
              <a:rPr lang="en-US" sz="800" dirty="0">
                <a:solidFill>
                  <a:srgbClr val="4A5A50"/>
                </a:solidFill>
                <a:latin typeface="Carlito" pitchFamily="34" charset="0"/>
                <a:ea typeface="Carlito" pitchFamily="34" charset="-122"/>
                <a:cs typeface="Carlito" pitchFamily="34" charset="-120"/>
              </a:rPr>
              <a:t>Potent antioxidant and anti-inflammatory; for arthritis and high blood pressure. May lower blood sugar and slow cancer cells.</a:t>
            </a:r>
            <a:endParaRPr lang="en-US" sz="800" dirty="0"/>
          </a:p>
        </p:txBody>
      </p:sp>
      <p:sp>
        <p:nvSpPr>
          <p:cNvPr id="27" name="Text 25"/>
          <p:cNvSpPr/>
          <p:nvPr/>
        </p:nvSpPr>
        <p:spPr>
          <a:xfrm>
            <a:off x="571500" y="4049055"/>
            <a:ext cx="2389026" cy="637245"/>
          </a:xfrm>
          <a:prstGeom prst="rect">
            <a:avLst/>
          </a:prstGeom>
          <a:solidFill>
            <a:srgbClr val="EDE5D3"/>
          </a:solidFill>
          <a:ln/>
        </p:spPr>
        <p:txBody>
          <a:bodyPr wrap="square" rtlCol="0" anchor="ctr"/>
          <a:lstStyle/>
          <a:p>
            <a:pPr indent="0" marL="0">
              <a:buNone/>
            </a:pPr>
            <a:endParaRPr lang="en-US" dirty="0"/>
          </a:p>
        </p:txBody>
      </p:sp>
      <p:sp>
        <p:nvSpPr>
          <p:cNvPr id="28" name="Shape 26"/>
          <p:cNvSpPr/>
          <p:nvPr/>
        </p:nvSpPr>
        <p:spPr>
          <a:xfrm>
            <a:off x="578644" y="4049055"/>
            <a:ext cx="0" cy="637245"/>
          </a:xfrm>
          <a:prstGeom prst="line">
            <a:avLst/>
          </a:prstGeom>
          <a:noFill/>
          <a:ln w="14288">
            <a:solidFill>
              <a:srgbClr val="C2853A"/>
            </a:solidFill>
            <a:prstDash val="solid"/>
          </a:ln>
        </p:spPr>
      </p:sp>
      <p:sp>
        <p:nvSpPr>
          <p:cNvPr id="29" name="Text 27"/>
          <p:cNvSpPr/>
          <p:nvPr/>
        </p:nvSpPr>
        <p:spPr>
          <a:xfrm>
            <a:off x="650081" y="4091918"/>
            <a:ext cx="2246151" cy="92561"/>
          </a:xfrm>
          <a:prstGeom prst="rect">
            <a:avLst/>
          </a:prstGeom>
          <a:noFill/>
          <a:ln/>
        </p:spPr>
        <p:txBody>
          <a:bodyPr wrap="none" lIns="0" tIns="0" rIns="0" bIns="0" rtlCol="0" anchor="t">
            <a:normAutofit/>
          </a:bodyPr>
          <a:lstStyle/>
          <a:p>
            <a:pPr algn="l" indent="0" marL="0">
              <a:lnSpc>
                <a:spcPts val="776"/>
              </a:lnSpc>
              <a:buNone/>
            </a:pPr>
            <a:r>
              <a:rPr lang="en-US" sz="800" dirty="0">
                <a:solidFill>
                  <a:srgbClr val="2D4A3A"/>
                </a:solidFill>
                <a:latin typeface="Tinos" pitchFamily="34" charset="0"/>
                <a:ea typeface="Tinos" pitchFamily="34" charset="-122"/>
                <a:cs typeface="Tinos" pitchFamily="34" charset="-120"/>
              </a:rPr>
              <a:t>Reishi Mushroom</a:t>
            </a:r>
            <a:endParaRPr lang="en-US" sz="800" dirty="0"/>
          </a:p>
        </p:txBody>
      </p:sp>
      <p:sp>
        <p:nvSpPr>
          <p:cNvPr id="30" name="Text 28"/>
          <p:cNvSpPr/>
          <p:nvPr/>
        </p:nvSpPr>
        <p:spPr>
          <a:xfrm>
            <a:off x="650081" y="4211910"/>
            <a:ext cx="2246151" cy="307166"/>
          </a:xfrm>
          <a:prstGeom prst="rect">
            <a:avLst/>
          </a:prstGeom>
          <a:noFill/>
          <a:ln/>
        </p:spPr>
        <p:txBody>
          <a:bodyPr wrap="square" lIns="0" tIns="0" rIns="0" bIns="0" rtlCol="0" anchor="t"/>
          <a:lstStyle/>
          <a:p>
            <a:pPr algn="l" indent="0" marL="0">
              <a:lnSpc>
                <a:spcPts val="748"/>
              </a:lnSpc>
              <a:buNone/>
            </a:pPr>
            <a:r>
              <a:rPr lang="en-US" sz="800" dirty="0">
                <a:solidFill>
                  <a:srgbClr val="4A5A50"/>
                </a:solidFill>
                <a:latin typeface="Carlito" pitchFamily="34" charset="0"/>
                <a:ea typeface="Carlito" pitchFamily="34" charset="-122"/>
                <a:cs typeface="Carlito" pitchFamily="34" charset="-120"/>
              </a:rPr>
              <a:t>Boosts immune system, antioxidative; supports insulin sensitivity and prostate health; may aid memory and noncancerous tumors.</a:t>
            </a:r>
            <a:endParaRPr lang="en-US" sz="800" dirty="0"/>
          </a:p>
        </p:txBody>
      </p:sp>
      <p:sp>
        <p:nvSpPr>
          <p:cNvPr id="31" name="Text 29"/>
          <p:cNvSpPr/>
          <p:nvPr/>
        </p:nvSpPr>
        <p:spPr>
          <a:xfrm>
            <a:off x="3031964" y="4049055"/>
            <a:ext cx="2389138" cy="637245"/>
          </a:xfrm>
          <a:prstGeom prst="rect">
            <a:avLst/>
          </a:prstGeom>
          <a:solidFill>
            <a:srgbClr val="EDE5D3"/>
          </a:solidFill>
          <a:ln/>
        </p:spPr>
        <p:txBody>
          <a:bodyPr wrap="square" rtlCol="0" anchor="ctr"/>
          <a:lstStyle/>
          <a:p>
            <a:pPr indent="0" marL="0">
              <a:buNone/>
            </a:pPr>
            <a:endParaRPr lang="en-US" dirty="0"/>
          </a:p>
        </p:txBody>
      </p:sp>
      <p:sp>
        <p:nvSpPr>
          <p:cNvPr id="32" name="Shape 30"/>
          <p:cNvSpPr/>
          <p:nvPr/>
        </p:nvSpPr>
        <p:spPr>
          <a:xfrm>
            <a:off x="3039108" y="4049055"/>
            <a:ext cx="0" cy="637245"/>
          </a:xfrm>
          <a:prstGeom prst="line">
            <a:avLst/>
          </a:prstGeom>
          <a:noFill/>
          <a:ln w="14288">
            <a:solidFill>
              <a:srgbClr val="C2853A"/>
            </a:solidFill>
            <a:prstDash val="solid"/>
          </a:ln>
        </p:spPr>
      </p:sp>
      <p:sp>
        <p:nvSpPr>
          <p:cNvPr id="33" name="Text 31"/>
          <p:cNvSpPr/>
          <p:nvPr/>
        </p:nvSpPr>
        <p:spPr>
          <a:xfrm>
            <a:off x="3110545" y="4091918"/>
            <a:ext cx="2246263" cy="92561"/>
          </a:xfrm>
          <a:prstGeom prst="rect">
            <a:avLst/>
          </a:prstGeom>
          <a:noFill/>
          <a:ln/>
        </p:spPr>
        <p:txBody>
          <a:bodyPr wrap="none" lIns="0" tIns="0" rIns="0" bIns="0" rtlCol="0" anchor="t">
            <a:normAutofit/>
          </a:bodyPr>
          <a:lstStyle/>
          <a:p>
            <a:pPr algn="l" indent="0" marL="0">
              <a:lnSpc>
                <a:spcPts val="776"/>
              </a:lnSpc>
              <a:buNone/>
            </a:pPr>
            <a:r>
              <a:rPr lang="en-US" sz="800" dirty="0">
                <a:solidFill>
                  <a:srgbClr val="2D4A3A"/>
                </a:solidFill>
                <a:latin typeface="Tinos" pitchFamily="34" charset="0"/>
                <a:ea typeface="Tinos" pitchFamily="34" charset="-122"/>
                <a:cs typeface="Tinos" pitchFamily="34" charset="-120"/>
              </a:rPr>
              <a:t>Wild Garlic</a:t>
            </a:r>
            <a:endParaRPr lang="en-US" sz="800" dirty="0"/>
          </a:p>
        </p:txBody>
      </p:sp>
      <p:sp>
        <p:nvSpPr>
          <p:cNvPr id="34" name="Text 32"/>
          <p:cNvSpPr/>
          <p:nvPr/>
        </p:nvSpPr>
        <p:spPr>
          <a:xfrm>
            <a:off x="3110545" y="4211910"/>
            <a:ext cx="2246263" cy="307166"/>
          </a:xfrm>
          <a:prstGeom prst="rect">
            <a:avLst/>
          </a:prstGeom>
          <a:noFill/>
          <a:ln/>
        </p:spPr>
        <p:txBody>
          <a:bodyPr wrap="square" lIns="0" tIns="0" rIns="0" bIns="0" rtlCol="0" anchor="t"/>
          <a:lstStyle/>
          <a:p>
            <a:pPr algn="l" indent="0" marL="0">
              <a:lnSpc>
                <a:spcPts val="748"/>
              </a:lnSpc>
              <a:buNone/>
            </a:pPr>
            <a:r>
              <a:rPr lang="en-US" sz="800" dirty="0">
                <a:solidFill>
                  <a:srgbClr val="4A5A50"/>
                </a:solidFill>
                <a:latin typeface="Carlito" pitchFamily="34" charset="0"/>
                <a:ea typeface="Carlito" pitchFamily="34" charset="-122"/>
                <a:cs typeface="Carlito" pitchFamily="34" charset="-120"/>
              </a:rPr>
              <a:t>Lowers blood pressure and cholesterol; antibiotic properties; may help prevent Alzheimer's, dementia, and some cancers.</a:t>
            </a:r>
            <a:endParaRPr lang="en-US" sz="800" dirty="0"/>
          </a:p>
        </p:txBody>
      </p:sp>
      <p:sp>
        <p:nvSpPr>
          <p:cNvPr id="35" name="Text 33"/>
          <p:cNvSpPr/>
          <p:nvPr/>
        </p:nvSpPr>
        <p:spPr>
          <a:xfrm>
            <a:off x="5592552" y="1089422"/>
            <a:ext cx="2979948" cy="3596878"/>
          </a:xfrm>
          <a:prstGeom prst="rect">
            <a:avLst/>
          </a:prstGeom>
          <a:solidFill>
            <a:srgbClr val="2D4A3A"/>
          </a:solidFill>
          <a:ln/>
        </p:spPr>
        <p:txBody>
          <a:bodyPr wrap="square" rtlCol="0" anchor="ctr"/>
          <a:lstStyle/>
          <a:p>
            <a:pPr indent="0" marL="0">
              <a:buNone/>
            </a:pPr>
            <a:endParaRPr lang="en-US" dirty="0"/>
          </a:p>
        </p:txBody>
      </p:sp>
      <p:sp>
        <p:nvSpPr>
          <p:cNvPr id="36" name="Text 34"/>
          <p:cNvSpPr/>
          <p:nvPr/>
        </p:nvSpPr>
        <p:spPr>
          <a:xfrm>
            <a:off x="5741142" y="1235012"/>
            <a:ext cx="928196" cy="216027"/>
          </a:xfrm>
          <a:prstGeom prst="roundRect">
            <a:avLst>
              <a:gd name="adj" fmla="val 4404762"/>
            </a:avLst>
          </a:prstGeom>
          <a:noFill/>
          <a:ln w="7144">
            <a:solidFill>
              <a:srgbClr val="F5F0E6"/>
            </a:solidFill>
            <a:prstDash val="solid"/>
          </a:ln>
        </p:spPr>
        <p:txBody>
          <a:bodyPr wrap="square" rtlCol="0" anchor="ctr"/>
          <a:lstStyle/>
          <a:p>
            <a:pPr indent="0" marL="0">
              <a:buNone/>
            </a:pPr>
            <a:endParaRPr lang="en-US" dirty="0"/>
          </a:p>
        </p:txBody>
      </p:sp>
      <p:sp>
        <p:nvSpPr>
          <p:cNvPr id="37" name="Text 35"/>
          <p:cNvSpPr/>
          <p:nvPr/>
        </p:nvSpPr>
        <p:spPr>
          <a:xfrm>
            <a:off x="5764002" y="1246584"/>
            <a:ext cx="882476" cy="192881"/>
          </a:xfrm>
          <a:prstGeom prst="rect">
            <a:avLst/>
          </a:prstGeom>
          <a:noFill/>
          <a:ln/>
        </p:spPr>
        <p:txBody>
          <a:bodyPr wrap="none" lIns="85725" tIns="35719" rIns="85725" bIns="35719" rtlCol="0" anchor="ctr"/>
          <a:lstStyle/>
          <a:p>
            <a:pPr algn="ctr" indent="0" marL="0">
              <a:lnSpc>
                <a:spcPts val="844"/>
              </a:lnSpc>
              <a:buNone/>
            </a:pPr>
            <a:r>
              <a:rPr lang="en-US" sz="800" spc="101" kern="0" dirty="0">
                <a:solidFill>
                  <a:srgbClr val="F5F0E6"/>
                </a:solidFill>
                <a:latin typeface="Carlito" pitchFamily="34" charset="0"/>
                <a:ea typeface="Carlito" pitchFamily="34" charset="-122"/>
                <a:cs typeface="Carlito" pitchFamily="34" charset="-120"/>
              </a:rPr>
              <a:t>SPECIFICATIONS</a:t>
            </a:r>
            <a:endParaRPr lang="en-US" sz="800" dirty="0"/>
          </a:p>
        </p:txBody>
      </p:sp>
      <p:sp>
        <p:nvSpPr>
          <p:cNvPr id="38" name="Shape 36"/>
          <p:cNvSpPr/>
          <p:nvPr/>
        </p:nvSpPr>
        <p:spPr>
          <a:xfrm>
            <a:off x="5764002" y="1723430"/>
            <a:ext cx="2637048" cy="0"/>
          </a:xfrm>
          <a:prstGeom prst="line">
            <a:avLst/>
          </a:prstGeom>
          <a:noFill/>
          <a:ln w="7144">
            <a:solidFill>
              <a:srgbClr val="F5F0E6"/>
            </a:solidFill>
            <a:prstDash val="solid"/>
          </a:ln>
        </p:spPr>
      </p:sp>
      <p:sp>
        <p:nvSpPr>
          <p:cNvPr id="39" name="Text 37"/>
          <p:cNvSpPr/>
          <p:nvPr/>
        </p:nvSpPr>
        <p:spPr>
          <a:xfrm>
            <a:off x="5764002" y="1575197"/>
            <a:ext cx="1767967"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FORMAT</a:t>
            </a:r>
            <a:endParaRPr lang="en-US" sz="800" dirty="0"/>
          </a:p>
        </p:txBody>
      </p:sp>
      <p:sp>
        <p:nvSpPr>
          <p:cNvPr id="40" name="Text 38"/>
          <p:cNvSpPr/>
          <p:nvPr/>
        </p:nvSpPr>
        <p:spPr>
          <a:xfrm>
            <a:off x="7484351" y="1568053"/>
            <a:ext cx="916699"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Liberation Sans Narrow" pitchFamily="34" charset="0"/>
                <a:ea typeface="Liberation Sans Narrow" pitchFamily="34" charset="-122"/>
                <a:cs typeface="Liberation Sans Narrow" pitchFamily="34" charset="-120"/>
              </a:rPr>
              <a:t>2 fl oz sublingual elixir</a:t>
            </a:r>
            <a:endParaRPr lang="en-US" sz="800" dirty="0"/>
          </a:p>
        </p:txBody>
      </p:sp>
      <p:sp>
        <p:nvSpPr>
          <p:cNvPr id="41" name="Shape 39"/>
          <p:cNvSpPr/>
          <p:nvPr/>
        </p:nvSpPr>
        <p:spPr>
          <a:xfrm>
            <a:off x="5764002" y="1925241"/>
            <a:ext cx="2637048" cy="0"/>
          </a:xfrm>
          <a:prstGeom prst="line">
            <a:avLst/>
          </a:prstGeom>
          <a:noFill/>
          <a:ln w="7144">
            <a:solidFill>
              <a:srgbClr val="F5F0E6"/>
            </a:solidFill>
            <a:prstDash val="solid"/>
          </a:ln>
        </p:spPr>
      </p:sp>
      <p:sp>
        <p:nvSpPr>
          <p:cNvPr id="42" name="Text 40"/>
          <p:cNvSpPr/>
          <p:nvPr/>
        </p:nvSpPr>
        <p:spPr>
          <a:xfrm>
            <a:off x="5764002" y="1777008"/>
            <a:ext cx="1663824"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DELIVERY</a:t>
            </a:r>
            <a:endParaRPr lang="en-US" sz="800" dirty="0"/>
          </a:p>
        </p:txBody>
      </p:sp>
      <p:sp>
        <p:nvSpPr>
          <p:cNvPr id="43" name="Text 41"/>
          <p:cNvSpPr/>
          <p:nvPr/>
        </p:nvSpPr>
        <p:spPr>
          <a:xfrm>
            <a:off x="7388544" y="1769864"/>
            <a:ext cx="1012506"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Tinos" pitchFamily="34" charset="0"/>
                <a:ea typeface="Tinos" pitchFamily="34" charset="-122"/>
                <a:cs typeface="Tinos" pitchFamily="34" charset="-120"/>
              </a:rPr>
              <a:t>Sublingual (under tongue)</a:t>
            </a:r>
            <a:endParaRPr lang="en-US" sz="800" dirty="0"/>
          </a:p>
        </p:txBody>
      </p:sp>
      <p:sp>
        <p:nvSpPr>
          <p:cNvPr id="44" name="Shape 42"/>
          <p:cNvSpPr/>
          <p:nvPr/>
        </p:nvSpPr>
        <p:spPr>
          <a:xfrm>
            <a:off x="5764002" y="2127052"/>
            <a:ext cx="2637048" cy="0"/>
          </a:xfrm>
          <a:prstGeom prst="line">
            <a:avLst/>
          </a:prstGeom>
          <a:noFill/>
          <a:ln w="7144">
            <a:solidFill>
              <a:srgbClr val="F5F0E6"/>
            </a:solidFill>
            <a:prstDash val="solid"/>
          </a:ln>
        </p:spPr>
      </p:sp>
      <p:sp>
        <p:nvSpPr>
          <p:cNvPr id="45" name="Text 43"/>
          <p:cNvSpPr/>
          <p:nvPr/>
        </p:nvSpPr>
        <p:spPr>
          <a:xfrm>
            <a:off x="5764002" y="1978819"/>
            <a:ext cx="1673200"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SOURCING</a:t>
            </a:r>
            <a:endParaRPr lang="en-US" sz="800" dirty="0"/>
          </a:p>
        </p:txBody>
      </p:sp>
      <p:sp>
        <p:nvSpPr>
          <p:cNvPr id="46" name="Text 44"/>
          <p:cNvSpPr/>
          <p:nvPr/>
        </p:nvSpPr>
        <p:spPr>
          <a:xfrm>
            <a:off x="7380108" y="1971675"/>
            <a:ext cx="1020942"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Tinos" pitchFamily="34" charset="0"/>
                <a:ea typeface="Tinos" pitchFamily="34" charset="-122"/>
                <a:cs typeface="Tinos" pitchFamily="34" charset="-120"/>
              </a:rPr>
              <a:t>Wild-foraged, western PA</a:t>
            </a:r>
            <a:endParaRPr lang="en-US" sz="800" dirty="0"/>
          </a:p>
        </p:txBody>
      </p:sp>
      <p:sp>
        <p:nvSpPr>
          <p:cNvPr id="47" name="Shape 45"/>
          <p:cNvSpPr/>
          <p:nvPr/>
        </p:nvSpPr>
        <p:spPr>
          <a:xfrm>
            <a:off x="5764002" y="2328863"/>
            <a:ext cx="2637048" cy="0"/>
          </a:xfrm>
          <a:prstGeom prst="line">
            <a:avLst/>
          </a:prstGeom>
          <a:noFill/>
          <a:ln w="7144">
            <a:solidFill>
              <a:srgbClr val="F5F0E6"/>
            </a:solidFill>
            <a:prstDash val="solid"/>
          </a:ln>
        </p:spPr>
      </p:sp>
      <p:sp>
        <p:nvSpPr>
          <p:cNvPr id="48" name="Text 46"/>
          <p:cNvSpPr/>
          <p:nvPr/>
        </p:nvSpPr>
        <p:spPr>
          <a:xfrm>
            <a:off x="5764002" y="2180630"/>
            <a:ext cx="1668959"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REGION</a:t>
            </a:r>
            <a:endParaRPr lang="en-US" sz="800" dirty="0"/>
          </a:p>
        </p:txBody>
      </p:sp>
      <p:sp>
        <p:nvSpPr>
          <p:cNvPr id="49" name="Text 47"/>
          <p:cNvSpPr/>
          <p:nvPr/>
        </p:nvSpPr>
        <p:spPr>
          <a:xfrm>
            <a:off x="7394089" y="2173486"/>
            <a:ext cx="1006961"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Tinos" pitchFamily="34" charset="0"/>
                <a:ea typeface="Tinos" pitchFamily="34" charset="-122"/>
                <a:cs typeface="Tinos" pitchFamily="34" charset="-120"/>
              </a:rPr>
              <a:t>Eastern continental divide</a:t>
            </a:r>
            <a:endParaRPr lang="en-US" sz="800" dirty="0"/>
          </a:p>
        </p:txBody>
      </p:sp>
      <p:sp>
        <p:nvSpPr>
          <p:cNvPr id="50" name="Shape 48"/>
          <p:cNvSpPr/>
          <p:nvPr/>
        </p:nvSpPr>
        <p:spPr>
          <a:xfrm>
            <a:off x="5764002" y="2530673"/>
            <a:ext cx="2637048" cy="0"/>
          </a:xfrm>
          <a:prstGeom prst="line">
            <a:avLst/>
          </a:prstGeom>
          <a:noFill/>
          <a:ln w="7144">
            <a:solidFill>
              <a:srgbClr val="F5F0E6"/>
            </a:solidFill>
            <a:prstDash val="solid"/>
          </a:ln>
        </p:spPr>
      </p:sp>
      <p:sp>
        <p:nvSpPr>
          <p:cNvPr id="51" name="Text 49"/>
          <p:cNvSpPr/>
          <p:nvPr/>
        </p:nvSpPr>
        <p:spPr>
          <a:xfrm>
            <a:off x="5764002" y="2382441"/>
            <a:ext cx="1857375"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BOTANICALS</a:t>
            </a:r>
            <a:endParaRPr lang="en-US" sz="800" dirty="0"/>
          </a:p>
        </p:txBody>
      </p:sp>
      <p:sp>
        <p:nvSpPr>
          <p:cNvPr id="52" name="Text 50"/>
          <p:cNvSpPr/>
          <p:nvPr/>
        </p:nvSpPr>
        <p:spPr>
          <a:xfrm>
            <a:off x="7529135" y="2375297"/>
            <a:ext cx="871915"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Liberation Sans Narrow" pitchFamily="34" charset="0"/>
                <a:ea typeface="Liberation Sans Narrow" pitchFamily="34" charset="-122"/>
                <a:cs typeface="Liberation Sans Narrow" pitchFamily="34" charset="-120"/>
              </a:rPr>
              <a:t>6 wild-foraged herbs</a:t>
            </a:r>
            <a:endParaRPr lang="en-US" sz="800" dirty="0"/>
          </a:p>
        </p:txBody>
      </p:sp>
      <p:sp>
        <p:nvSpPr>
          <p:cNvPr id="53" name="Shape 51"/>
          <p:cNvSpPr/>
          <p:nvPr/>
        </p:nvSpPr>
        <p:spPr>
          <a:xfrm>
            <a:off x="5764002" y="2732484"/>
            <a:ext cx="2637048" cy="0"/>
          </a:xfrm>
          <a:prstGeom prst="line">
            <a:avLst/>
          </a:prstGeom>
          <a:noFill/>
          <a:ln w="7144">
            <a:solidFill>
              <a:srgbClr val="F5F0E6"/>
            </a:solidFill>
            <a:prstDash val="solid"/>
          </a:ln>
        </p:spPr>
      </p:sp>
      <p:sp>
        <p:nvSpPr>
          <p:cNvPr id="54" name="Text 52"/>
          <p:cNvSpPr/>
          <p:nvPr/>
        </p:nvSpPr>
        <p:spPr>
          <a:xfrm>
            <a:off x="5764002" y="2584252"/>
            <a:ext cx="1844204"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BASE</a:t>
            </a:r>
            <a:endParaRPr lang="en-US" sz="800" dirty="0"/>
          </a:p>
        </p:txBody>
      </p:sp>
      <p:sp>
        <p:nvSpPr>
          <p:cNvPr id="55" name="Text 53"/>
          <p:cNvSpPr/>
          <p:nvPr/>
        </p:nvSpPr>
        <p:spPr>
          <a:xfrm>
            <a:off x="7513698" y="2577108"/>
            <a:ext cx="887352"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Tinos" pitchFamily="34" charset="0"/>
                <a:ea typeface="Tinos" pitchFamily="34" charset="-122"/>
                <a:cs typeface="Tinos" pitchFamily="34" charset="-120"/>
              </a:rPr>
              <a:t>Organic cane alcohol</a:t>
            </a:r>
            <a:endParaRPr lang="en-US" sz="800" dirty="0"/>
          </a:p>
        </p:txBody>
      </p:sp>
      <p:sp>
        <p:nvSpPr>
          <p:cNvPr id="56" name="Shape 54"/>
          <p:cNvSpPr/>
          <p:nvPr/>
        </p:nvSpPr>
        <p:spPr>
          <a:xfrm>
            <a:off x="5764002" y="2934295"/>
            <a:ext cx="2637048" cy="0"/>
          </a:xfrm>
          <a:prstGeom prst="line">
            <a:avLst/>
          </a:prstGeom>
          <a:noFill/>
          <a:ln w="7144">
            <a:solidFill>
              <a:srgbClr val="F5F0E6"/>
            </a:solidFill>
            <a:prstDash val="solid"/>
          </a:ln>
        </p:spPr>
      </p:sp>
      <p:sp>
        <p:nvSpPr>
          <p:cNvPr id="57" name="Text 55"/>
          <p:cNvSpPr/>
          <p:nvPr/>
        </p:nvSpPr>
        <p:spPr>
          <a:xfrm>
            <a:off x="5764002" y="2786063"/>
            <a:ext cx="1763278"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SHELF LIFE</a:t>
            </a:r>
            <a:endParaRPr lang="en-US" sz="800" dirty="0"/>
          </a:p>
        </p:txBody>
      </p:sp>
      <p:sp>
        <p:nvSpPr>
          <p:cNvPr id="58" name="Text 56"/>
          <p:cNvSpPr/>
          <p:nvPr/>
        </p:nvSpPr>
        <p:spPr>
          <a:xfrm>
            <a:off x="7479194" y="2778919"/>
            <a:ext cx="921856"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Liberation Sans Narrow" pitchFamily="34" charset="0"/>
                <a:ea typeface="Liberation Sans Narrow" pitchFamily="34" charset="-122"/>
                <a:cs typeface="Liberation Sans Narrow" pitchFamily="34" charset="-120"/>
              </a:rPr>
              <a:t>3 years from batch date</a:t>
            </a:r>
            <a:endParaRPr lang="en-US" sz="800" dirty="0"/>
          </a:p>
        </p:txBody>
      </p:sp>
      <p:sp>
        <p:nvSpPr>
          <p:cNvPr id="59" name="Shape 57"/>
          <p:cNvSpPr/>
          <p:nvPr/>
        </p:nvSpPr>
        <p:spPr>
          <a:xfrm>
            <a:off x="5764002" y="3136106"/>
            <a:ext cx="2637048" cy="0"/>
          </a:xfrm>
          <a:prstGeom prst="line">
            <a:avLst/>
          </a:prstGeom>
          <a:noFill/>
          <a:ln w="7144">
            <a:solidFill>
              <a:srgbClr val="F5F0E6"/>
            </a:solidFill>
            <a:prstDash val="solid"/>
          </a:ln>
        </p:spPr>
      </p:sp>
      <p:sp>
        <p:nvSpPr>
          <p:cNvPr id="60" name="Text 58"/>
          <p:cNvSpPr/>
          <p:nvPr/>
        </p:nvSpPr>
        <p:spPr>
          <a:xfrm>
            <a:off x="5764002" y="2987873"/>
            <a:ext cx="2316026"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CASE PACK</a:t>
            </a:r>
            <a:endParaRPr lang="en-US" sz="800" dirty="0"/>
          </a:p>
        </p:txBody>
      </p:sp>
      <p:sp>
        <p:nvSpPr>
          <p:cNvPr id="61" name="Text 59"/>
          <p:cNvSpPr/>
          <p:nvPr/>
        </p:nvSpPr>
        <p:spPr>
          <a:xfrm>
            <a:off x="8035862" y="2980730"/>
            <a:ext cx="365189"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Liberation Sans Narrow" pitchFamily="34" charset="0"/>
                <a:ea typeface="Liberation Sans Narrow" pitchFamily="34" charset="-122"/>
                <a:cs typeface="Liberation Sans Narrow" pitchFamily="34" charset="-120"/>
              </a:rPr>
              <a:t>12 units</a:t>
            </a:r>
            <a:endParaRPr lang="en-US" sz="800" dirty="0"/>
          </a:p>
        </p:txBody>
      </p:sp>
      <p:sp>
        <p:nvSpPr>
          <p:cNvPr id="62" name="Shape 60"/>
          <p:cNvSpPr/>
          <p:nvPr/>
        </p:nvSpPr>
        <p:spPr>
          <a:xfrm>
            <a:off x="5764002" y="3337917"/>
            <a:ext cx="2637048" cy="0"/>
          </a:xfrm>
          <a:prstGeom prst="line">
            <a:avLst/>
          </a:prstGeom>
          <a:noFill/>
          <a:ln w="7144">
            <a:solidFill>
              <a:srgbClr val="F5F0E6"/>
            </a:solidFill>
            <a:prstDash val="solid"/>
          </a:ln>
        </p:spPr>
      </p:sp>
      <p:sp>
        <p:nvSpPr>
          <p:cNvPr id="63" name="Text 61"/>
          <p:cNvSpPr/>
          <p:nvPr/>
        </p:nvSpPr>
        <p:spPr>
          <a:xfrm>
            <a:off x="5764002" y="3189684"/>
            <a:ext cx="2258988"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WHOLESALE</a:t>
            </a:r>
            <a:endParaRPr lang="en-US" sz="800" dirty="0"/>
          </a:p>
        </p:txBody>
      </p:sp>
      <p:sp>
        <p:nvSpPr>
          <p:cNvPr id="64" name="Text 62"/>
          <p:cNvSpPr/>
          <p:nvPr/>
        </p:nvSpPr>
        <p:spPr>
          <a:xfrm>
            <a:off x="7999825" y="3182541"/>
            <a:ext cx="401225" cy="108942"/>
          </a:xfrm>
          <a:prstGeom prst="rect">
            <a:avLst/>
          </a:prstGeom>
          <a:noFill/>
          <a:ln/>
        </p:spPr>
        <p:txBody>
          <a:bodyPr wrap="square" lIns="0" tIns="0" rIns="0" bIns="0" rtlCol="0" anchor="t"/>
          <a:lstStyle/>
          <a:p>
            <a:pPr algn="r" indent="0" marL="0">
              <a:lnSpc>
                <a:spcPts val="844"/>
              </a:lnSpc>
              <a:buNone/>
            </a:pPr>
            <a:r>
              <a:rPr lang="en-US" sz="800" dirty="0">
                <a:solidFill>
                  <a:srgbClr val="D9A45E"/>
                </a:solidFill>
                <a:latin typeface="Liberation Sans Narrow" pitchFamily="34" charset="0"/>
                <a:ea typeface="Liberation Sans Narrow" pitchFamily="34" charset="-122"/>
                <a:cs typeface="Liberation Sans Narrow" pitchFamily="34" charset="-120"/>
              </a:rPr>
              <a:t>$30 / unit</a:t>
            </a:r>
            <a:endParaRPr lang="en-US" sz="800" dirty="0"/>
          </a:p>
        </p:txBody>
      </p:sp>
      <p:sp>
        <p:nvSpPr>
          <p:cNvPr id="65" name="Shape 63"/>
          <p:cNvSpPr/>
          <p:nvPr/>
        </p:nvSpPr>
        <p:spPr>
          <a:xfrm>
            <a:off x="5764002" y="3539728"/>
            <a:ext cx="2637048" cy="0"/>
          </a:xfrm>
          <a:prstGeom prst="line">
            <a:avLst/>
          </a:prstGeom>
          <a:noFill/>
          <a:ln w="7144">
            <a:solidFill>
              <a:srgbClr val="F5F0E6"/>
            </a:solidFill>
            <a:prstDash val="solid"/>
          </a:ln>
        </p:spPr>
      </p:sp>
      <p:sp>
        <p:nvSpPr>
          <p:cNvPr id="66" name="Text 64"/>
          <p:cNvSpPr/>
          <p:nvPr/>
        </p:nvSpPr>
        <p:spPr>
          <a:xfrm>
            <a:off x="5764002" y="3391495"/>
            <a:ext cx="2258988"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SUGGESTED RETAIL</a:t>
            </a:r>
            <a:endParaRPr lang="en-US" sz="800" dirty="0"/>
          </a:p>
        </p:txBody>
      </p:sp>
      <p:sp>
        <p:nvSpPr>
          <p:cNvPr id="67" name="Text 65"/>
          <p:cNvSpPr/>
          <p:nvPr/>
        </p:nvSpPr>
        <p:spPr>
          <a:xfrm>
            <a:off x="7999825" y="3384352"/>
            <a:ext cx="401225" cy="108942"/>
          </a:xfrm>
          <a:prstGeom prst="rect">
            <a:avLst/>
          </a:prstGeom>
          <a:noFill/>
          <a:ln/>
        </p:spPr>
        <p:txBody>
          <a:bodyPr wrap="square" lIns="0" tIns="0" rIns="0" bIns="0" rtlCol="0" anchor="t"/>
          <a:lstStyle/>
          <a:p>
            <a:pPr algn="r" indent="0" marL="0">
              <a:lnSpc>
                <a:spcPts val="844"/>
              </a:lnSpc>
              <a:buNone/>
            </a:pPr>
            <a:r>
              <a:rPr lang="en-US" sz="800" dirty="0">
                <a:solidFill>
                  <a:srgbClr val="D9A45E"/>
                </a:solidFill>
                <a:latin typeface="Liberation Sans Narrow" pitchFamily="34" charset="0"/>
                <a:ea typeface="Liberation Sans Narrow" pitchFamily="34" charset="-122"/>
                <a:cs typeface="Liberation Sans Narrow" pitchFamily="34" charset="-120"/>
              </a:rPr>
              <a:t>$46 / unit</a:t>
            </a:r>
            <a:endParaRPr lang="en-US" sz="800" dirty="0"/>
          </a:p>
        </p:txBody>
      </p:sp>
      <p:sp>
        <p:nvSpPr>
          <p:cNvPr id="68" name="Shape 66"/>
          <p:cNvSpPr/>
          <p:nvPr/>
        </p:nvSpPr>
        <p:spPr>
          <a:xfrm>
            <a:off x="5764002" y="3741539"/>
            <a:ext cx="2637048" cy="0"/>
          </a:xfrm>
          <a:prstGeom prst="line">
            <a:avLst/>
          </a:prstGeom>
          <a:noFill/>
          <a:ln w="7144">
            <a:solidFill>
              <a:srgbClr val="F5F0E6"/>
            </a:solidFill>
            <a:prstDash val="solid"/>
          </a:ln>
        </p:spPr>
      </p:sp>
      <p:sp>
        <p:nvSpPr>
          <p:cNvPr id="69" name="Text 67"/>
          <p:cNvSpPr/>
          <p:nvPr/>
        </p:nvSpPr>
        <p:spPr>
          <a:xfrm>
            <a:off x="5764002" y="3593306"/>
            <a:ext cx="2389250"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RETAILER MARGIN</a:t>
            </a:r>
            <a:endParaRPr lang="en-US" sz="800" dirty="0"/>
          </a:p>
        </p:txBody>
      </p:sp>
      <p:sp>
        <p:nvSpPr>
          <p:cNvPr id="70" name="Text 68"/>
          <p:cNvSpPr/>
          <p:nvPr/>
        </p:nvSpPr>
        <p:spPr>
          <a:xfrm>
            <a:off x="8065963" y="3586163"/>
            <a:ext cx="335087" cy="108942"/>
          </a:xfrm>
          <a:prstGeom prst="rect">
            <a:avLst/>
          </a:prstGeom>
          <a:noFill/>
          <a:ln/>
        </p:spPr>
        <p:txBody>
          <a:bodyPr wrap="none" lIns="0" tIns="0" rIns="0" bIns="0" rtlCol="0" anchor="t"/>
          <a:lstStyle/>
          <a:p>
            <a:pPr algn="r" indent="0" marL="0">
              <a:lnSpc>
                <a:spcPts val="844"/>
              </a:lnSpc>
              <a:buNone/>
            </a:pPr>
            <a:r>
              <a:rPr lang="en-US" sz="800" dirty="0">
                <a:solidFill>
                  <a:srgbClr val="D9A45E"/>
                </a:solidFill>
                <a:latin typeface="Liberation Sans Narrow" pitchFamily="34" charset="0"/>
                <a:ea typeface="Liberation Sans Narrow" pitchFamily="34" charset="-122"/>
                <a:cs typeface="Liberation Sans Narrow" pitchFamily="34" charset="-120"/>
              </a:rPr>
              <a:t>~35%</a:t>
            </a:r>
            <a:endParaRPr lang="en-US" sz="800" dirty="0"/>
          </a:p>
        </p:txBody>
      </p:sp>
      <p:sp>
        <p:nvSpPr>
          <p:cNvPr id="71" name="Shape 69"/>
          <p:cNvSpPr/>
          <p:nvPr/>
        </p:nvSpPr>
        <p:spPr>
          <a:xfrm>
            <a:off x="5764002" y="3943350"/>
            <a:ext cx="2637048" cy="0"/>
          </a:xfrm>
          <a:prstGeom prst="line">
            <a:avLst/>
          </a:prstGeom>
          <a:noFill/>
          <a:ln w="7144">
            <a:solidFill>
              <a:srgbClr val="F5F0E6"/>
            </a:solidFill>
            <a:prstDash val="solid"/>
          </a:ln>
        </p:spPr>
      </p:sp>
      <p:sp>
        <p:nvSpPr>
          <p:cNvPr id="72" name="Text 70"/>
          <p:cNvSpPr/>
          <p:nvPr/>
        </p:nvSpPr>
        <p:spPr>
          <a:xfrm>
            <a:off x="5764002" y="3795117"/>
            <a:ext cx="2001031"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F5F0E6">
                    <a:alpha val="72000"/>
                  </a:srgbClr>
                </a:solidFill>
                <a:latin typeface="Carlito" pitchFamily="34" charset="0"/>
                <a:ea typeface="Carlito" pitchFamily="34" charset="-122"/>
                <a:cs typeface="Carlito" pitchFamily="34" charset="-120"/>
              </a:rPr>
              <a:t>LEAD TIME</a:t>
            </a:r>
            <a:endParaRPr lang="en-US" sz="800" dirty="0"/>
          </a:p>
        </p:txBody>
      </p:sp>
      <p:sp>
        <p:nvSpPr>
          <p:cNvPr id="73" name="Text 71"/>
          <p:cNvSpPr/>
          <p:nvPr/>
        </p:nvSpPr>
        <p:spPr>
          <a:xfrm>
            <a:off x="7697500" y="3787973"/>
            <a:ext cx="703550" cy="108942"/>
          </a:xfrm>
          <a:prstGeom prst="rect">
            <a:avLst/>
          </a:prstGeom>
          <a:noFill/>
          <a:ln/>
        </p:spPr>
        <p:txBody>
          <a:bodyPr wrap="square" lIns="0" tIns="0" rIns="0" bIns="0" rtlCol="0" anchor="t"/>
          <a:lstStyle/>
          <a:p>
            <a:pPr algn="r" indent="0" marL="0">
              <a:lnSpc>
                <a:spcPts val="844"/>
              </a:lnSpc>
              <a:buNone/>
            </a:pPr>
            <a:r>
              <a:rPr lang="en-US" sz="800" dirty="0">
                <a:solidFill>
                  <a:srgbClr val="F5F0E6"/>
                </a:solidFill>
                <a:latin typeface="Liberation Sans Narrow" pitchFamily="34" charset="0"/>
                <a:ea typeface="Liberation Sans Narrow" pitchFamily="34" charset="-122"/>
                <a:cs typeface="Liberation Sans Narrow" pitchFamily="34" charset="-120"/>
              </a:rPr>
              <a:t>10 business days</a:t>
            </a:r>
            <a:endParaRPr lang="en-US" sz="800" dirty="0"/>
          </a:p>
        </p:txBody>
      </p:sp>
      <p:sp>
        <p:nvSpPr>
          <p:cNvPr id="74" name="Text 72"/>
          <p:cNvSpPr/>
          <p:nvPr/>
        </p:nvSpPr>
        <p:spPr>
          <a:xfrm>
            <a:off x="5764002" y="4325541"/>
            <a:ext cx="2637048" cy="203597"/>
          </a:xfrm>
          <a:prstGeom prst="rect">
            <a:avLst/>
          </a:prstGeom>
          <a:noFill/>
          <a:ln/>
        </p:spPr>
        <p:txBody>
          <a:bodyPr wrap="square" lIns="0" tIns="85725" rIns="0" bIns="0" rtlCol="0" anchor="t"/>
          <a:lstStyle/>
          <a:p>
            <a:pPr algn="l" indent="0" marL="0">
              <a:lnSpc>
                <a:spcPts val="928"/>
              </a:lnSpc>
              <a:buNone/>
            </a:pPr>
            <a:r>
              <a:rPr lang="en-US" sz="800" i="1" spc="12" kern="0" dirty="0">
                <a:solidFill>
                  <a:srgbClr val="D9A45E"/>
                </a:solidFill>
                <a:latin typeface="Carlito" pitchFamily="34" charset="0"/>
                <a:ea typeface="Carlito" pitchFamily="34" charset="-122"/>
                <a:cs typeface="Carlito" pitchFamily="34" charset="-120"/>
              </a:rPr>
              <a:t>Each batch signed by the herbalist.</a:t>
            </a:r>
            <a:endParaRPr lang="en-US" sz="800" dirty="0"/>
          </a:p>
        </p:txBody>
      </p:sp>
      <p:sp>
        <p:nvSpPr>
          <p:cNvPr id="75" name="Text 73"/>
          <p:cNvSpPr/>
          <p:nvPr/>
        </p:nvSpPr>
        <p:spPr>
          <a:xfrm>
            <a:off x="571500" y="4825603"/>
            <a:ext cx="7622270"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ALL MOUNTAIN APOTHECARY · SPOTLIGHT</a:t>
            </a:r>
            <a:endParaRPr lang="en-US" sz="800" dirty="0"/>
          </a:p>
        </p:txBody>
      </p:sp>
      <p:sp>
        <p:nvSpPr>
          <p:cNvPr id="76" name="Text 74"/>
          <p:cNvSpPr/>
          <p:nvPr/>
        </p:nvSpPr>
        <p:spPr>
          <a:xfrm>
            <a:off x="8208057" y="4825603"/>
            <a:ext cx="54074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Liberation Sans Narrow" pitchFamily="34" charset="0"/>
                <a:ea typeface="Liberation Sans Narrow" pitchFamily="34" charset="-122"/>
                <a:cs typeface="Liberation Sans Narrow" pitchFamily="34" charset="-120"/>
              </a:rPr>
              <a:t>06 / 09</a:t>
            </a:r>
            <a:endParaRPr lang="en-US" sz="800" dirty="0"/>
          </a:p>
        </p:txBody>
      </p:sp>
      <p:sp>
        <p:nvSpPr>
          <p:cNvPr id="77" name="Text 75"/>
          <p:cNvSpPr/>
          <p:nvPr/>
        </p:nvSpPr>
        <p:spPr>
          <a:xfrm>
            <a:off x="692944" y="1253728"/>
            <a:ext cx="1626319" cy="300038"/>
          </a:xfrm>
          <a:prstGeom prst="rect">
            <a:avLst/>
          </a:prstGeom>
          <a:noFill/>
          <a:ln/>
        </p:spPr>
        <p:txBody>
          <a:bodyPr wrap="none" lIns="0" tIns="0" rIns="0" bIns="0" rtlCol="0" anchor="ctr"/>
          <a:lstStyle/>
          <a:p>
            <a:pPr algn="ctr" indent="0" marL="0">
              <a:buNone/>
            </a:pPr>
            <a:r>
              <a:rPr lang="en-US" sz="1969" dirty="0">
                <a:solidFill>
                  <a:srgbClr val="C2853A"/>
                </a:solidFill>
                <a:latin typeface="Segoe UI Symbol" pitchFamily="34" charset="0"/>
                <a:ea typeface="Segoe UI Symbol" pitchFamily="34" charset="-122"/>
                <a:cs typeface="Segoe UI Symbol" pitchFamily="34" charset="-120"/>
              </a:rPr>
              <a:t>◉</a:t>
            </a:r>
            <a:endParaRPr lang="en-US" sz="1969" dirty="0"/>
          </a:p>
        </p:txBody>
      </p:sp>
      <p:sp>
        <p:nvSpPr>
          <p:cNvPr id="78" name="Text 76"/>
          <p:cNvSpPr/>
          <p:nvPr/>
        </p:nvSpPr>
        <p:spPr>
          <a:xfrm>
            <a:off x="2419276" y="1294805"/>
            <a:ext cx="1207004" cy="94012"/>
          </a:xfrm>
          <a:prstGeom prst="rect">
            <a:avLst/>
          </a:prstGeom>
          <a:noFill/>
          <a:ln/>
        </p:spPr>
        <p:txBody>
          <a:bodyPr wrap="none" lIns="0" tIns="0" rIns="0" bIns="0" rtlCol="0" anchor="t">
            <a:normAutofit/>
          </a:bodyPr>
          <a:lstStyle/>
          <a:p>
            <a:pPr algn="l" indent="0" marL="0">
              <a:lnSpc>
                <a:spcPts val="844"/>
              </a:lnSpc>
              <a:buNone/>
            </a:pPr>
            <a:r>
              <a:rPr lang="en-US" sz="800" spc="113" kern="0" dirty="0">
                <a:solidFill>
                  <a:srgbClr val="4A5A50"/>
                </a:solidFill>
                <a:latin typeface="Carlito" pitchFamily="34" charset="0"/>
                <a:ea typeface="Carlito" pitchFamily="34" charset="-122"/>
                <a:cs typeface="Carlito" pitchFamily="34" charset="-120"/>
              </a:rPr>
              <a:t>HERO BOTTLE PHOTO</a:t>
            </a:r>
            <a:endParaRPr lang="en-US" sz="800" dirty="0"/>
          </a:p>
        </p:txBody>
      </p:sp>
      <p:sp>
        <p:nvSpPr>
          <p:cNvPr id="79" name="Text 77"/>
          <p:cNvSpPr/>
          <p:nvPr/>
        </p:nvSpPr>
        <p:spPr>
          <a:xfrm>
            <a:off x="2419276" y="1416248"/>
            <a:ext cx="2165561" cy="164592"/>
          </a:xfrm>
          <a:prstGeom prst="rect">
            <a:avLst/>
          </a:prstGeom>
          <a:noFill/>
          <a:ln/>
        </p:spPr>
        <p:txBody>
          <a:bodyPr wrap="square" lIns="0" tIns="0" rIns="0" bIns="0" rtlCol="0" anchor="t"/>
          <a:lstStyle/>
          <a:p>
            <a:pPr algn="l" indent="0" marL="0">
              <a:lnSpc>
                <a:spcPts val="759"/>
              </a:lnSpc>
              <a:buNone/>
            </a:pPr>
            <a:r>
              <a:rPr lang="en-US" sz="800" i="1" spc="51" kern="0" dirty="0">
                <a:solidFill>
                  <a:srgbClr val="4A5A50">
                    <a:alpha val="70000"/>
                  </a:srgbClr>
                </a:solidFill>
                <a:latin typeface="Carlito" pitchFamily="34" charset="0"/>
                <a:ea typeface="Carlito" pitchFamily="34" charset="-122"/>
                <a:cs typeface="Carlito" pitchFamily="34" charset="-120"/>
              </a:rPr>
              <a:t>Immune BoostTM — sublingual elixir, amber glass with dropper</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71500" y="457200"/>
            <a:ext cx="857250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WHOLESALE TERMS</a:t>
            </a:r>
            <a:endParaRPr lang="en-US" sz="800" dirty="0"/>
          </a:p>
        </p:txBody>
      </p:sp>
      <p:sp>
        <p:nvSpPr>
          <p:cNvPr id="3" name="Text 1"/>
          <p:cNvSpPr/>
          <p:nvPr/>
        </p:nvSpPr>
        <p:spPr>
          <a:xfrm>
            <a:off x="571500" y="617934"/>
            <a:ext cx="8001000" cy="339471"/>
          </a:xfrm>
          <a:prstGeom prst="rect">
            <a:avLst/>
          </a:prstGeom>
          <a:noFill/>
          <a:ln/>
        </p:spPr>
        <p:txBody>
          <a:bodyPr wrap="square" lIns="0" tIns="0" rIns="0" bIns="0" rtlCol="0" anchor="t"/>
          <a:lstStyle/>
          <a:p>
            <a:pPr algn="l" indent="0" marL="0">
              <a:lnSpc>
                <a:spcPts val="2475"/>
              </a:lnSpc>
              <a:buNone/>
            </a:pPr>
            <a:r>
              <a:rPr lang="en-US" sz="2250" dirty="0">
                <a:solidFill>
                  <a:srgbClr val="2D4A3A"/>
                </a:solidFill>
                <a:latin typeface="Tinos" pitchFamily="34" charset="0"/>
                <a:ea typeface="Tinos" pitchFamily="34" charset="-122"/>
                <a:cs typeface="Tinos" pitchFamily="34" charset="-120"/>
              </a:rPr>
              <a:t>Built for independent retail shelves.</a:t>
            </a:r>
            <a:endParaRPr lang="en-US" sz="2250" dirty="0"/>
          </a:p>
        </p:txBody>
      </p:sp>
      <p:sp>
        <p:nvSpPr>
          <p:cNvPr id="4" name="Text 2"/>
          <p:cNvSpPr/>
          <p:nvPr/>
        </p:nvSpPr>
        <p:spPr>
          <a:xfrm>
            <a:off x="571500" y="1003697"/>
            <a:ext cx="342900" cy="14288"/>
          </a:xfrm>
          <a:prstGeom prst="rect">
            <a:avLst/>
          </a:prstGeom>
          <a:solidFill>
            <a:srgbClr val="C2853A"/>
          </a:solidFill>
          <a:ln/>
        </p:spPr>
        <p:txBody>
          <a:bodyPr wrap="square" rtlCol="0" anchor="ctr"/>
          <a:lstStyle/>
          <a:p>
            <a:pPr indent="0" marL="0">
              <a:buNone/>
            </a:pPr>
            <a:endParaRPr lang="en-US" dirty="0"/>
          </a:p>
        </p:txBody>
      </p:sp>
      <p:sp>
        <p:nvSpPr>
          <p:cNvPr id="5" name="Text 3"/>
          <p:cNvSpPr/>
          <p:nvPr/>
        </p:nvSpPr>
        <p:spPr>
          <a:xfrm>
            <a:off x="571500" y="1103709"/>
            <a:ext cx="6286500" cy="339999"/>
          </a:xfrm>
          <a:prstGeom prst="rect">
            <a:avLst/>
          </a:prstGeom>
          <a:noFill/>
          <a:ln/>
        </p:spPr>
        <p:txBody>
          <a:bodyPr wrap="square" lIns="0" tIns="0" rIns="0" bIns="0" rtlCol="0" anchor="t"/>
          <a:lstStyle/>
          <a:p>
            <a:pPr algn="l" indent="0" marL="0">
              <a:lnSpc>
                <a:spcPts val="1133"/>
              </a:lnSpc>
              <a:buNone/>
            </a:pPr>
            <a:r>
              <a:rPr lang="en-US" sz="800" dirty="0">
                <a:solidFill>
                  <a:srgbClr val="4A5A50"/>
                </a:solidFill>
                <a:latin typeface="Carlito" pitchFamily="34" charset="0"/>
                <a:ea typeface="Carlito" pitchFamily="34" charset="-122"/>
                <a:cs typeface="Carlito" pitchFamily="34" charset="-120"/>
              </a:rPr>
              <a:t>Straightforward terms designed for boutique grocers, apothecaries, and wellness shops — no DSV, no slotting fees, no minimums that punish small orders.</a:t>
            </a:r>
            <a:endParaRPr lang="en-US" sz="800" dirty="0"/>
          </a:p>
        </p:txBody>
      </p:sp>
      <p:sp>
        <p:nvSpPr>
          <p:cNvPr id="6" name="Shape 4"/>
          <p:cNvSpPr/>
          <p:nvPr/>
        </p:nvSpPr>
        <p:spPr>
          <a:xfrm>
            <a:off x="571500" y="1867198"/>
            <a:ext cx="4637856" cy="0"/>
          </a:xfrm>
          <a:prstGeom prst="line">
            <a:avLst/>
          </a:prstGeom>
          <a:noFill/>
          <a:ln w="7144">
            <a:solidFill>
              <a:srgbClr val="C8BFA8"/>
            </a:solidFill>
            <a:prstDash val="solid"/>
          </a:ln>
        </p:spPr>
      </p:sp>
      <p:sp>
        <p:nvSpPr>
          <p:cNvPr id="7" name="Text 5"/>
          <p:cNvSpPr/>
          <p:nvPr/>
        </p:nvSpPr>
        <p:spPr>
          <a:xfrm>
            <a:off x="571500" y="1655787"/>
            <a:ext cx="1666173" cy="129257"/>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MINIMUM ORDER</a:t>
            </a:r>
            <a:endParaRPr lang="en-US" sz="800" dirty="0"/>
          </a:p>
        </p:txBody>
      </p:sp>
      <p:sp>
        <p:nvSpPr>
          <p:cNvPr id="8" name="Text 6"/>
          <p:cNvSpPr/>
          <p:nvPr/>
        </p:nvSpPr>
        <p:spPr>
          <a:xfrm>
            <a:off x="1985963" y="1627212"/>
            <a:ext cx="3333122" cy="157832"/>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Tinos" pitchFamily="34" charset="0"/>
                <a:ea typeface="Tinos" pitchFamily="34" charset="-122"/>
                <a:cs typeface="Tinos" pitchFamily="34" charset="-120"/>
              </a:rPr>
              <a:t>$300 wholesale · ~9 units mix-and-match</a:t>
            </a:r>
            <a:endParaRPr lang="en-US" sz="956" dirty="0"/>
          </a:p>
        </p:txBody>
      </p:sp>
      <p:sp>
        <p:nvSpPr>
          <p:cNvPr id="9" name="Shape 7"/>
          <p:cNvSpPr/>
          <p:nvPr/>
        </p:nvSpPr>
        <p:spPr>
          <a:xfrm>
            <a:off x="571500" y="2189336"/>
            <a:ext cx="4637856" cy="0"/>
          </a:xfrm>
          <a:prstGeom prst="line">
            <a:avLst/>
          </a:prstGeom>
          <a:noFill/>
          <a:ln w="7144">
            <a:solidFill>
              <a:srgbClr val="C8BFA8"/>
            </a:solidFill>
            <a:prstDash val="solid"/>
          </a:ln>
        </p:spPr>
      </p:sp>
      <p:sp>
        <p:nvSpPr>
          <p:cNvPr id="10" name="Text 8"/>
          <p:cNvSpPr/>
          <p:nvPr/>
        </p:nvSpPr>
        <p:spPr>
          <a:xfrm>
            <a:off x="571500" y="1977926"/>
            <a:ext cx="1805047" cy="129257"/>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CASE PACK</a:t>
            </a:r>
            <a:endParaRPr lang="en-US" sz="800" dirty="0"/>
          </a:p>
        </p:txBody>
      </p:sp>
      <p:sp>
        <p:nvSpPr>
          <p:cNvPr id="11" name="Text 9"/>
          <p:cNvSpPr/>
          <p:nvPr/>
        </p:nvSpPr>
        <p:spPr>
          <a:xfrm>
            <a:off x="1985963" y="1949351"/>
            <a:ext cx="3223394" cy="157832"/>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Tinos" pitchFamily="34" charset="0"/>
                <a:ea typeface="Tinos" pitchFamily="34" charset="-122"/>
                <a:cs typeface="Tinos" pitchFamily="34" charset="-120"/>
              </a:rPr>
              <a:t>12 units per SKU, but mixed cases accepted on first order</a:t>
            </a:r>
            <a:endParaRPr lang="en-US" sz="956" dirty="0"/>
          </a:p>
        </p:txBody>
      </p:sp>
      <p:sp>
        <p:nvSpPr>
          <p:cNvPr id="12" name="Shape 10"/>
          <p:cNvSpPr/>
          <p:nvPr/>
        </p:nvSpPr>
        <p:spPr>
          <a:xfrm>
            <a:off x="571500" y="2511475"/>
            <a:ext cx="4637856" cy="0"/>
          </a:xfrm>
          <a:prstGeom prst="line">
            <a:avLst/>
          </a:prstGeom>
          <a:noFill/>
          <a:ln w="7144">
            <a:solidFill>
              <a:srgbClr val="C8BFA8"/>
            </a:solidFill>
            <a:prstDash val="solid"/>
          </a:ln>
        </p:spPr>
      </p:sp>
      <p:sp>
        <p:nvSpPr>
          <p:cNvPr id="13" name="Text 11"/>
          <p:cNvSpPr/>
          <p:nvPr/>
        </p:nvSpPr>
        <p:spPr>
          <a:xfrm>
            <a:off x="571500" y="2300064"/>
            <a:ext cx="1805047" cy="129257"/>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LEAD TIME</a:t>
            </a:r>
            <a:endParaRPr lang="en-US" sz="800" dirty="0"/>
          </a:p>
        </p:txBody>
      </p:sp>
      <p:sp>
        <p:nvSpPr>
          <p:cNvPr id="14" name="Text 12"/>
          <p:cNvSpPr/>
          <p:nvPr/>
        </p:nvSpPr>
        <p:spPr>
          <a:xfrm>
            <a:off x="1985963" y="2271489"/>
            <a:ext cx="3333122" cy="157832"/>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Liberation Sans Narrow" pitchFamily="34" charset="0"/>
                <a:ea typeface="Liberation Sans Narrow" pitchFamily="34" charset="-122"/>
                <a:cs typeface="Liberation Sans Narrow" pitchFamily="34" charset="-120"/>
              </a:rPr>
              <a:t>10 business days from PO to ship</a:t>
            </a:r>
            <a:endParaRPr lang="en-US" sz="956" dirty="0"/>
          </a:p>
        </p:txBody>
      </p:sp>
      <p:sp>
        <p:nvSpPr>
          <p:cNvPr id="15" name="Shape 13"/>
          <p:cNvSpPr/>
          <p:nvPr/>
        </p:nvSpPr>
        <p:spPr>
          <a:xfrm>
            <a:off x="571500" y="2833613"/>
            <a:ext cx="4637856" cy="0"/>
          </a:xfrm>
          <a:prstGeom prst="line">
            <a:avLst/>
          </a:prstGeom>
          <a:noFill/>
          <a:ln w="7144">
            <a:solidFill>
              <a:srgbClr val="C8BFA8"/>
            </a:solidFill>
            <a:prstDash val="solid"/>
          </a:ln>
        </p:spPr>
      </p:sp>
      <p:sp>
        <p:nvSpPr>
          <p:cNvPr id="16" name="Text 14"/>
          <p:cNvSpPr/>
          <p:nvPr/>
        </p:nvSpPr>
        <p:spPr>
          <a:xfrm>
            <a:off x="571500" y="2622203"/>
            <a:ext cx="1805047" cy="129257"/>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SHIPPING</a:t>
            </a:r>
            <a:endParaRPr lang="en-US" sz="800" dirty="0"/>
          </a:p>
        </p:txBody>
      </p:sp>
      <p:sp>
        <p:nvSpPr>
          <p:cNvPr id="17" name="Text 15"/>
          <p:cNvSpPr/>
          <p:nvPr/>
        </p:nvSpPr>
        <p:spPr>
          <a:xfrm>
            <a:off x="1985963" y="2593628"/>
            <a:ext cx="3333122" cy="157832"/>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Tinos" pitchFamily="34" charset="0"/>
                <a:ea typeface="Tinos" pitchFamily="34" charset="-122"/>
                <a:cs typeface="Tinos" pitchFamily="34" charset="-120"/>
              </a:rPr>
              <a:t>Flat $18 ground; free over $600 wholesale</a:t>
            </a:r>
            <a:endParaRPr lang="en-US" sz="956" dirty="0"/>
          </a:p>
        </p:txBody>
      </p:sp>
      <p:sp>
        <p:nvSpPr>
          <p:cNvPr id="18" name="Shape 16"/>
          <p:cNvSpPr/>
          <p:nvPr/>
        </p:nvSpPr>
        <p:spPr>
          <a:xfrm>
            <a:off x="571500" y="3155752"/>
            <a:ext cx="4637856" cy="0"/>
          </a:xfrm>
          <a:prstGeom prst="line">
            <a:avLst/>
          </a:prstGeom>
          <a:noFill/>
          <a:ln w="7144">
            <a:solidFill>
              <a:srgbClr val="C8BFA8"/>
            </a:solidFill>
            <a:prstDash val="solid"/>
          </a:ln>
        </p:spPr>
      </p:sp>
      <p:sp>
        <p:nvSpPr>
          <p:cNvPr id="19" name="Text 17"/>
          <p:cNvSpPr/>
          <p:nvPr/>
        </p:nvSpPr>
        <p:spPr>
          <a:xfrm>
            <a:off x="571500" y="2944341"/>
            <a:ext cx="1805047" cy="129257"/>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PAYMENT</a:t>
            </a:r>
            <a:endParaRPr lang="en-US" sz="800" dirty="0"/>
          </a:p>
        </p:txBody>
      </p:sp>
      <p:sp>
        <p:nvSpPr>
          <p:cNvPr id="20" name="Text 18"/>
          <p:cNvSpPr/>
          <p:nvPr/>
        </p:nvSpPr>
        <p:spPr>
          <a:xfrm>
            <a:off x="1985963" y="2915766"/>
            <a:ext cx="3333122" cy="157832"/>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Tinos" pitchFamily="34" charset="0"/>
                <a:ea typeface="Tinos" pitchFamily="34" charset="-122"/>
                <a:cs typeface="Tinos" pitchFamily="34" charset="-120"/>
              </a:rPr>
              <a:t>Net 30 on approved credit; credit card anytime</a:t>
            </a:r>
            <a:endParaRPr lang="en-US" sz="956" dirty="0"/>
          </a:p>
        </p:txBody>
      </p:sp>
      <p:sp>
        <p:nvSpPr>
          <p:cNvPr id="21" name="Shape 19"/>
          <p:cNvSpPr/>
          <p:nvPr/>
        </p:nvSpPr>
        <p:spPr>
          <a:xfrm>
            <a:off x="571500" y="3477890"/>
            <a:ext cx="4637856" cy="0"/>
          </a:xfrm>
          <a:prstGeom prst="line">
            <a:avLst/>
          </a:prstGeom>
          <a:noFill/>
          <a:ln w="7144">
            <a:solidFill>
              <a:srgbClr val="C8BFA8"/>
            </a:solidFill>
            <a:prstDash val="solid"/>
          </a:ln>
        </p:spPr>
      </p:sp>
      <p:sp>
        <p:nvSpPr>
          <p:cNvPr id="22" name="Text 20"/>
          <p:cNvSpPr/>
          <p:nvPr/>
        </p:nvSpPr>
        <p:spPr>
          <a:xfrm>
            <a:off x="571500" y="3266480"/>
            <a:ext cx="1666173" cy="129257"/>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RETURN POLICY</a:t>
            </a:r>
            <a:endParaRPr lang="en-US" sz="800" dirty="0"/>
          </a:p>
        </p:txBody>
      </p:sp>
      <p:sp>
        <p:nvSpPr>
          <p:cNvPr id="23" name="Text 21"/>
          <p:cNvSpPr/>
          <p:nvPr/>
        </p:nvSpPr>
        <p:spPr>
          <a:xfrm>
            <a:off x="1985963" y="3237905"/>
            <a:ext cx="3223394" cy="157832"/>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Tinos" pitchFamily="34" charset="0"/>
                <a:ea typeface="Tinos" pitchFamily="34" charset="-122"/>
                <a:cs typeface="Tinos" pitchFamily="34" charset="-120"/>
              </a:rPr>
              <a:t>Full credit on damaged; 50% on slow-movers within 90 days</a:t>
            </a:r>
            <a:endParaRPr lang="en-US" sz="956" dirty="0"/>
          </a:p>
        </p:txBody>
      </p:sp>
      <p:sp>
        <p:nvSpPr>
          <p:cNvPr id="24" name="Shape 22"/>
          <p:cNvSpPr/>
          <p:nvPr/>
        </p:nvSpPr>
        <p:spPr>
          <a:xfrm>
            <a:off x="571500" y="3800029"/>
            <a:ext cx="4637856" cy="0"/>
          </a:xfrm>
          <a:prstGeom prst="line">
            <a:avLst/>
          </a:prstGeom>
          <a:noFill/>
          <a:ln w="7144">
            <a:solidFill>
              <a:srgbClr val="C8BFA8"/>
            </a:solidFill>
            <a:prstDash val="solid"/>
          </a:ln>
        </p:spPr>
      </p:sp>
      <p:sp>
        <p:nvSpPr>
          <p:cNvPr id="25" name="Text 23"/>
          <p:cNvSpPr/>
          <p:nvPr/>
        </p:nvSpPr>
        <p:spPr>
          <a:xfrm>
            <a:off x="571500" y="3588618"/>
            <a:ext cx="1666173" cy="129257"/>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CO-MARKETING</a:t>
            </a:r>
            <a:endParaRPr lang="en-US" sz="800" dirty="0"/>
          </a:p>
        </p:txBody>
      </p:sp>
      <p:sp>
        <p:nvSpPr>
          <p:cNvPr id="26" name="Text 24"/>
          <p:cNvSpPr/>
          <p:nvPr/>
        </p:nvSpPr>
        <p:spPr>
          <a:xfrm>
            <a:off x="1985963" y="3560043"/>
            <a:ext cx="3223394" cy="157832"/>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Tinos" pitchFamily="34" charset="0"/>
                <a:ea typeface="Tinos" pitchFamily="34" charset="-122"/>
                <a:cs typeface="Tinos" pitchFamily="34" charset="-120"/>
              </a:rPr>
              <a:t>Free 5-copy shelf talkers + tasting cards per SKU on first order</a:t>
            </a:r>
            <a:endParaRPr lang="en-US" sz="956" dirty="0"/>
          </a:p>
        </p:txBody>
      </p:sp>
      <p:sp>
        <p:nvSpPr>
          <p:cNvPr id="27" name="Text 25"/>
          <p:cNvSpPr/>
          <p:nvPr/>
        </p:nvSpPr>
        <p:spPr>
          <a:xfrm>
            <a:off x="571500" y="3910757"/>
            <a:ext cx="1805047"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TERRITORY</a:t>
            </a:r>
            <a:endParaRPr lang="en-US" sz="800" dirty="0"/>
          </a:p>
        </p:txBody>
      </p:sp>
      <p:sp>
        <p:nvSpPr>
          <p:cNvPr id="28" name="Text 26"/>
          <p:cNvSpPr/>
          <p:nvPr/>
        </p:nvSpPr>
        <p:spPr>
          <a:xfrm>
            <a:off x="1985963" y="3882182"/>
            <a:ext cx="3223394" cy="340918"/>
          </a:xfrm>
          <a:prstGeom prst="rect">
            <a:avLst/>
          </a:prstGeom>
          <a:noFill/>
          <a:ln/>
        </p:spPr>
        <p:txBody>
          <a:bodyPr wrap="square" lIns="0" tIns="0" rIns="0" bIns="0" rtlCol="0" anchor="t"/>
          <a:lstStyle/>
          <a:p>
            <a:pPr algn="l" indent="0" marL="0">
              <a:lnSpc>
                <a:spcPts val="1243"/>
              </a:lnSpc>
              <a:buNone/>
            </a:pPr>
            <a:r>
              <a:rPr lang="en-US" sz="956" dirty="0">
                <a:solidFill>
                  <a:srgbClr val="2D4A3A"/>
                </a:solidFill>
                <a:latin typeface="Tinos" pitchFamily="34" charset="0"/>
                <a:ea typeface="Tinos" pitchFamily="34" charset="-122"/>
                <a:cs typeface="Tinos" pitchFamily="34" charset="-120"/>
              </a:rPr>
              <a:t>No exclusivity, but we will not oversaturate a single neighborhood</a:t>
            </a:r>
            <a:endParaRPr lang="en-US" sz="956" dirty="0"/>
          </a:p>
        </p:txBody>
      </p:sp>
      <p:sp>
        <p:nvSpPr>
          <p:cNvPr id="29" name="Text 27"/>
          <p:cNvSpPr/>
          <p:nvPr/>
        </p:nvSpPr>
        <p:spPr>
          <a:xfrm>
            <a:off x="5470103" y="1552203"/>
            <a:ext cx="3098825" cy="3130525"/>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30" name="Text 28"/>
          <p:cNvSpPr/>
          <p:nvPr/>
        </p:nvSpPr>
        <p:spPr>
          <a:xfrm>
            <a:off x="5673700" y="1741512"/>
            <a:ext cx="2801359" cy="164592"/>
          </a:xfrm>
          <a:prstGeom prst="rect">
            <a:avLst/>
          </a:prstGeom>
          <a:noFill/>
          <a:ln/>
        </p:spPr>
        <p:txBody>
          <a:bodyPr wrap="square" lIns="0" tIns="0" rIns="0" bIns="0" rtlCol="0" anchor="t"/>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RETAILER ECONOMICS — HOLLOW MOON SLEEP</a:t>
            </a:r>
            <a:endParaRPr lang="en-US" sz="800" dirty="0"/>
          </a:p>
        </p:txBody>
      </p:sp>
      <p:sp>
        <p:nvSpPr>
          <p:cNvPr id="31" name="Text 29"/>
          <p:cNvSpPr/>
          <p:nvPr/>
        </p:nvSpPr>
        <p:spPr>
          <a:xfrm>
            <a:off x="5650840" y="1975170"/>
            <a:ext cx="1795269" cy="325641"/>
          </a:xfrm>
          <a:prstGeom prst="rect">
            <a:avLst/>
          </a:prstGeom>
          <a:solidFill>
            <a:srgbClr val="2D4A3A"/>
          </a:solidFill>
          <a:ln/>
        </p:spPr>
        <p:txBody>
          <a:bodyPr wrap="square" rtlCol="0" anchor="ctr"/>
          <a:lstStyle/>
          <a:p>
            <a:pPr indent="0" marL="0">
              <a:buNone/>
            </a:pPr>
            <a:endParaRPr lang="en-US" dirty="0"/>
          </a:p>
        </p:txBody>
      </p:sp>
      <p:sp>
        <p:nvSpPr>
          <p:cNvPr id="32" name="Text 30"/>
          <p:cNvSpPr/>
          <p:nvPr/>
        </p:nvSpPr>
        <p:spPr>
          <a:xfrm>
            <a:off x="5773713" y="2079054"/>
            <a:ext cx="1334542"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F5F0E6"/>
                </a:solidFill>
                <a:latin typeface="Carlito" pitchFamily="34" charset="0"/>
                <a:ea typeface="Carlito" pitchFamily="34" charset="-122"/>
                <a:cs typeface="Carlito" pitchFamily="34" charset="-120"/>
              </a:rPr>
              <a:t>WHOLESALE</a:t>
            </a:r>
            <a:endParaRPr lang="en-US" sz="800" dirty="0"/>
          </a:p>
        </p:txBody>
      </p:sp>
      <p:sp>
        <p:nvSpPr>
          <p:cNvPr id="33" name="Text 31"/>
          <p:cNvSpPr/>
          <p:nvPr/>
        </p:nvSpPr>
        <p:spPr>
          <a:xfrm>
            <a:off x="7122542" y="2041550"/>
            <a:ext cx="200695" cy="208312"/>
          </a:xfrm>
          <a:prstGeom prst="rect">
            <a:avLst/>
          </a:prstGeom>
          <a:noFill/>
          <a:ln/>
        </p:spPr>
        <p:txBody>
          <a:bodyPr wrap="none" lIns="0" tIns="0" rIns="0" bIns="0" rtlCol="0" anchor="t"/>
          <a:lstStyle/>
          <a:p>
            <a:pPr algn="l" indent="0" marL="0">
              <a:lnSpc>
                <a:spcPts val="1519"/>
              </a:lnSpc>
              <a:buNone/>
            </a:pPr>
            <a:r>
              <a:rPr lang="en-US" sz="1013" spc="20" kern="0" dirty="0">
                <a:solidFill>
                  <a:srgbClr val="F5F0E6"/>
                </a:solidFill>
                <a:latin typeface="Liberation Sans Narrow" pitchFamily="34" charset="0"/>
                <a:ea typeface="Liberation Sans Narrow" pitchFamily="34" charset="-122"/>
                <a:cs typeface="Liberation Sans Narrow" pitchFamily="34" charset="-120"/>
              </a:rPr>
              <a:t>$34</a:t>
            </a:r>
            <a:endParaRPr lang="en-US" sz="1013" dirty="0"/>
          </a:p>
        </p:txBody>
      </p:sp>
      <p:sp>
        <p:nvSpPr>
          <p:cNvPr id="34" name="Text 32"/>
          <p:cNvSpPr/>
          <p:nvPr/>
        </p:nvSpPr>
        <p:spPr>
          <a:xfrm>
            <a:off x="5650840" y="2375220"/>
            <a:ext cx="987690" cy="325641"/>
          </a:xfrm>
          <a:prstGeom prst="rect">
            <a:avLst/>
          </a:prstGeom>
          <a:solidFill>
            <a:srgbClr val="C2853A"/>
          </a:solidFill>
          <a:ln/>
        </p:spPr>
        <p:txBody>
          <a:bodyPr wrap="square" rtlCol="0" anchor="ctr"/>
          <a:lstStyle/>
          <a:p>
            <a:pPr indent="0" marL="0">
              <a:buNone/>
            </a:pPr>
            <a:endParaRPr lang="en-US" dirty="0"/>
          </a:p>
        </p:txBody>
      </p:sp>
      <p:sp>
        <p:nvSpPr>
          <p:cNvPr id="35" name="Text 33"/>
          <p:cNvSpPr/>
          <p:nvPr/>
        </p:nvSpPr>
        <p:spPr>
          <a:xfrm>
            <a:off x="5773713" y="2420169"/>
            <a:ext cx="541251" cy="267891"/>
          </a:xfrm>
          <a:prstGeom prst="rect">
            <a:avLst/>
          </a:prstGeom>
          <a:noFill/>
          <a:ln/>
        </p:spPr>
        <p:txBody>
          <a:bodyPr wrap="square" lIns="0" tIns="0" rIns="0" bIns="0" rtlCol="0" anchor="t"/>
          <a:lstStyle/>
          <a:p>
            <a:pPr algn="l" indent="0" marL="0">
              <a:lnSpc>
                <a:spcPts val="928"/>
              </a:lnSpc>
              <a:buNone/>
            </a:pPr>
            <a:r>
              <a:rPr lang="en-US" sz="800" spc="87" kern="0" dirty="0">
                <a:solidFill>
                  <a:srgbClr val="1B2E24"/>
                </a:solidFill>
                <a:latin typeface="Carlito" pitchFamily="34" charset="0"/>
                <a:ea typeface="Carlito" pitchFamily="34" charset="-122"/>
                <a:cs typeface="Carlito" pitchFamily="34" charset="-120"/>
              </a:rPr>
              <a:t>RETAIL MARGIN</a:t>
            </a:r>
            <a:endParaRPr lang="en-US" sz="800" dirty="0"/>
          </a:p>
        </p:txBody>
      </p:sp>
      <p:sp>
        <p:nvSpPr>
          <p:cNvPr id="36" name="Text 34"/>
          <p:cNvSpPr/>
          <p:nvPr/>
        </p:nvSpPr>
        <p:spPr>
          <a:xfrm>
            <a:off x="6314963" y="2441600"/>
            <a:ext cx="200695" cy="208312"/>
          </a:xfrm>
          <a:prstGeom prst="rect">
            <a:avLst/>
          </a:prstGeom>
          <a:noFill/>
          <a:ln/>
        </p:spPr>
        <p:txBody>
          <a:bodyPr wrap="none" lIns="0" tIns="0" rIns="0" bIns="0" rtlCol="0" anchor="t"/>
          <a:lstStyle/>
          <a:p>
            <a:pPr algn="l" indent="0" marL="0">
              <a:lnSpc>
                <a:spcPts val="1519"/>
              </a:lnSpc>
              <a:buNone/>
            </a:pPr>
            <a:r>
              <a:rPr lang="en-US" sz="1013" spc="20" kern="0" dirty="0">
                <a:solidFill>
                  <a:srgbClr val="1B2E24"/>
                </a:solidFill>
                <a:latin typeface="Liberation Sans Narrow" pitchFamily="34" charset="0"/>
                <a:ea typeface="Liberation Sans Narrow" pitchFamily="34" charset="-122"/>
                <a:cs typeface="Liberation Sans Narrow" pitchFamily="34" charset="-120"/>
              </a:rPr>
              <a:t>$18</a:t>
            </a:r>
            <a:endParaRPr lang="en-US" sz="1013" dirty="0"/>
          </a:p>
        </p:txBody>
      </p:sp>
      <p:sp>
        <p:nvSpPr>
          <p:cNvPr id="37" name="Text 35"/>
          <p:cNvSpPr/>
          <p:nvPr/>
        </p:nvSpPr>
        <p:spPr>
          <a:xfrm>
            <a:off x="5677272" y="2791644"/>
            <a:ext cx="2684487" cy="292894"/>
          </a:xfrm>
          <a:prstGeom prst="rect">
            <a:avLst/>
          </a:prstGeom>
          <a:solidFill>
            <a:srgbClr val="F5F0E6"/>
          </a:solidFill>
          <a:ln w="7144">
            <a:solidFill>
              <a:srgbClr val="2D4A3A"/>
            </a:solidFill>
            <a:prstDash val="solid"/>
          </a:ln>
        </p:spPr>
        <p:txBody>
          <a:bodyPr wrap="square" rtlCol="0" anchor="ctr"/>
          <a:lstStyle/>
          <a:p>
            <a:pPr indent="0" marL="0">
              <a:buNone/>
            </a:pPr>
            <a:endParaRPr lang="en-US" dirty="0"/>
          </a:p>
        </p:txBody>
      </p:sp>
      <p:sp>
        <p:nvSpPr>
          <p:cNvPr id="38" name="Text 36"/>
          <p:cNvSpPr/>
          <p:nvPr/>
        </p:nvSpPr>
        <p:spPr>
          <a:xfrm>
            <a:off x="5780856" y="2879154"/>
            <a:ext cx="2262336"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2D4A3A"/>
                </a:solidFill>
                <a:latin typeface="Carlito" pitchFamily="34" charset="0"/>
                <a:ea typeface="Carlito" pitchFamily="34" charset="-122"/>
                <a:cs typeface="Carlito" pitchFamily="34" charset="-120"/>
              </a:rPr>
              <a:t>RETAIL PRICE</a:t>
            </a:r>
            <a:endParaRPr lang="en-US" sz="800" dirty="0"/>
          </a:p>
        </p:txBody>
      </p:sp>
      <p:sp>
        <p:nvSpPr>
          <p:cNvPr id="39" name="Text 37"/>
          <p:cNvSpPr/>
          <p:nvPr/>
        </p:nvSpPr>
        <p:spPr>
          <a:xfrm>
            <a:off x="8057480" y="2841650"/>
            <a:ext cx="200695" cy="208312"/>
          </a:xfrm>
          <a:prstGeom prst="rect">
            <a:avLst/>
          </a:prstGeom>
          <a:noFill/>
          <a:ln/>
        </p:spPr>
        <p:txBody>
          <a:bodyPr wrap="none" lIns="0" tIns="0" rIns="0" bIns="0" rtlCol="0" anchor="t"/>
          <a:lstStyle/>
          <a:p>
            <a:pPr algn="l" indent="0" marL="0">
              <a:lnSpc>
                <a:spcPts val="1519"/>
              </a:lnSpc>
              <a:buNone/>
            </a:pPr>
            <a:r>
              <a:rPr lang="en-US" sz="1013" spc="20" kern="0" dirty="0">
                <a:solidFill>
                  <a:srgbClr val="2D4A3A"/>
                </a:solidFill>
                <a:latin typeface="Liberation Sans Narrow" pitchFamily="34" charset="0"/>
                <a:ea typeface="Liberation Sans Narrow" pitchFamily="34" charset="-122"/>
                <a:cs typeface="Liberation Sans Narrow" pitchFamily="34" charset="-120"/>
              </a:rPr>
              <a:t>$52</a:t>
            </a:r>
            <a:endParaRPr lang="en-US" sz="1013" dirty="0"/>
          </a:p>
        </p:txBody>
      </p:sp>
      <p:sp>
        <p:nvSpPr>
          <p:cNvPr id="40" name="Text 38"/>
          <p:cNvSpPr/>
          <p:nvPr/>
        </p:nvSpPr>
        <p:spPr>
          <a:xfrm>
            <a:off x="5673700" y="3245272"/>
            <a:ext cx="2691631" cy="339999"/>
          </a:xfrm>
          <a:prstGeom prst="rect">
            <a:avLst/>
          </a:prstGeom>
          <a:noFill/>
          <a:ln/>
        </p:spPr>
        <p:txBody>
          <a:bodyPr wrap="square" lIns="0" tIns="0" rIns="0" bIns="0" rtlCol="0" anchor="t"/>
          <a:lstStyle/>
          <a:p>
            <a:pPr algn="l" indent="0" marL="0">
              <a:lnSpc>
                <a:spcPts val="1133"/>
              </a:lnSpc>
              <a:buNone/>
            </a:pPr>
            <a:r>
              <a:rPr lang="en-US" sz="800" dirty="0">
                <a:solidFill>
                  <a:srgbClr val="1B2E24"/>
                </a:solidFill>
                <a:latin typeface="Carlito" pitchFamily="34" charset="0"/>
                <a:ea typeface="Carlito" pitchFamily="34" charset="-122"/>
                <a:cs typeface="Carlito" pitchFamily="34" charset="-120"/>
              </a:rPr>
              <a:t>A 35% margin to the retailer, on a price point your customer already expects for a 2 oz craft tincture.</a:t>
            </a:r>
            <a:endParaRPr lang="en-US" sz="800" dirty="0"/>
          </a:p>
        </p:txBody>
      </p:sp>
      <p:sp>
        <p:nvSpPr>
          <p:cNvPr id="41" name="Text 39"/>
          <p:cNvSpPr/>
          <p:nvPr/>
        </p:nvSpPr>
        <p:spPr>
          <a:xfrm>
            <a:off x="5673700" y="4364831"/>
            <a:ext cx="2801359" cy="128588"/>
          </a:xfrm>
          <a:prstGeom prst="rect">
            <a:avLst/>
          </a:prstGeom>
          <a:noFill/>
          <a:ln/>
        </p:spPr>
        <p:txBody>
          <a:bodyPr wrap="square" lIns="0" tIns="0" rIns="0" bIns="0" rtlCol="0" anchor="t"/>
          <a:lstStyle/>
          <a:p>
            <a:pPr algn="l" indent="0" marL="0">
              <a:lnSpc>
                <a:spcPts val="1013"/>
              </a:lnSpc>
              <a:buNone/>
            </a:pPr>
            <a:r>
              <a:rPr lang="en-US" sz="800" i="1" dirty="0">
                <a:solidFill>
                  <a:srgbClr val="4A5A50"/>
                </a:solidFill>
                <a:latin typeface="Carlito" pitchFamily="34" charset="0"/>
                <a:ea typeface="Carlito" pitchFamily="34" charset="-122"/>
                <a:cs typeface="Carlito" pitchFamily="34" charset="-120"/>
              </a:rPr>
              <a:t>Margins scale on volume tiers — see line sheet.</a:t>
            </a:r>
            <a:endParaRPr lang="en-US" sz="800" dirty="0"/>
          </a:p>
        </p:txBody>
      </p:sp>
      <p:sp>
        <p:nvSpPr>
          <p:cNvPr id="42" name="Text 40"/>
          <p:cNvSpPr/>
          <p:nvPr/>
        </p:nvSpPr>
        <p:spPr>
          <a:xfrm>
            <a:off x="571500" y="4825603"/>
            <a:ext cx="7622270"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ALL MOUNTAIN APOTHECARY · WHOLESALE</a:t>
            </a:r>
            <a:endParaRPr lang="en-US" sz="800" dirty="0"/>
          </a:p>
        </p:txBody>
      </p:sp>
      <p:sp>
        <p:nvSpPr>
          <p:cNvPr id="43" name="Text 41"/>
          <p:cNvSpPr/>
          <p:nvPr/>
        </p:nvSpPr>
        <p:spPr>
          <a:xfrm>
            <a:off x="8208057" y="4825603"/>
            <a:ext cx="54074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Liberation Sans Narrow" pitchFamily="34" charset="0"/>
                <a:ea typeface="Liberation Sans Narrow" pitchFamily="34" charset="-122"/>
                <a:cs typeface="Liberation Sans Narrow" pitchFamily="34" charset="-120"/>
              </a:rPr>
              <a:t>07 / 09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71500" y="457200"/>
            <a:ext cx="857250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WHY STOCK US</a:t>
            </a:r>
            <a:endParaRPr lang="en-US" sz="800" dirty="0"/>
          </a:p>
        </p:txBody>
      </p:sp>
      <p:sp>
        <p:nvSpPr>
          <p:cNvPr id="3" name="Text 1"/>
          <p:cNvSpPr/>
          <p:nvPr/>
        </p:nvSpPr>
        <p:spPr>
          <a:xfrm>
            <a:off x="571500" y="617934"/>
            <a:ext cx="8001000" cy="339471"/>
          </a:xfrm>
          <a:prstGeom prst="rect">
            <a:avLst/>
          </a:prstGeom>
          <a:noFill/>
          <a:ln/>
        </p:spPr>
        <p:txBody>
          <a:bodyPr wrap="square" lIns="0" tIns="0" rIns="0" bIns="0" rtlCol="0" anchor="t"/>
          <a:lstStyle/>
          <a:p>
            <a:pPr algn="l" indent="0" marL="0">
              <a:lnSpc>
                <a:spcPts val="2475"/>
              </a:lnSpc>
              <a:buNone/>
            </a:pPr>
            <a:r>
              <a:rPr lang="en-US" sz="2250" dirty="0">
                <a:solidFill>
                  <a:srgbClr val="2D4A3A"/>
                </a:solidFill>
                <a:latin typeface="Tinos" pitchFamily="34" charset="0"/>
                <a:ea typeface="Tinos" pitchFamily="34" charset="-122"/>
                <a:cs typeface="Tinos" pitchFamily="34" charset="-120"/>
              </a:rPr>
              <a:t>A craft apothecary line, not a private label.</a:t>
            </a:r>
            <a:endParaRPr lang="en-US" sz="2250" dirty="0"/>
          </a:p>
        </p:txBody>
      </p:sp>
      <p:sp>
        <p:nvSpPr>
          <p:cNvPr id="4" name="Text 2"/>
          <p:cNvSpPr/>
          <p:nvPr/>
        </p:nvSpPr>
        <p:spPr>
          <a:xfrm>
            <a:off x="571500" y="1003697"/>
            <a:ext cx="342900" cy="14288"/>
          </a:xfrm>
          <a:prstGeom prst="rect">
            <a:avLst/>
          </a:prstGeom>
          <a:solidFill>
            <a:srgbClr val="C2853A"/>
          </a:solidFill>
          <a:ln/>
        </p:spPr>
        <p:txBody>
          <a:bodyPr wrap="square" rtlCol="0" anchor="ctr"/>
          <a:lstStyle/>
          <a:p>
            <a:pPr indent="0" marL="0">
              <a:buNone/>
            </a:pPr>
            <a:endParaRPr lang="en-US" dirty="0"/>
          </a:p>
        </p:txBody>
      </p:sp>
      <p:sp>
        <p:nvSpPr>
          <p:cNvPr id="5" name="Text 3"/>
          <p:cNvSpPr/>
          <p:nvPr/>
        </p:nvSpPr>
        <p:spPr>
          <a:xfrm>
            <a:off x="571500" y="1103709"/>
            <a:ext cx="6286500" cy="169999"/>
          </a:xfrm>
          <a:prstGeom prst="rect">
            <a:avLst/>
          </a:prstGeom>
          <a:noFill/>
          <a:ln/>
        </p:spPr>
        <p:txBody>
          <a:bodyPr wrap="square" lIns="0" tIns="0" rIns="0" bIns="0" rtlCol="0" anchor="t"/>
          <a:lstStyle/>
          <a:p>
            <a:pPr algn="l" indent="0" marL="0">
              <a:lnSpc>
                <a:spcPts val="1133"/>
              </a:lnSpc>
              <a:buNone/>
            </a:pPr>
            <a:r>
              <a:rPr lang="en-US" sz="800" dirty="0">
                <a:solidFill>
                  <a:srgbClr val="4A5A50"/>
                </a:solidFill>
                <a:latin typeface="Carlito" pitchFamily="34" charset="0"/>
                <a:ea typeface="Carlito" pitchFamily="34" charset="-122"/>
                <a:cs typeface="Carlito" pitchFamily="34" charset="-120"/>
              </a:rPr>
              <a:t>Four reasons this line earns shelf space and stays there — backed by reorder behavior from our existing Mid-Atlantic retail accounts.</a:t>
            </a:r>
            <a:endParaRPr lang="en-US" sz="800" dirty="0"/>
          </a:p>
        </p:txBody>
      </p:sp>
      <p:sp>
        <p:nvSpPr>
          <p:cNvPr id="6" name="Text 4"/>
          <p:cNvSpPr/>
          <p:nvPr/>
        </p:nvSpPr>
        <p:spPr>
          <a:xfrm>
            <a:off x="575072" y="1408323"/>
            <a:ext cx="1896666" cy="3274405"/>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7" name="Text 5"/>
          <p:cNvSpPr/>
          <p:nvPr/>
        </p:nvSpPr>
        <p:spPr>
          <a:xfrm>
            <a:off x="735806" y="1569058"/>
            <a:ext cx="1575197" cy="257175"/>
          </a:xfrm>
          <a:prstGeom prst="rect">
            <a:avLst/>
          </a:prstGeom>
          <a:noFill/>
          <a:ln/>
        </p:spPr>
        <p:txBody>
          <a:bodyPr wrap="none" lIns="0" tIns="0" rIns="0" bIns="0" rtlCol="0" anchor="ctr"/>
          <a:lstStyle/>
          <a:p>
            <a:pPr algn="ctr" indent="0" marL="0">
              <a:buNone/>
            </a:pPr>
            <a:r>
              <a:rPr lang="en-US" sz="2531" dirty="0">
                <a:solidFill>
                  <a:srgbClr val="C2853A"/>
                </a:solidFill>
                <a:latin typeface="Segoe UI Symbol" pitchFamily="34" charset="0"/>
                <a:ea typeface="Segoe UI Symbol" pitchFamily="34" charset="-122"/>
                <a:cs typeface="Segoe UI Symbol" pitchFamily="34" charset="-120"/>
              </a:rPr>
              <a:t>↻</a:t>
            </a:r>
            <a:endParaRPr lang="en-US" sz="2531" dirty="0"/>
          </a:p>
        </p:txBody>
      </p:sp>
      <p:sp>
        <p:nvSpPr>
          <p:cNvPr id="8" name="Text 6"/>
          <p:cNvSpPr/>
          <p:nvPr/>
        </p:nvSpPr>
        <p:spPr>
          <a:xfrm>
            <a:off x="735806" y="1926245"/>
            <a:ext cx="1575197" cy="315468"/>
          </a:xfrm>
          <a:prstGeom prst="rect">
            <a:avLst/>
          </a:prstGeom>
          <a:noFill/>
          <a:ln/>
        </p:spPr>
        <p:txBody>
          <a:bodyPr wrap="none" lIns="0" tIns="0" rIns="0" bIns="0" rtlCol="0" anchor="t">
            <a:normAutofit/>
          </a:bodyPr>
          <a:lstStyle/>
          <a:p>
            <a:pPr algn="l" indent="0" marL="0">
              <a:lnSpc>
                <a:spcPts val="2363"/>
              </a:lnSpc>
              <a:buNone/>
            </a:pPr>
            <a:r>
              <a:rPr lang="en-US" sz="2250" spc="-23" kern="0" dirty="0">
                <a:solidFill>
                  <a:srgbClr val="2D4A3A"/>
                </a:solidFill>
                <a:latin typeface="Liberation Sans Narrow" pitchFamily="34" charset="0"/>
                <a:ea typeface="Liberation Sans Narrow" pitchFamily="34" charset="-122"/>
                <a:cs typeface="Liberation Sans Narrow" pitchFamily="34" charset="-120"/>
              </a:rPr>
              <a:t>32%</a:t>
            </a:r>
            <a:endParaRPr lang="en-US" sz="2250" dirty="0"/>
          </a:p>
        </p:txBody>
      </p:sp>
      <p:sp>
        <p:nvSpPr>
          <p:cNvPr id="9" name="Text 7"/>
          <p:cNvSpPr/>
          <p:nvPr/>
        </p:nvSpPr>
        <p:spPr>
          <a:xfrm>
            <a:off x="735806" y="2269145"/>
            <a:ext cx="1575197"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4A5A50"/>
                </a:solidFill>
                <a:latin typeface="Liberation Sans Narrow" pitchFamily="34" charset="0"/>
                <a:ea typeface="Liberation Sans Narrow" pitchFamily="34" charset="-122"/>
                <a:cs typeface="Liberation Sans Narrow" pitchFamily="34" charset="-120"/>
              </a:rPr>
              <a:t>90-DAY REORDER RATE</a:t>
            </a:r>
            <a:endParaRPr lang="en-US" sz="800" dirty="0"/>
          </a:p>
        </p:txBody>
      </p:sp>
      <p:sp>
        <p:nvSpPr>
          <p:cNvPr id="10" name="Text 8"/>
          <p:cNvSpPr/>
          <p:nvPr/>
        </p:nvSpPr>
        <p:spPr>
          <a:xfrm>
            <a:off x="735806" y="2476314"/>
            <a:ext cx="1575197" cy="7144"/>
          </a:xfrm>
          <a:prstGeom prst="rect">
            <a:avLst/>
          </a:prstGeom>
          <a:solidFill>
            <a:srgbClr val="C8BFA8"/>
          </a:solidFill>
          <a:ln/>
        </p:spPr>
        <p:txBody>
          <a:bodyPr wrap="square" rtlCol="0" anchor="ctr"/>
          <a:lstStyle/>
          <a:p>
            <a:pPr indent="0" marL="0">
              <a:buNone/>
            </a:pPr>
            <a:endParaRPr lang="en-US" dirty="0"/>
          </a:p>
        </p:txBody>
      </p:sp>
      <p:sp>
        <p:nvSpPr>
          <p:cNvPr id="11" name="Text 9"/>
          <p:cNvSpPr/>
          <p:nvPr/>
        </p:nvSpPr>
        <p:spPr>
          <a:xfrm>
            <a:off x="735806" y="2583470"/>
            <a:ext cx="1575197" cy="166601"/>
          </a:xfrm>
          <a:prstGeom prst="rect">
            <a:avLst/>
          </a:prstGeom>
          <a:noFill/>
          <a:ln/>
        </p:spPr>
        <p:txBody>
          <a:bodyPr wrap="none" lIns="0" tIns="0" rIns="0" bIns="0" rtlCol="0" anchor="t"/>
          <a:lstStyle/>
          <a:p>
            <a:pPr algn="l" indent="0" marL="0">
              <a:lnSpc>
                <a:spcPts val="1215"/>
              </a:lnSpc>
              <a:buNone/>
            </a:pPr>
            <a:r>
              <a:rPr lang="en-US" sz="1013" dirty="0">
                <a:solidFill>
                  <a:srgbClr val="2D4A3A"/>
                </a:solidFill>
                <a:latin typeface="Tinos" pitchFamily="34" charset="0"/>
                <a:ea typeface="Tinos" pitchFamily="34" charset="-122"/>
                <a:cs typeface="Tinos" pitchFamily="34" charset="-120"/>
              </a:rPr>
              <a:t>Customers come back.</a:t>
            </a:r>
            <a:endParaRPr lang="en-US" sz="1013" dirty="0"/>
          </a:p>
        </p:txBody>
      </p:sp>
      <p:sp>
        <p:nvSpPr>
          <p:cNvPr id="12" name="Text 10"/>
          <p:cNvSpPr/>
          <p:nvPr/>
        </p:nvSpPr>
        <p:spPr>
          <a:xfrm>
            <a:off x="735806" y="2794881"/>
            <a:ext cx="1575197" cy="877253"/>
          </a:xfrm>
          <a:prstGeom prst="rect">
            <a:avLst/>
          </a:prstGeom>
          <a:noFill/>
          <a:ln/>
        </p:spPr>
        <p:txBody>
          <a:bodyPr wrap="square" lIns="0" tIns="0" rIns="0" bIns="0" rtlCol="0" anchor="t"/>
          <a:lstStyle/>
          <a:p>
            <a:pPr algn="l" indent="0" marL="0">
              <a:lnSpc>
                <a:spcPts val="1080"/>
              </a:lnSpc>
              <a:buNone/>
            </a:pPr>
            <a:r>
              <a:rPr lang="en-US" sz="800" dirty="0">
                <a:solidFill>
                  <a:srgbClr val="1B2E24"/>
                </a:solidFill>
                <a:latin typeface="Carlito" pitchFamily="34" charset="0"/>
                <a:ea typeface="Carlito" pitchFamily="34" charset="-122"/>
                <a:cs typeface="Carlito" pitchFamily="34" charset="-120"/>
              </a:rPr>
              <a:t>Across our six existing retail accounts, nearly one in three customers who buy an AMA elixir returns for a second SKU within 90 days. Sleep and Daily Tonic drive the highest cross-purchase.</a:t>
            </a:r>
            <a:endParaRPr lang="en-US" sz="800" dirty="0"/>
          </a:p>
        </p:txBody>
      </p:sp>
      <p:sp>
        <p:nvSpPr>
          <p:cNvPr id="13" name="Text 11"/>
          <p:cNvSpPr/>
          <p:nvPr/>
        </p:nvSpPr>
        <p:spPr>
          <a:xfrm>
            <a:off x="2607469" y="1408323"/>
            <a:ext cx="1896666" cy="3274405"/>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14" name="Text 12"/>
          <p:cNvSpPr/>
          <p:nvPr/>
        </p:nvSpPr>
        <p:spPr>
          <a:xfrm>
            <a:off x="2768203" y="1569058"/>
            <a:ext cx="1575197" cy="257175"/>
          </a:xfrm>
          <a:prstGeom prst="rect">
            <a:avLst/>
          </a:prstGeom>
          <a:noFill/>
          <a:ln/>
        </p:spPr>
        <p:txBody>
          <a:bodyPr wrap="none" lIns="0" tIns="0" rIns="0" bIns="0" rtlCol="0" anchor="ctr"/>
          <a:lstStyle/>
          <a:p>
            <a:pPr algn="ctr" indent="0" marL="0">
              <a:buNone/>
            </a:pPr>
            <a:r>
              <a:rPr lang="en-US" sz="2531" dirty="0">
                <a:solidFill>
                  <a:srgbClr val="C2853A"/>
                </a:solidFill>
                <a:latin typeface="Segoe UI Symbol" pitchFamily="34" charset="0"/>
                <a:ea typeface="Segoe UI Symbol" pitchFamily="34" charset="-122"/>
                <a:cs typeface="Segoe UI Symbol" pitchFamily="34" charset="-120"/>
              </a:rPr>
              <a:t>✓</a:t>
            </a:r>
            <a:endParaRPr lang="en-US" sz="2531" dirty="0"/>
          </a:p>
        </p:txBody>
      </p:sp>
      <p:sp>
        <p:nvSpPr>
          <p:cNvPr id="15" name="Text 13"/>
          <p:cNvSpPr/>
          <p:nvPr/>
        </p:nvSpPr>
        <p:spPr>
          <a:xfrm>
            <a:off x="2768203" y="1926245"/>
            <a:ext cx="1575197" cy="315468"/>
          </a:xfrm>
          <a:prstGeom prst="rect">
            <a:avLst/>
          </a:prstGeom>
          <a:noFill/>
          <a:ln/>
        </p:spPr>
        <p:txBody>
          <a:bodyPr wrap="none" lIns="0" tIns="0" rIns="0" bIns="0" rtlCol="0" anchor="t">
            <a:normAutofit/>
          </a:bodyPr>
          <a:lstStyle/>
          <a:p>
            <a:pPr algn="l" indent="0" marL="0">
              <a:lnSpc>
                <a:spcPts val="2363"/>
              </a:lnSpc>
              <a:buNone/>
            </a:pPr>
            <a:r>
              <a:rPr lang="en-US" sz="2250" spc="-23" kern="0" dirty="0">
                <a:solidFill>
                  <a:srgbClr val="2D4A3A"/>
                </a:solidFill>
                <a:latin typeface="Liberation Sans Narrow" pitchFamily="34" charset="0"/>
                <a:ea typeface="Liberation Sans Narrow" pitchFamily="34" charset="-122"/>
                <a:cs typeface="Liberation Sans Narrow" pitchFamily="34" charset="-120"/>
              </a:rPr>
              <a:t>100%</a:t>
            </a:r>
            <a:endParaRPr lang="en-US" sz="2250" dirty="0"/>
          </a:p>
        </p:txBody>
      </p:sp>
      <p:sp>
        <p:nvSpPr>
          <p:cNvPr id="16" name="Text 14"/>
          <p:cNvSpPr/>
          <p:nvPr/>
        </p:nvSpPr>
        <p:spPr>
          <a:xfrm>
            <a:off x="2768203" y="2269145"/>
            <a:ext cx="1575197"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4A5A50"/>
                </a:solidFill>
                <a:latin typeface="Carlito" pitchFamily="34" charset="0"/>
                <a:ea typeface="Carlito" pitchFamily="34" charset="-122"/>
                <a:cs typeface="Carlito" pitchFamily="34" charset="-120"/>
              </a:rPr>
              <a:t>TRACEABLE TO SOURCE</a:t>
            </a:r>
            <a:endParaRPr lang="en-US" sz="800" dirty="0"/>
          </a:p>
        </p:txBody>
      </p:sp>
      <p:sp>
        <p:nvSpPr>
          <p:cNvPr id="17" name="Text 15"/>
          <p:cNvSpPr/>
          <p:nvPr/>
        </p:nvSpPr>
        <p:spPr>
          <a:xfrm>
            <a:off x="2768203" y="2476314"/>
            <a:ext cx="1575197" cy="7144"/>
          </a:xfrm>
          <a:prstGeom prst="rect">
            <a:avLst/>
          </a:prstGeom>
          <a:solidFill>
            <a:srgbClr val="C8BFA8"/>
          </a:solidFill>
          <a:ln/>
        </p:spPr>
        <p:txBody>
          <a:bodyPr wrap="square" rtlCol="0" anchor="ctr"/>
          <a:lstStyle/>
          <a:p>
            <a:pPr indent="0" marL="0">
              <a:buNone/>
            </a:pPr>
            <a:endParaRPr lang="en-US" dirty="0"/>
          </a:p>
        </p:txBody>
      </p:sp>
      <p:sp>
        <p:nvSpPr>
          <p:cNvPr id="18" name="Text 16"/>
          <p:cNvSpPr/>
          <p:nvPr/>
        </p:nvSpPr>
        <p:spPr>
          <a:xfrm>
            <a:off x="2768203" y="2583470"/>
            <a:ext cx="1575197" cy="166601"/>
          </a:xfrm>
          <a:prstGeom prst="rect">
            <a:avLst/>
          </a:prstGeom>
          <a:noFill/>
          <a:ln/>
        </p:spPr>
        <p:txBody>
          <a:bodyPr wrap="none" lIns="0" tIns="0" rIns="0" bIns="0" rtlCol="0" anchor="t"/>
          <a:lstStyle/>
          <a:p>
            <a:pPr algn="l" indent="0" marL="0">
              <a:lnSpc>
                <a:spcPts val="1215"/>
              </a:lnSpc>
              <a:buNone/>
            </a:pPr>
            <a:r>
              <a:rPr lang="en-US" sz="1013" dirty="0">
                <a:solidFill>
                  <a:srgbClr val="2D4A3A"/>
                </a:solidFill>
                <a:latin typeface="Tinos" pitchFamily="34" charset="0"/>
                <a:ea typeface="Tinos" pitchFamily="34" charset="-122"/>
                <a:cs typeface="Tinos" pitchFamily="34" charset="-120"/>
              </a:rPr>
              <a:t>Provenance you can show.</a:t>
            </a:r>
            <a:endParaRPr lang="en-US" sz="1013" dirty="0"/>
          </a:p>
        </p:txBody>
      </p:sp>
      <p:sp>
        <p:nvSpPr>
          <p:cNvPr id="19" name="Text 17"/>
          <p:cNvSpPr/>
          <p:nvPr/>
        </p:nvSpPr>
        <p:spPr>
          <a:xfrm>
            <a:off x="2768203" y="2794881"/>
            <a:ext cx="1575197" cy="877253"/>
          </a:xfrm>
          <a:prstGeom prst="rect">
            <a:avLst/>
          </a:prstGeom>
          <a:noFill/>
          <a:ln/>
        </p:spPr>
        <p:txBody>
          <a:bodyPr wrap="square" lIns="0" tIns="0" rIns="0" bIns="0" rtlCol="0" anchor="t"/>
          <a:lstStyle/>
          <a:p>
            <a:pPr algn="l" indent="0" marL="0">
              <a:lnSpc>
                <a:spcPts val="1080"/>
              </a:lnSpc>
              <a:buNone/>
            </a:pPr>
            <a:r>
              <a:rPr lang="en-US" sz="800" dirty="0">
                <a:solidFill>
                  <a:srgbClr val="1B2E24"/>
                </a:solidFill>
                <a:latin typeface="Carlito" pitchFamily="34" charset="0"/>
                <a:ea typeface="Carlito" pitchFamily="34" charset="-122"/>
                <a:cs typeface="Carlito" pitchFamily="34" charset="-120"/>
              </a:rPr>
              <a:t>Every label names the farm, ridge, or wildcraft region. Your customers want to know where their herbs come from — and now they can, on the shelf, without a website lookup.</a:t>
            </a:r>
            <a:endParaRPr lang="en-US" sz="800" dirty="0"/>
          </a:p>
        </p:txBody>
      </p:sp>
      <p:sp>
        <p:nvSpPr>
          <p:cNvPr id="20" name="Text 18"/>
          <p:cNvSpPr/>
          <p:nvPr/>
        </p:nvSpPr>
        <p:spPr>
          <a:xfrm>
            <a:off x="4639866" y="1408323"/>
            <a:ext cx="1896666" cy="3274405"/>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21" name="Text 19"/>
          <p:cNvSpPr/>
          <p:nvPr/>
        </p:nvSpPr>
        <p:spPr>
          <a:xfrm>
            <a:off x="4800600" y="1569058"/>
            <a:ext cx="1575197" cy="257175"/>
          </a:xfrm>
          <a:prstGeom prst="rect">
            <a:avLst/>
          </a:prstGeom>
          <a:noFill/>
          <a:ln/>
        </p:spPr>
        <p:txBody>
          <a:bodyPr wrap="none" lIns="0" tIns="0" rIns="0" bIns="0" rtlCol="0" anchor="ctr"/>
          <a:lstStyle/>
          <a:p>
            <a:pPr algn="ctr" indent="0" marL="0">
              <a:buNone/>
            </a:pPr>
            <a:r>
              <a:rPr lang="en-US" sz="2531" dirty="0">
                <a:solidFill>
                  <a:srgbClr val="C2853A"/>
                </a:solidFill>
                <a:latin typeface="Segoe UI Symbol" pitchFamily="34" charset="0"/>
                <a:ea typeface="Segoe UI Symbol" pitchFamily="34" charset="-122"/>
                <a:cs typeface="Segoe UI Symbol" pitchFamily="34" charset="-120"/>
              </a:rPr>
              <a:t>🏪</a:t>
            </a:r>
            <a:endParaRPr lang="en-US" sz="2531" dirty="0"/>
          </a:p>
        </p:txBody>
      </p:sp>
      <p:sp>
        <p:nvSpPr>
          <p:cNvPr id="22" name="Text 20"/>
          <p:cNvSpPr/>
          <p:nvPr/>
        </p:nvSpPr>
        <p:spPr>
          <a:xfrm>
            <a:off x="4800600" y="1926245"/>
            <a:ext cx="1575197" cy="315468"/>
          </a:xfrm>
          <a:prstGeom prst="rect">
            <a:avLst/>
          </a:prstGeom>
          <a:noFill/>
          <a:ln/>
        </p:spPr>
        <p:txBody>
          <a:bodyPr wrap="none" lIns="0" tIns="0" rIns="0" bIns="0" rtlCol="0" anchor="t">
            <a:normAutofit/>
          </a:bodyPr>
          <a:lstStyle/>
          <a:p>
            <a:pPr algn="l" indent="0" marL="0">
              <a:lnSpc>
                <a:spcPts val="2363"/>
              </a:lnSpc>
              <a:buNone/>
            </a:pPr>
            <a:r>
              <a:rPr lang="en-US" sz="2250" spc="-23" kern="0" dirty="0">
                <a:solidFill>
                  <a:srgbClr val="2D4A3A"/>
                </a:solidFill>
                <a:latin typeface="Liberation Sans Narrow" pitchFamily="34" charset="0"/>
                <a:ea typeface="Liberation Sans Narrow" pitchFamily="34" charset="-122"/>
                <a:cs typeface="Liberation Sans Narrow" pitchFamily="34" charset="-120"/>
              </a:rPr>
              <a:t>&lt;200</a:t>
            </a:r>
            <a:endParaRPr lang="en-US" sz="2250" dirty="0"/>
          </a:p>
        </p:txBody>
      </p:sp>
      <p:sp>
        <p:nvSpPr>
          <p:cNvPr id="23" name="Text 21"/>
          <p:cNvSpPr/>
          <p:nvPr/>
        </p:nvSpPr>
        <p:spPr>
          <a:xfrm>
            <a:off x="4800600" y="2269145"/>
            <a:ext cx="1575197"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4A5A50"/>
                </a:solidFill>
                <a:latin typeface="Carlito" pitchFamily="34" charset="0"/>
                <a:ea typeface="Carlito" pitchFamily="34" charset="-122"/>
                <a:cs typeface="Carlito" pitchFamily="34" charset="-120"/>
              </a:rPr>
              <a:t>BOTTLES PER BATCH</a:t>
            </a:r>
            <a:endParaRPr lang="en-US" sz="800" dirty="0"/>
          </a:p>
        </p:txBody>
      </p:sp>
      <p:sp>
        <p:nvSpPr>
          <p:cNvPr id="24" name="Text 22"/>
          <p:cNvSpPr/>
          <p:nvPr/>
        </p:nvSpPr>
        <p:spPr>
          <a:xfrm>
            <a:off x="4800600" y="2476314"/>
            <a:ext cx="1575197" cy="7144"/>
          </a:xfrm>
          <a:prstGeom prst="rect">
            <a:avLst/>
          </a:prstGeom>
          <a:solidFill>
            <a:srgbClr val="C8BFA8"/>
          </a:solidFill>
          <a:ln/>
        </p:spPr>
        <p:txBody>
          <a:bodyPr wrap="square" rtlCol="0" anchor="ctr"/>
          <a:lstStyle/>
          <a:p>
            <a:pPr indent="0" marL="0">
              <a:buNone/>
            </a:pPr>
            <a:endParaRPr lang="en-US" dirty="0"/>
          </a:p>
        </p:txBody>
      </p:sp>
      <p:sp>
        <p:nvSpPr>
          <p:cNvPr id="25" name="Text 23"/>
          <p:cNvSpPr/>
          <p:nvPr/>
        </p:nvSpPr>
        <p:spPr>
          <a:xfrm>
            <a:off x="4800600" y="2583470"/>
            <a:ext cx="1575197" cy="166601"/>
          </a:xfrm>
          <a:prstGeom prst="rect">
            <a:avLst/>
          </a:prstGeom>
          <a:noFill/>
          <a:ln/>
        </p:spPr>
        <p:txBody>
          <a:bodyPr wrap="none" lIns="0" tIns="0" rIns="0" bIns="0" rtlCol="0" anchor="t"/>
          <a:lstStyle/>
          <a:p>
            <a:pPr algn="l" indent="0" marL="0">
              <a:lnSpc>
                <a:spcPts val="1215"/>
              </a:lnSpc>
              <a:buNone/>
            </a:pPr>
            <a:r>
              <a:rPr lang="en-US" sz="1013" dirty="0">
                <a:solidFill>
                  <a:srgbClr val="2D4A3A"/>
                </a:solidFill>
                <a:latin typeface="Tinos" pitchFamily="34" charset="0"/>
                <a:ea typeface="Tinos" pitchFamily="34" charset="-122"/>
                <a:cs typeface="Tinos" pitchFamily="34" charset="-120"/>
              </a:rPr>
              <a:t>Scarcity that sells.</a:t>
            </a:r>
            <a:endParaRPr lang="en-US" sz="1013" dirty="0"/>
          </a:p>
        </p:txBody>
      </p:sp>
      <p:sp>
        <p:nvSpPr>
          <p:cNvPr id="26" name="Text 24"/>
          <p:cNvSpPr/>
          <p:nvPr/>
        </p:nvSpPr>
        <p:spPr>
          <a:xfrm>
            <a:off x="4800600" y="2794881"/>
            <a:ext cx="1575197" cy="877253"/>
          </a:xfrm>
          <a:prstGeom prst="rect">
            <a:avLst/>
          </a:prstGeom>
          <a:noFill/>
          <a:ln/>
        </p:spPr>
        <p:txBody>
          <a:bodyPr wrap="square" lIns="0" tIns="0" rIns="0" bIns="0" rtlCol="0" anchor="t"/>
          <a:lstStyle/>
          <a:p>
            <a:pPr algn="l" indent="0" marL="0">
              <a:lnSpc>
                <a:spcPts val="1080"/>
              </a:lnSpc>
              <a:buNone/>
            </a:pPr>
            <a:r>
              <a:rPr lang="en-US" sz="800" dirty="0">
                <a:solidFill>
                  <a:srgbClr val="1B2E24"/>
                </a:solidFill>
                <a:latin typeface="Carlito" pitchFamily="34" charset="0"/>
                <a:ea typeface="Carlito" pitchFamily="34" charset="-122"/>
                <a:cs typeface="Carlito" pitchFamily="34" charset="-120"/>
              </a:rPr>
              <a:t>When you stock a batch, you are stocking a real, finite thing — not a SKU refreshed weekly. We tell retailers when a batch is near end, and they sell through faster when they do.</a:t>
            </a:r>
            <a:endParaRPr lang="en-US" sz="800" dirty="0"/>
          </a:p>
        </p:txBody>
      </p:sp>
      <p:sp>
        <p:nvSpPr>
          <p:cNvPr id="27" name="Text 25"/>
          <p:cNvSpPr/>
          <p:nvPr/>
        </p:nvSpPr>
        <p:spPr>
          <a:xfrm>
            <a:off x="6672263" y="1408323"/>
            <a:ext cx="1896666" cy="3274405"/>
          </a:xfrm>
          <a:prstGeom prst="rect">
            <a:avLst/>
          </a:prstGeom>
          <a:solidFill>
            <a:srgbClr val="EDE5D3"/>
          </a:solidFill>
          <a:ln w="7144">
            <a:solidFill>
              <a:srgbClr val="C8BFA8"/>
            </a:solidFill>
            <a:prstDash val="solid"/>
          </a:ln>
        </p:spPr>
        <p:txBody>
          <a:bodyPr wrap="square" rtlCol="0" anchor="ctr"/>
          <a:lstStyle/>
          <a:p>
            <a:pPr indent="0" marL="0">
              <a:buNone/>
            </a:pPr>
            <a:endParaRPr lang="en-US" dirty="0"/>
          </a:p>
        </p:txBody>
      </p:sp>
      <p:sp>
        <p:nvSpPr>
          <p:cNvPr id="28" name="Text 26"/>
          <p:cNvSpPr/>
          <p:nvPr/>
        </p:nvSpPr>
        <p:spPr>
          <a:xfrm>
            <a:off x="6832997" y="1569058"/>
            <a:ext cx="1575197" cy="257175"/>
          </a:xfrm>
          <a:prstGeom prst="rect">
            <a:avLst/>
          </a:prstGeom>
          <a:noFill/>
          <a:ln/>
        </p:spPr>
        <p:txBody>
          <a:bodyPr wrap="none" lIns="0" tIns="0" rIns="0" bIns="0" rtlCol="0" anchor="ctr"/>
          <a:lstStyle/>
          <a:p>
            <a:pPr algn="ctr" indent="0" marL="0">
              <a:buNone/>
            </a:pPr>
            <a:r>
              <a:rPr lang="en-US" sz="2531" dirty="0">
                <a:solidFill>
                  <a:srgbClr val="C2853A"/>
                </a:solidFill>
                <a:latin typeface="Segoe UI Symbol" pitchFamily="34" charset="0"/>
                <a:ea typeface="Segoe UI Symbol" pitchFamily="34" charset="-122"/>
                <a:cs typeface="Segoe UI Symbol" pitchFamily="34" charset="-120"/>
              </a:rPr>
              <a:t>◖</a:t>
            </a:r>
            <a:endParaRPr lang="en-US" sz="2531" dirty="0"/>
          </a:p>
        </p:txBody>
      </p:sp>
      <p:sp>
        <p:nvSpPr>
          <p:cNvPr id="29" name="Text 27"/>
          <p:cNvSpPr/>
          <p:nvPr/>
        </p:nvSpPr>
        <p:spPr>
          <a:xfrm>
            <a:off x="6832997" y="1926245"/>
            <a:ext cx="1575197" cy="315468"/>
          </a:xfrm>
          <a:prstGeom prst="rect">
            <a:avLst/>
          </a:prstGeom>
          <a:noFill/>
          <a:ln/>
        </p:spPr>
        <p:txBody>
          <a:bodyPr wrap="none" lIns="0" tIns="0" rIns="0" bIns="0" rtlCol="0" anchor="t">
            <a:normAutofit/>
          </a:bodyPr>
          <a:lstStyle/>
          <a:p>
            <a:pPr algn="l" indent="0" marL="0">
              <a:lnSpc>
                <a:spcPts val="2363"/>
              </a:lnSpc>
              <a:buNone/>
            </a:pPr>
            <a:r>
              <a:rPr lang="en-US" sz="2250" spc="-23" kern="0" dirty="0">
                <a:solidFill>
                  <a:srgbClr val="2D4A3A"/>
                </a:solidFill>
                <a:latin typeface="Tinos" pitchFamily="34" charset="0"/>
                <a:ea typeface="Tinos" pitchFamily="34" charset="-122"/>
                <a:cs typeface="Tinos" pitchFamily="34" charset="-120"/>
              </a:rPr>
              <a:t>$0</a:t>
            </a:r>
            <a:endParaRPr lang="en-US" sz="2250" dirty="0"/>
          </a:p>
        </p:txBody>
      </p:sp>
      <p:sp>
        <p:nvSpPr>
          <p:cNvPr id="30" name="Text 28"/>
          <p:cNvSpPr/>
          <p:nvPr/>
        </p:nvSpPr>
        <p:spPr>
          <a:xfrm>
            <a:off x="6832997" y="2269145"/>
            <a:ext cx="1575197"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4A5A50"/>
                </a:solidFill>
                <a:latin typeface="Carlito" pitchFamily="34" charset="0"/>
                <a:ea typeface="Carlito" pitchFamily="34" charset="-122"/>
                <a:cs typeface="Carlito" pitchFamily="34" charset="-120"/>
              </a:rPr>
              <a:t>SLOTTING FEES, EVER</a:t>
            </a:r>
            <a:endParaRPr lang="en-US" sz="800" dirty="0"/>
          </a:p>
        </p:txBody>
      </p:sp>
      <p:sp>
        <p:nvSpPr>
          <p:cNvPr id="31" name="Text 29"/>
          <p:cNvSpPr/>
          <p:nvPr/>
        </p:nvSpPr>
        <p:spPr>
          <a:xfrm>
            <a:off x="6832997" y="2476314"/>
            <a:ext cx="1575197" cy="7144"/>
          </a:xfrm>
          <a:prstGeom prst="rect">
            <a:avLst/>
          </a:prstGeom>
          <a:solidFill>
            <a:srgbClr val="C8BFA8"/>
          </a:solidFill>
          <a:ln/>
        </p:spPr>
        <p:txBody>
          <a:bodyPr wrap="square" rtlCol="0" anchor="ctr"/>
          <a:lstStyle/>
          <a:p>
            <a:pPr indent="0" marL="0">
              <a:buNone/>
            </a:pPr>
            <a:endParaRPr lang="en-US" dirty="0"/>
          </a:p>
        </p:txBody>
      </p:sp>
      <p:sp>
        <p:nvSpPr>
          <p:cNvPr id="32" name="Text 30"/>
          <p:cNvSpPr/>
          <p:nvPr/>
        </p:nvSpPr>
        <p:spPr>
          <a:xfrm>
            <a:off x="6832997" y="2583470"/>
            <a:ext cx="1669709" cy="166601"/>
          </a:xfrm>
          <a:prstGeom prst="rect">
            <a:avLst/>
          </a:prstGeom>
          <a:noFill/>
          <a:ln/>
        </p:spPr>
        <p:txBody>
          <a:bodyPr wrap="square" lIns="0" tIns="0" rIns="0" bIns="0" rtlCol="0" anchor="t"/>
          <a:lstStyle/>
          <a:p>
            <a:pPr algn="l" indent="0" marL="0">
              <a:lnSpc>
                <a:spcPts val="1215"/>
              </a:lnSpc>
              <a:buNone/>
            </a:pPr>
            <a:r>
              <a:rPr lang="en-US" sz="1013" dirty="0">
                <a:solidFill>
                  <a:srgbClr val="2D4A3A"/>
                </a:solidFill>
                <a:latin typeface="Tinos" pitchFamily="34" charset="0"/>
                <a:ea typeface="Tinos" pitchFamily="34" charset="-122"/>
                <a:cs typeface="Tinos" pitchFamily="34" charset="-120"/>
              </a:rPr>
              <a:t>We invest in sell-through.</a:t>
            </a:r>
            <a:endParaRPr lang="en-US" sz="1013" dirty="0"/>
          </a:p>
        </p:txBody>
      </p:sp>
      <p:sp>
        <p:nvSpPr>
          <p:cNvPr id="33" name="Text 31"/>
          <p:cNvSpPr/>
          <p:nvPr/>
        </p:nvSpPr>
        <p:spPr>
          <a:xfrm>
            <a:off x="6832997" y="2794881"/>
            <a:ext cx="1575197" cy="877253"/>
          </a:xfrm>
          <a:prstGeom prst="rect">
            <a:avLst/>
          </a:prstGeom>
          <a:noFill/>
          <a:ln/>
        </p:spPr>
        <p:txBody>
          <a:bodyPr wrap="square" lIns="0" tIns="0" rIns="0" bIns="0" rtlCol="0" anchor="t"/>
          <a:lstStyle/>
          <a:p>
            <a:pPr algn="l" indent="0" marL="0">
              <a:lnSpc>
                <a:spcPts val="1080"/>
              </a:lnSpc>
              <a:buNone/>
            </a:pPr>
            <a:r>
              <a:rPr lang="en-US" sz="800" dirty="0">
                <a:solidFill>
                  <a:srgbClr val="1B2E24"/>
                </a:solidFill>
                <a:latin typeface="Carlito" pitchFamily="34" charset="0"/>
                <a:ea typeface="Carlito" pitchFamily="34" charset="-122"/>
                <a:cs typeface="Carlito" pitchFamily="34" charset="-120"/>
              </a:rPr>
              <a:t>No pay-to-play. Instead: free shelf talkers, tasting cards, in-store herbalist visits on first stocking orders, and quarterly co-marketing for accounts hitting reorder thresholds.</a:t>
            </a:r>
            <a:endParaRPr lang="en-US" sz="800" dirty="0"/>
          </a:p>
        </p:txBody>
      </p:sp>
      <p:sp>
        <p:nvSpPr>
          <p:cNvPr id="34" name="Text 32"/>
          <p:cNvSpPr/>
          <p:nvPr/>
        </p:nvSpPr>
        <p:spPr>
          <a:xfrm>
            <a:off x="571500" y="4825603"/>
            <a:ext cx="7622270"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ALL MOUNTAIN APOTHECARY · WHY STOCK US</a:t>
            </a:r>
            <a:endParaRPr lang="en-US" sz="800" dirty="0"/>
          </a:p>
        </p:txBody>
      </p:sp>
      <p:sp>
        <p:nvSpPr>
          <p:cNvPr id="35" name="Text 33"/>
          <p:cNvSpPr/>
          <p:nvPr/>
        </p:nvSpPr>
        <p:spPr>
          <a:xfrm>
            <a:off x="8208057" y="4825603"/>
            <a:ext cx="54074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Liberation Sans Narrow" pitchFamily="34" charset="0"/>
                <a:ea typeface="Liberation Sans Narrow" pitchFamily="34" charset="-122"/>
                <a:cs typeface="Liberation Sans Narrow" pitchFamily="34" charset="-120"/>
              </a:rPr>
              <a:t>08 / 09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0" y="0"/>
            <a:ext cx="4572000" cy="5143500"/>
          </a:xfrm>
          <a:prstGeom prst="rect">
            <a:avLst/>
          </a:prstGeom>
          <a:solidFill>
            <a:srgbClr val="2D4A3A"/>
          </a:solidFill>
          <a:ln/>
        </p:spPr>
        <p:txBody>
          <a:bodyPr wrap="square" rtlCol="0" anchor="ctr"/>
          <a:lstStyle/>
          <a:p>
            <a:pPr indent="0" marL="0">
              <a:buNone/>
            </a:pPr>
            <a:endParaRPr lang="en-US" dirty="0"/>
          </a:p>
        </p:txBody>
      </p:sp>
      <p:sp>
        <p:nvSpPr>
          <p:cNvPr id="3" name="Text 1"/>
          <p:cNvSpPr/>
          <p:nvPr/>
        </p:nvSpPr>
        <p:spPr>
          <a:xfrm>
            <a:off x="400050" y="457200"/>
            <a:ext cx="377190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NEXT STEPS</a:t>
            </a:r>
            <a:endParaRPr lang="en-US" sz="800" dirty="0"/>
          </a:p>
        </p:txBody>
      </p:sp>
      <p:sp>
        <p:nvSpPr>
          <p:cNvPr id="4" name="Text 2"/>
          <p:cNvSpPr/>
          <p:nvPr/>
        </p:nvSpPr>
        <p:spPr>
          <a:xfrm>
            <a:off x="400050" y="675084"/>
            <a:ext cx="3771900" cy="453633"/>
          </a:xfrm>
          <a:prstGeom prst="rect">
            <a:avLst/>
          </a:prstGeom>
          <a:noFill/>
          <a:ln/>
        </p:spPr>
        <p:txBody>
          <a:bodyPr wrap="none" lIns="0" tIns="0" rIns="0" bIns="0" rtlCol="0" anchor="t"/>
          <a:lstStyle/>
          <a:p>
            <a:pPr algn="l" indent="0" marL="0">
              <a:lnSpc>
                <a:spcPts val="3307"/>
              </a:lnSpc>
              <a:buNone/>
            </a:pPr>
            <a:r>
              <a:rPr lang="en-US" sz="3150" dirty="0">
                <a:solidFill>
                  <a:srgbClr val="F5F0E6"/>
                </a:solidFill>
                <a:latin typeface="Tinos" pitchFamily="34" charset="0"/>
                <a:ea typeface="Tinos" pitchFamily="34" charset="-122"/>
                <a:cs typeface="Tinos" pitchFamily="34" charset="-120"/>
              </a:rPr>
              <a:t>Stock the mountains.</a:t>
            </a:r>
            <a:endParaRPr lang="en-US" sz="3150" dirty="0"/>
          </a:p>
        </p:txBody>
      </p:sp>
      <p:sp>
        <p:nvSpPr>
          <p:cNvPr id="5" name="Text 3"/>
          <p:cNvSpPr/>
          <p:nvPr/>
        </p:nvSpPr>
        <p:spPr>
          <a:xfrm>
            <a:off x="400050" y="1195127"/>
            <a:ext cx="3881628" cy="220608"/>
          </a:xfrm>
          <a:prstGeom prst="rect">
            <a:avLst/>
          </a:prstGeom>
          <a:noFill/>
          <a:ln/>
        </p:spPr>
        <p:txBody>
          <a:bodyPr wrap="square" lIns="0" tIns="0" rIns="0" bIns="0" rtlCol="0" anchor="t"/>
          <a:lstStyle/>
          <a:p>
            <a:pPr algn="l" indent="0" marL="0">
              <a:lnSpc>
                <a:spcPts val="1609"/>
              </a:lnSpc>
              <a:buNone/>
            </a:pPr>
            <a:r>
              <a:rPr lang="en-US" sz="1238" i="1" dirty="0">
                <a:solidFill>
                  <a:srgbClr val="D9A45E"/>
                </a:solidFill>
                <a:latin typeface="Tinos" pitchFamily="34" charset="0"/>
                <a:ea typeface="Tinos" pitchFamily="34" charset="-122"/>
                <a:cs typeface="Tinos" pitchFamily="34" charset="-120"/>
              </a:rPr>
              <a:t>Three steps to your first shelf.</a:t>
            </a:r>
            <a:endParaRPr lang="en-US" sz="1238" dirty="0"/>
          </a:p>
        </p:txBody>
      </p:sp>
      <p:sp>
        <p:nvSpPr>
          <p:cNvPr id="6" name="Text 4"/>
          <p:cNvSpPr/>
          <p:nvPr/>
        </p:nvSpPr>
        <p:spPr>
          <a:xfrm>
            <a:off x="400050" y="3285232"/>
            <a:ext cx="640080" cy="237606"/>
          </a:xfrm>
          <a:prstGeom prst="rect">
            <a:avLst/>
          </a:prstGeom>
          <a:noFill/>
          <a:ln/>
        </p:spPr>
        <p:txBody>
          <a:bodyPr wrap="none" lIns="0" tIns="0" rIns="0" bIns="0" rtlCol="0" anchor="t"/>
          <a:lstStyle/>
          <a:p>
            <a:pPr algn="l" indent="0" marL="0">
              <a:lnSpc>
                <a:spcPts val="1733"/>
              </a:lnSpc>
              <a:buNone/>
            </a:pPr>
            <a:r>
              <a:rPr lang="en-US" sz="1575" i="1" dirty="0">
                <a:solidFill>
                  <a:srgbClr val="C2853A"/>
                </a:solidFill>
                <a:latin typeface="Liberation Sans Narrow" pitchFamily="34" charset="0"/>
                <a:ea typeface="Liberation Sans Narrow" pitchFamily="34" charset="-122"/>
                <a:cs typeface="Liberation Sans Narrow" pitchFamily="34" charset="-120"/>
              </a:rPr>
              <a:t>01</a:t>
            </a:r>
            <a:endParaRPr lang="en-US" sz="1575" dirty="0"/>
          </a:p>
        </p:txBody>
      </p:sp>
      <p:sp>
        <p:nvSpPr>
          <p:cNvPr id="7" name="Text 5"/>
          <p:cNvSpPr/>
          <p:nvPr/>
        </p:nvSpPr>
        <p:spPr>
          <a:xfrm>
            <a:off x="914400" y="3285232"/>
            <a:ext cx="3257550" cy="339961"/>
          </a:xfrm>
          <a:prstGeom prst="rect">
            <a:avLst/>
          </a:prstGeom>
          <a:noFill/>
          <a:ln/>
        </p:spPr>
        <p:txBody>
          <a:bodyPr wrap="square" lIns="0" tIns="0" rIns="0" bIns="0" rtlCol="0" anchor="t"/>
          <a:lstStyle/>
          <a:p>
            <a:pPr algn="l" indent="0" marL="0">
              <a:lnSpc>
                <a:spcPts val="1221"/>
              </a:lnSpc>
              <a:buNone/>
            </a:pPr>
            <a:r>
              <a:rPr lang="en-US" sz="800" dirty="0">
                <a:solidFill>
                  <a:srgbClr val="F5F0E6"/>
                </a:solidFill>
                <a:latin typeface="Carlito" pitchFamily="34" charset="0"/>
                <a:ea typeface="Carlito" pitchFamily="34" charset="-122"/>
                <a:cs typeface="Carlito" pitchFamily="34" charset="-120"/>
              </a:rPr>
              <a:t>Reply to this deck with your shop name and target SKUs. We send a line sheet and a credit application.</a:t>
            </a:r>
            <a:endParaRPr lang="en-US" sz="800" dirty="0"/>
          </a:p>
        </p:txBody>
      </p:sp>
      <p:sp>
        <p:nvSpPr>
          <p:cNvPr id="8" name="Text 6"/>
          <p:cNvSpPr/>
          <p:nvPr/>
        </p:nvSpPr>
        <p:spPr>
          <a:xfrm>
            <a:off x="400050" y="3709392"/>
            <a:ext cx="3771900" cy="7144"/>
          </a:xfrm>
          <a:prstGeom prst="rect">
            <a:avLst/>
          </a:prstGeom>
          <a:solidFill>
            <a:srgbClr val="F5F0E6">
              <a:alpha val="18000"/>
            </a:srgbClr>
          </a:solidFill>
          <a:ln/>
        </p:spPr>
        <p:txBody>
          <a:bodyPr wrap="square" rtlCol="0" anchor="ctr"/>
          <a:lstStyle/>
          <a:p>
            <a:pPr indent="0" marL="0">
              <a:buNone/>
            </a:pPr>
            <a:endParaRPr lang="en-US" dirty="0"/>
          </a:p>
        </p:txBody>
      </p:sp>
      <p:sp>
        <p:nvSpPr>
          <p:cNvPr id="9" name="Text 7"/>
          <p:cNvSpPr/>
          <p:nvPr/>
        </p:nvSpPr>
        <p:spPr>
          <a:xfrm>
            <a:off x="400050" y="3830836"/>
            <a:ext cx="640080" cy="237606"/>
          </a:xfrm>
          <a:prstGeom prst="rect">
            <a:avLst/>
          </a:prstGeom>
          <a:noFill/>
          <a:ln/>
        </p:spPr>
        <p:txBody>
          <a:bodyPr wrap="none" lIns="0" tIns="0" rIns="0" bIns="0" rtlCol="0" anchor="t"/>
          <a:lstStyle/>
          <a:p>
            <a:pPr algn="l" indent="0" marL="0">
              <a:lnSpc>
                <a:spcPts val="1733"/>
              </a:lnSpc>
              <a:buNone/>
            </a:pPr>
            <a:r>
              <a:rPr lang="en-US" sz="1575" i="1" dirty="0">
                <a:solidFill>
                  <a:srgbClr val="C2853A"/>
                </a:solidFill>
                <a:latin typeface="Liberation Sans Narrow" pitchFamily="34" charset="0"/>
                <a:ea typeface="Liberation Sans Narrow" pitchFamily="34" charset="-122"/>
                <a:cs typeface="Liberation Sans Narrow" pitchFamily="34" charset="-120"/>
              </a:rPr>
              <a:t>02</a:t>
            </a:r>
            <a:endParaRPr lang="en-US" sz="1575" dirty="0"/>
          </a:p>
        </p:txBody>
      </p:sp>
      <p:sp>
        <p:nvSpPr>
          <p:cNvPr id="10" name="Text 8"/>
          <p:cNvSpPr/>
          <p:nvPr/>
        </p:nvSpPr>
        <p:spPr>
          <a:xfrm>
            <a:off x="914400" y="3830836"/>
            <a:ext cx="3257550" cy="339961"/>
          </a:xfrm>
          <a:prstGeom prst="rect">
            <a:avLst/>
          </a:prstGeom>
          <a:noFill/>
          <a:ln/>
        </p:spPr>
        <p:txBody>
          <a:bodyPr wrap="square" lIns="0" tIns="0" rIns="0" bIns="0" rtlCol="0" anchor="t"/>
          <a:lstStyle/>
          <a:p>
            <a:pPr algn="l" indent="0" marL="0">
              <a:lnSpc>
                <a:spcPts val="1221"/>
              </a:lnSpc>
              <a:buNone/>
            </a:pPr>
            <a:r>
              <a:rPr lang="en-US" sz="800" dirty="0">
                <a:solidFill>
                  <a:srgbClr val="F5F0E6"/>
                </a:solidFill>
                <a:latin typeface="Carlito" pitchFamily="34" charset="0"/>
                <a:ea typeface="Carlito" pitchFamily="34" charset="-122"/>
                <a:cs typeface="Carlito" pitchFamily="34" charset="-120"/>
              </a:rPr>
              <a:t>Place a first mixed-case order (min $300 wholesale). We ship within 10 business days, with free shelf talkers.</a:t>
            </a:r>
            <a:endParaRPr lang="en-US" sz="800" dirty="0"/>
          </a:p>
        </p:txBody>
      </p:sp>
      <p:sp>
        <p:nvSpPr>
          <p:cNvPr id="11" name="Text 9"/>
          <p:cNvSpPr/>
          <p:nvPr/>
        </p:nvSpPr>
        <p:spPr>
          <a:xfrm>
            <a:off x="400050" y="4254996"/>
            <a:ext cx="3771900" cy="7144"/>
          </a:xfrm>
          <a:prstGeom prst="rect">
            <a:avLst/>
          </a:prstGeom>
          <a:solidFill>
            <a:srgbClr val="F5F0E6">
              <a:alpha val="18000"/>
            </a:srgbClr>
          </a:solidFill>
          <a:ln/>
        </p:spPr>
        <p:txBody>
          <a:bodyPr wrap="square" rtlCol="0" anchor="ctr"/>
          <a:lstStyle/>
          <a:p>
            <a:pPr indent="0" marL="0">
              <a:buNone/>
            </a:pPr>
            <a:endParaRPr lang="en-US" dirty="0"/>
          </a:p>
        </p:txBody>
      </p:sp>
      <p:sp>
        <p:nvSpPr>
          <p:cNvPr id="12" name="Text 10"/>
          <p:cNvSpPr/>
          <p:nvPr/>
        </p:nvSpPr>
        <p:spPr>
          <a:xfrm>
            <a:off x="400050" y="4376440"/>
            <a:ext cx="640080" cy="237606"/>
          </a:xfrm>
          <a:prstGeom prst="rect">
            <a:avLst/>
          </a:prstGeom>
          <a:noFill/>
          <a:ln/>
        </p:spPr>
        <p:txBody>
          <a:bodyPr wrap="none" lIns="0" tIns="0" rIns="0" bIns="0" rtlCol="0" anchor="t"/>
          <a:lstStyle/>
          <a:p>
            <a:pPr algn="l" indent="0" marL="0">
              <a:lnSpc>
                <a:spcPts val="1733"/>
              </a:lnSpc>
              <a:buNone/>
            </a:pPr>
            <a:r>
              <a:rPr lang="en-US" sz="1575" i="1" dirty="0">
                <a:solidFill>
                  <a:srgbClr val="C2853A"/>
                </a:solidFill>
                <a:latin typeface="Liberation Sans Narrow" pitchFamily="34" charset="0"/>
                <a:ea typeface="Liberation Sans Narrow" pitchFamily="34" charset="-122"/>
                <a:cs typeface="Liberation Sans Narrow" pitchFamily="34" charset="-120"/>
              </a:rPr>
              <a:t>03</a:t>
            </a:r>
            <a:endParaRPr lang="en-US" sz="1575" dirty="0"/>
          </a:p>
        </p:txBody>
      </p:sp>
      <p:sp>
        <p:nvSpPr>
          <p:cNvPr id="13" name="Text 11"/>
          <p:cNvSpPr/>
          <p:nvPr/>
        </p:nvSpPr>
        <p:spPr>
          <a:xfrm>
            <a:off x="914400" y="4376440"/>
            <a:ext cx="3257550" cy="309860"/>
          </a:xfrm>
          <a:prstGeom prst="rect">
            <a:avLst/>
          </a:prstGeom>
          <a:noFill/>
          <a:ln/>
        </p:spPr>
        <p:txBody>
          <a:bodyPr wrap="square" lIns="0" tIns="0" rIns="0" bIns="0" rtlCol="0" anchor="t"/>
          <a:lstStyle/>
          <a:p>
            <a:pPr algn="l" indent="0" marL="0">
              <a:lnSpc>
                <a:spcPts val="1221"/>
              </a:lnSpc>
              <a:buNone/>
            </a:pPr>
            <a:r>
              <a:rPr lang="en-US" sz="800" dirty="0">
                <a:solidFill>
                  <a:srgbClr val="F5F0E6"/>
                </a:solidFill>
                <a:latin typeface="Carlito" pitchFamily="34" charset="0"/>
                <a:ea typeface="Carlito" pitchFamily="34" charset="-122"/>
                <a:cs typeface="Carlito" pitchFamily="34" charset="-120"/>
              </a:rPr>
              <a:t>After 60 days, our herbalist schedules a 30-min call to review sell-through and recommend your second order.</a:t>
            </a:r>
            <a:endParaRPr lang="en-US" sz="800" dirty="0"/>
          </a:p>
        </p:txBody>
      </p:sp>
      <p:sp>
        <p:nvSpPr>
          <p:cNvPr id="14" name="Text 12"/>
          <p:cNvSpPr/>
          <p:nvPr/>
        </p:nvSpPr>
        <p:spPr>
          <a:xfrm>
            <a:off x="4572000" y="0"/>
            <a:ext cx="4572000" cy="5143500"/>
          </a:xfrm>
          <a:prstGeom prst="rect">
            <a:avLst/>
          </a:prstGeom>
          <a:solidFill>
            <a:srgbClr val="F5F0E6"/>
          </a:solidFill>
          <a:ln/>
        </p:spPr>
        <p:txBody>
          <a:bodyPr wrap="square" rtlCol="0" anchor="ctr"/>
          <a:lstStyle/>
          <a:p>
            <a:pPr indent="0" marL="0">
              <a:buNone/>
            </a:pPr>
            <a:endParaRPr lang="en-US" dirty="0"/>
          </a:p>
        </p:txBody>
      </p:sp>
      <p:sp>
        <p:nvSpPr>
          <p:cNvPr id="15" name="Text 13"/>
          <p:cNvSpPr/>
          <p:nvPr/>
        </p:nvSpPr>
        <p:spPr>
          <a:xfrm>
            <a:off x="8321464" y="457200"/>
            <a:ext cx="422486"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C2853A"/>
                </a:solidFill>
                <a:latin typeface="Carlito" pitchFamily="34" charset="0"/>
                <a:ea typeface="Carlito" pitchFamily="34" charset="-122"/>
                <a:cs typeface="Carlito" pitchFamily="34" charset="-120"/>
              </a:rPr>
              <a:t>CONTACT</a:t>
            </a:r>
            <a:endParaRPr lang="en-US" sz="800" dirty="0"/>
          </a:p>
        </p:txBody>
      </p:sp>
      <p:sp>
        <p:nvSpPr>
          <p:cNvPr id="16" name="Text 14"/>
          <p:cNvSpPr/>
          <p:nvPr/>
        </p:nvSpPr>
        <p:spPr>
          <a:xfrm>
            <a:off x="4972050" y="732234"/>
            <a:ext cx="3771900" cy="266801"/>
          </a:xfrm>
          <a:prstGeom prst="rect">
            <a:avLst/>
          </a:prstGeom>
          <a:noFill/>
          <a:ln/>
        </p:spPr>
        <p:txBody>
          <a:bodyPr wrap="none" lIns="0" tIns="0" rIns="0" bIns="0" rtlCol="0" anchor="t">
            <a:normAutofit/>
          </a:bodyPr>
          <a:lstStyle/>
          <a:p>
            <a:pPr algn="l" indent="0" marL="0">
              <a:lnSpc>
                <a:spcPts val="1980"/>
              </a:lnSpc>
              <a:buNone/>
            </a:pPr>
            <a:r>
              <a:rPr lang="en-US" sz="1800" dirty="0">
                <a:solidFill>
                  <a:srgbClr val="2D4A3A"/>
                </a:solidFill>
                <a:latin typeface="Tinos" pitchFamily="34" charset="0"/>
                <a:ea typeface="Tinos" pitchFamily="34" charset="-122"/>
                <a:cs typeface="Tinos" pitchFamily="34" charset="-120"/>
              </a:rPr>
              <a:t>All Mountain Apothecary</a:t>
            </a:r>
            <a:endParaRPr lang="en-US" sz="1800" dirty="0"/>
          </a:p>
        </p:txBody>
      </p:sp>
      <p:sp>
        <p:nvSpPr>
          <p:cNvPr id="17" name="Text 15"/>
          <p:cNvSpPr/>
          <p:nvPr/>
        </p:nvSpPr>
        <p:spPr>
          <a:xfrm>
            <a:off x="4972050" y="1026468"/>
            <a:ext cx="3881628" cy="164592"/>
          </a:xfrm>
          <a:prstGeom prst="rect">
            <a:avLst/>
          </a:prstGeom>
          <a:noFill/>
          <a:ln/>
        </p:spPr>
        <p:txBody>
          <a:bodyPr wrap="square" lIns="0" tIns="0" rIns="0" bIns="0" rtlCol="0" anchor="t"/>
          <a:lstStyle/>
          <a:p>
            <a:pPr algn="l" indent="0" marL="0">
              <a:lnSpc>
                <a:spcPts val="1181"/>
              </a:lnSpc>
              <a:buNone/>
            </a:pPr>
            <a:r>
              <a:rPr lang="en-US" sz="800" spc="16" kern="0" dirty="0">
                <a:solidFill>
                  <a:srgbClr val="4A5A50"/>
                </a:solidFill>
                <a:latin typeface="Carlito" pitchFamily="34" charset="0"/>
                <a:ea typeface="Carlito" pitchFamily="34" charset="-122"/>
                <a:cs typeface="Carlito" pitchFamily="34" charset="-120"/>
              </a:rPr>
              <a:t>Wholesale &amp; Retail Partnerships</a:t>
            </a:r>
            <a:endParaRPr lang="en-US" sz="800" dirty="0"/>
          </a:p>
        </p:txBody>
      </p:sp>
      <p:sp>
        <p:nvSpPr>
          <p:cNvPr id="18" name="Text 16"/>
          <p:cNvSpPr/>
          <p:nvPr/>
        </p:nvSpPr>
        <p:spPr>
          <a:xfrm>
            <a:off x="4975622" y="1308646"/>
            <a:ext cx="3764756" cy="921544"/>
          </a:xfrm>
          <a:prstGeom prst="rect">
            <a:avLst/>
          </a:prstGeom>
          <a:solidFill>
            <a:srgbClr val="EDE5D3"/>
          </a:solidFill>
          <a:ln w="7144">
            <a:solidFill>
              <a:srgbClr val="C8BFA8"/>
            </a:solidFill>
            <a:prstDash val="dash"/>
          </a:ln>
        </p:spPr>
        <p:txBody>
          <a:bodyPr wrap="square" rtlCol="0" anchor="ctr"/>
          <a:lstStyle/>
          <a:p>
            <a:pPr indent="0" marL="0">
              <a:buNone/>
            </a:pPr>
            <a:endParaRPr lang="en-US" dirty="0"/>
          </a:p>
        </p:txBody>
      </p:sp>
      <p:sp>
        <p:nvSpPr>
          <p:cNvPr id="19" name="Text 17"/>
          <p:cNvSpPr/>
          <p:nvPr/>
        </p:nvSpPr>
        <p:spPr>
          <a:xfrm>
            <a:off x="4972050" y="2362349"/>
            <a:ext cx="3771900" cy="7144"/>
          </a:xfrm>
          <a:prstGeom prst="rect">
            <a:avLst/>
          </a:prstGeom>
          <a:solidFill>
            <a:srgbClr val="C8BFA8"/>
          </a:solidFill>
          <a:ln/>
        </p:spPr>
        <p:txBody>
          <a:bodyPr wrap="square" rtlCol="0" anchor="ctr"/>
          <a:lstStyle/>
          <a:p>
            <a:pPr indent="0" marL="0">
              <a:buNone/>
            </a:pPr>
            <a:endParaRPr lang="en-US" dirty="0"/>
          </a:p>
        </p:txBody>
      </p:sp>
      <p:sp>
        <p:nvSpPr>
          <p:cNvPr id="20" name="Text 18"/>
          <p:cNvSpPr/>
          <p:nvPr/>
        </p:nvSpPr>
        <p:spPr>
          <a:xfrm>
            <a:off x="4972050" y="2562374"/>
            <a:ext cx="211555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EMAIL</a:t>
            </a:r>
            <a:endParaRPr lang="en-US" sz="800" dirty="0"/>
          </a:p>
        </p:txBody>
      </p:sp>
      <p:sp>
        <p:nvSpPr>
          <p:cNvPr id="21" name="Text 19"/>
          <p:cNvSpPr/>
          <p:nvPr/>
        </p:nvSpPr>
        <p:spPr>
          <a:xfrm>
            <a:off x="7016819" y="2540943"/>
            <a:ext cx="1727131" cy="164592"/>
          </a:xfrm>
          <a:prstGeom prst="rect">
            <a:avLst/>
          </a:prstGeom>
          <a:noFill/>
          <a:ln/>
        </p:spPr>
        <p:txBody>
          <a:bodyPr wrap="square" lIns="0" tIns="0" rIns="0" bIns="0" rtlCol="0" anchor="t"/>
          <a:lstStyle/>
          <a:p>
            <a:pPr algn="r" indent="0" marL="0">
              <a:lnSpc>
                <a:spcPts val="1181"/>
              </a:lnSpc>
              <a:buNone/>
            </a:pPr>
            <a:r>
              <a:rPr lang="en-US" sz="800" dirty="0">
                <a:solidFill>
                  <a:srgbClr val="2D4A3A"/>
                </a:solidFill>
                <a:latin typeface="Tinos" pitchFamily="34" charset="0"/>
                <a:ea typeface="Tinos" pitchFamily="34" charset="-122"/>
                <a:cs typeface="Tinos" pitchFamily="34" charset="-120"/>
              </a:rPr>
              <a:t>wholesale@allmountainapothecary.com</a:t>
            </a:r>
            <a:endParaRPr lang="en-US" sz="800" dirty="0"/>
          </a:p>
        </p:txBody>
      </p:sp>
      <p:sp>
        <p:nvSpPr>
          <p:cNvPr id="22" name="Text 20"/>
          <p:cNvSpPr/>
          <p:nvPr/>
        </p:nvSpPr>
        <p:spPr>
          <a:xfrm>
            <a:off x="4972050" y="2798118"/>
            <a:ext cx="308967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PHONE</a:t>
            </a:r>
            <a:endParaRPr lang="en-US" sz="800" dirty="0"/>
          </a:p>
        </p:txBody>
      </p:sp>
      <p:sp>
        <p:nvSpPr>
          <p:cNvPr id="23" name="Text 21"/>
          <p:cNvSpPr/>
          <p:nvPr/>
        </p:nvSpPr>
        <p:spPr>
          <a:xfrm>
            <a:off x="7961352" y="2776686"/>
            <a:ext cx="782598" cy="164592"/>
          </a:xfrm>
          <a:prstGeom prst="rect">
            <a:avLst/>
          </a:prstGeom>
          <a:noFill/>
          <a:ln/>
        </p:spPr>
        <p:txBody>
          <a:bodyPr wrap="square" lIns="0" tIns="0" rIns="0" bIns="0" rtlCol="0" anchor="t"/>
          <a:lstStyle/>
          <a:p>
            <a:pPr algn="r" indent="0" marL="0">
              <a:lnSpc>
                <a:spcPts val="1181"/>
              </a:lnSpc>
              <a:buNone/>
            </a:pPr>
            <a:r>
              <a:rPr lang="en-US" sz="800" dirty="0">
                <a:solidFill>
                  <a:srgbClr val="2D4A3A"/>
                </a:solidFill>
                <a:latin typeface="Liberation Sans Narrow" pitchFamily="34" charset="0"/>
                <a:ea typeface="Liberation Sans Narrow" pitchFamily="34" charset="-122"/>
                <a:cs typeface="Liberation Sans Narrow" pitchFamily="34" charset="-120"/>
              </a:rPr>
              <a:t>(570) 555-0142</a:t>
            </a:r>
            <a:endParaRPr lang="en-US" sz="800" dirty="0"/>
          </a:p>
        </p:txBody>
      </p:sp>
      <p:sp>
        <p:nvSpPr>
          <p:cNvPr id="24" name="Text 22"/>
          <p:cNvSpPr/>
          <p:nvPr/>
        </p:nvSpPr>
        <p:spPr>
          <a:xfrm>
            <a:off x="4972050" y="3033861"/>
            <a:ext cx="2179848"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WEB</a:t>
            </a:r>
            <a:endParaRPr lang="en-US" sz="800" dirty="0"/>
          </a:p>
        </p:txBody>
      </p:sp>
      <p:sp>
        <p:nvSpPr>
          <p:cNvPr id="25" name="Text 23"/>
          <p:cNvSpPr/>
          <p:nvPr/>
        </p:nvSpPr>
        <p:spPr>
          <a:xfrm>
            <a:off x="7116954" y="3012430"/>
            <a:ext cx="1626996" cy="164592"/>
          </a:xfrm>
          <a:prstGeom prst="rect">
            <a:avLst/>
          </a:prstGeom>
          <a:noFill/>
          <a:ln/>
        </p:spPr>
        <p:txBody>
          <a:bodyPr wrap="square" lIns="0" tIns="0" rIns="0" bIns="0" rtlCol="0" anchor="t"/>
          <a:lstStyle/>
          <a:p>
            <a:pPr algn="r" indent="0" marL="0">
              <a:lnSpc>
                <a:spcPts val="1181"/>
              </a:lnSpc>
              <a:buNone/>
            </a:pPr>
            <a:r>
              <a:rPr lang="en-US" sz="800" dirty="0">
                <a:solidFill>
                  <a:srgbClr val="2D4A3A"/>
                </a:solidFill>
                <a:latin typeface="Tinos" pitchFamily="34" charset="0"/>
                <a:ea typeface="Tinos" pitchFamily="34" charset="-122"/>
                <a:cs typeface="Tinos" pitchFamily="34" charset="-120"/>
              </a:rPr>
              <a:t>allmountainapothecary.com/wholesale</a:t>
            </a:r>
            <a:endParaRPr lang="en-US" sz="800" dirty="0"/>
          </a:p>
        </p:txBody>
      </p:sp>
      <p:sp>
        <p:nvSpPr>
          <p:cNvPr id="26" name="Text 24"/>
          <p:cNvSpPr/>
          <p:nvPr/>
        </p:nvSpPr>
        <p:spPr>
          <a:xfrm>
            <a:off x="4972050" y="3269605"/>
            <a:ext cx="303687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4A5A50"/>
                </a:solidFill>
                <a:latin typeface="Carlito" pitchFamily="34" charset="0"/>
                <a:ea typeface="Carlito" pitchFamily="34" charset="-122"/>
                <a:cs typeface="Carlito" pitchFamily="34" charset="-120"/>
              </a:rPr>
              <a:t>HOURS</a:t>
            </a:r>
            <a:endParaRPr lang="en-US" sz="800" dirty="0"/>
          </a:p>
        </p:txBody>
      </p:sp>
      <p:sp>
        <p:nvSpPr>
          <p:cNvPr id="27" name="Text 25"/>
          <p:cNvSpPr/>
          <p:nvPr/>
        </p:nvSpPr>
        <p:spPr>
          <a:xfrm>
            <a:off x="7949481" y="3248174"/>
            <a:ext cx="794469" cy="164592"/>
          </a:xfrm>
          <a:prstGeom prst="rect">
            <a:avLst/>
          </a:prstGeom>
          <a:noFill/>
          <a:ln/>
        </p:spPr>
        <p:txBody>
          <a:bodyPr wrap="none" lIns="0" tIns="0" rIns="0" bIns="0" rtlCol="0" anchor="t"/>
          <a:lstStyle/>
          <a:p>
            <a:pPr algn="r" indent="0" marL="0">
              <a:lnSpc>
                <a:spcPts val="1181"/>
              </a:lnSpc>
              <a:buNone/>
            </a:pPr>
            <a:r>
              <a:rPr lang="en-US" sz="800" dirty="0">
                <a:solidFill>
                  <a:srgbClr val="2D4A3A"/>
                </a:solidFill>
                <a:latin typeface="Liberation Sans Narrow" pitchFamily="34" charset="0"/>
                <a:ea typeface="Liberation Sans Narrow" pitchFamily="34" charset="-122"/>
                <a:cs typeface="Liberation Sans Narrow" pitchFamily="34" charset="-120"/>
              </a:rPr>
              <a:t>Mon–Fri 9–5 ET</a:t>
            </a:r>
            <a:endParaRPr lang="en-US" sz="800" dirty="0"/>
          </a:p>
        </p:txBody>
      </p:sp>
      <p:sp>
        <p:nvSpPr>
          <p:cNvPr id="28" name="Text 26"/>
          <p:cNvSpPr/>
          <p:nvPr/>
        </p:nvSpPr>
        <p:spPr>
          <a:xfrm>
            <a:off x="4972050" y="3569643"/>
            <a:ext cx="3771900" cy="7144"/>
          </a:xfrm>
          <a:prstGeom prst="rect">
            <a:avLst/>
          </a:prstGeom>
          <a:solidFill>
            <a:srgbClr val="C8BFA8"/>
          </a:solidFill>
          <a:ln/>
        </p:spPr>
        <p:txBody>
          <a:bodyPr wrap="square" rtlCol="0" anchor="ctr"/>
          <a:lstStyle/>
          <a:p>
            <a:pPr indent="0" marL="0">
              <a:buNone/>
            </a:pPr>
            <a:endParaRPr lang="en-US" dirty="0"/>
          </a:p>
        </p:txBody>
      </p:sp>
      <p:sp>
        <p:nvSpPr>
          <p:cNvPr id="29" name="Text 27"/>
          <p:cNvSpPr/>
          <p:nvPr/>
        </p:nvSpPr>
        <p:spPr>
          <a:xfrm>
            <a:off x="4972050" y="3705374"/>
            <a:ext cx="3771900" cy="671316"/>
          </a:xfrm>
          <a:prstGeom prst="rect">
            <a:avLst/>
          </a:prstGeom>
          <a:noFill/>
          <a:ln/>
        </p:spPr>
        <p:txBody>
          <a:bodyPr wrap="square" lIns="0" tIns="0" rIns="0" bIns="0" rtlCol="0" anchor="t">
            <a:normAutofit/>
          </a:bodyPr>
          <a:lstStyle/>
          <a:p>
            <a:pPr algn="l" indent="0" marL="0">
              <a:lnSpc>
                <a:spcPts val="1080"/>
              </a:lnSpc>
              <a:buNone/>
            </a:pPr>
            <a:r>
              <a:rPr lang="en-US" sz="800" dirty="0">
                <a:solidFill>
                  <a:srgbClr val="4A5A50"/>
                </a:solidFill>
                <a:latin typeface="Carlito" pitchFamily="34" charset="0"/>
                <a:ea typeface="Carlito" pitchFamily="34" charset="-122"/>
                <a:cs typeface="Carlito" pitchFamily="34" charset="-120"/>
              </a:rPr>
              <a:t>All Mountain Apothecary</a:t>
            </a:r>
            <a:endParaRPr lang="en-US" sz="800" dirty="0"/>
          </a:p>
          <a:p>
            <a:pPr algn="l" indent="0" marL="0">
              <a:lnSpc>
                <a:spcPts val="1080"/>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141 Ridge Road, Suite 2</a:t>
            </a:r>
            <a:endParaRPr lang="en-US" sz="800" dirty="0"/>
          </a:p>
          <a:p>
            <a:pPr algn="l" indent="0" marL="0">
              <a:lnSpc>
                <a:spcPts val="1080"/>
              </a:lnSpc>
              <a:buNone/>
            </a:pPr>
            <a:r>
              <a:rPr lang="en-US" sz="800" dirty="0">
                <a:solidFill>
                  <a:srgbClr val="4A5A50"/>
                </a:solidFill>
                <a:latin typeface="Liberation Sans Narrow" pitchFamily="34" charset="0"/>
                <a:ea typeface="Liberation Sans Narrow" pitchFamily="34" charset="-122"/>
                <a:cs typeface="Liberation Sans Narrow" pitchFamily="34" charset="-120"/>
              </a:rPr>
              <a:t>Lock Haven, PA 17745</a:t>
            </a:r>
            <a:endParaRPr lang="en-US" sz="800" dirty="0"/>
          </a:p>
          <a:p>
            <a:pPr algn="l" indent="0" marL="0">
              <a:lnSpc>
                <a:spcPts val="1080"/>
              </a:lnSpc>
              <a:buNone/>
            </a:pPr>
            <a:r>
              <a:rPr lang="en-US" sz="800" dirty="0">
                <a:solidFill>
                  <a:srgbClr val="4A5A50"/>
                </a:solidFill>
                <a:latin typeface="Carlito" pitchFamily="34" charset="0"/>
                <a:ea typeface="Carlito" pitchFamily="34" charset="-122"/>
                <a:cs typeface="Carlito" pitchFamily="34" charset="-120"/>
              </a:rPr>
              <a:t>United States</a:t>
            </a:r>
            <a:endParaRPr lang="en-US" sz="800" dirty="0"/>
          </a:p>
        </p:txBody>
      </p:sp>
      <p:sp>
        <p:nvSpPr>
          <p:cNvPr id="30" name="Text 28"/>
          <p:cNvSpPr/>
          <p:nvPr/>
        </p:nvSpPr>
        <p:spPr>
          <a:xfrm>
            <a:off x="4972050" y="4546997"/>
            <a:ext cx="3881628" cy="139303"/>
          </a:xfrm>
          <a:prstGeom prst="rect">
            <a:avLst/>
          </a:prstGeom>
          <a:noFill/>
          <a:ln/>
        </p:spPr>
        <p:txBody>
          <a:bodyPr wrap="square" lIns="0" tIns="0" rIns="0" bIns="0" rtlCol="0" anchor="t"/>
          <a:lstStyle/>
          <a:p>
            <a:pPr algn="l" indent="0" marL="0">
              <a:lnSpc>
                <a:spcPts val="1097"/>
              </a:lnSpc>
              <a:buNone/>
            </a:pPr>
            <a:r>
              <a:rPr lang="en-US" sz="800" i="1" spc="15" kern="0" dirty="0">
                <a:solidFill>
                  <a:srgbClr val="C2853A"/>
                </a:solidFill>
                <a:latin typeface="Tinos" pitchFamily="34" charset="0"/>
                <a:ea typeface="Tinos" pitchFamily="34" charset="-122"/>
                <a:cs typeface="Tinos" pitchFamily="34" charset="-120"/>
              </a:rPr>
              <a:t>A working apothecary. Built by hand, sold by hand.</a:t>
            </a:r>
            <a:endParaRPr lang="en-US" sz="800" dirty="0"/>
          </a:p>
        </p:txBody>
      </p:sp>
      <p:sp>
        <p:nvSpPr>
          <p:cNvPr id="31" name="Text 29"/>
          <p:cNvSpPr/>
          <p:nvPr/>
        </p:nvSpPr>
        <p:spPr>
          <a:xfrm>
            <a:off x="6198989" y="1460450"/>
            <a:ext cx="1317910" cy="300038"/>
          </a:xfrm>
          <a:prstGeom prst="rect">
            <a:avLst/>
          </a:prstGeom>
          <a:noFill/>
          <a:ln/>
        </p:spPr>
        <p:txBody>
          <a:bodyPr wrap="none" lIns="0" tIns="0" rIns="0" bIns="0" rtlCol="0" anchor="ctr"/>
          <a:lstStyle/>
          <a:p>
            <a:pPr algn="ctr" indent="0" marL="0">
              <a:buNone/>
            </a:pPr>
            <a:r>
              <a:rPr lang="en-US" sz="1969" dirty="0">
                <a:solidFill>
                  <a:srgbClr val="C2853A"/>
                </a:solidFill>
                <a:latin typeface="Segoe UI Symbol" pitchFamily="34" charset="0"/>
                <a:ea typeface="Segoe UI Symbol" pitchFamily="34" charset="-122"/>
                <a:cs typeface="Segoe UI Symbol" pitchFamily="34" charset="-120"/>
              </a:rPr>
              <a:t>🏪</a:t>
            </a:r>
            <a:endParaRPr lang="en-US" sz="1969" dirty="0"/>
          </a:p>
        </p:txBody>
      </p:sp>
      <p:sp>
        <p:nvSpPr>
          <p:cNvPr id="32" name="Text 30"/>
          <p:cNvSpPr/>
          <p:nvPr/>
        </p:nvSpPr>
        <p:spPr>
          <a:xfrm>
            <a:off x="6276932" y="1817638"/>
            <a:ext cx="1162023" cy="136874"/>
          </a:xfrm>
          <a:prstGeom prst="rect">
            <a:avLst/>
          </a:prstGeom>
          <a:noFill/>
          <a:ln/>
        </p:spPr>
        <p:txBody>
          <a:bodyPr wrap="none" lIns="0" tIns="0" rIns="0" bIns="0" rtlCol="0" anchor="t">
            <a:normAutofit/>
          </a:bodyPr>
          <a:lstStyle/>
          <a:p>
            <a:pPr algn="ctr" indent="0" marL="0">
              <a:lnSpc>
                <a:spcPts val="844"/>
              </a:lnSpc>
              <a:buNone/>
            </a:pPr>
            <a:r>
              <a:rPr lang="en-US" sz="800" spc="113" kern="0" dirty="0">
                <a:solidFill>
                  <a:srgbClr val="4A5A50"/>
                </a:solidFill>
                <a:latin typeface="Carlito" pitchFamily="34" charset="0"/>
                <a:ea typeface="Carlito" pitchFamily="34" charset="-122"/>
                <a:cs typeface="Carlito" pitchFamily="34" charset="-120"/>
              </a:rPr>
              <a:t>APOTHECARY PHOTO</a:t>
            </a:r>
            <a:endParaRPr lang="en-US" sz="800" dirty="0"/>
          </a:p>
        </p:txBody>
      </p:sp>
      <p:sp>
        <p:nvSpPr>
          <p:cNvPr id="33" name="Text 31"/>
          <p:cNvSpPr/>
          <p:nvPr/>
        </p:nvSpPr>
        <p:spPr>
          <a:xfrm>
            <a:off x="5990481" y="1981944"/>
            <a:ext cx="1735038" cy="158948"/>
          </a:xfrm>
          <a:prstGeom prst="rect">
            <a:avLst/>
          </a:prstGeom>
          <a:noFill/>
          <a:ln/>
        </p:spPr>
        <p:txBody>
          <a:bodyPr wrap="square" lIns="0" tIns="0" rIns="0" bIns="0" rtlCol="0" anchor="t"/>
          <a:lstStyle/>
          <a:p>
            <a:pPr algn="ctr" indent="0" marL="0">
              <a:lnSpc>
                <a:spcPts val="759"/>
              </a:lnSpc>
              <a:buNone/>
            </a:pPr>
            <a:r>
              <a:rPr lang="en-US" sz="800" i="1" spc="51" kern="0" dirty="0">
                <a:solidFill>
                  <a:srgbClr val="4A5A50">
                    <a:alpha val="70000"/>
                  </a:srgbClr>
                </a:solidFill>
                <a:latin typeface="Carlito" pitchFamily="34" charset="0"/>
                <a:ea typeface="Carlito" pitchFamily="34" charset="-122"/>
                <a:cs typeface="Carlito" pitchFamily="34" charset="-120"/>
              </a:rPr>
              <a:t>Shop interior, herbalist at work, or product flat-lay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2026-06-25T05:36:01Z</dcterms:created>
  <dcterms:modified xsi:type="dcterms:W3CDTF">2026-06-25T05:36:01Z</dcterms:modified>
</cp:coreProperties>
</file>